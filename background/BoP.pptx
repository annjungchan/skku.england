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4"/>
  </p:notesMasterIdLst>
  <p:sldIdLst>
    <p:sldId id="259" r:id="rId3"/>
    <p:sldId id="260" r:id="rId4"/>
    <p:sldId id="263" r:id="rId5"/>
    <p:sldId id="264" r:id="rId6"/>
    <p:sldId id="265" r:id="rId7"/>
    <p:sldId id="273" r:id="rId8"/>
    <p:sldId id="274" r:id="rId9"/>
    <p:sldId id="262" r:id="rId10"/>
    <p:sldId id="291" r:id="rId11"/>
    <p:sldId id="276" r:id="rId12"/>
    <p:sldId id="277" r:id="rId13"/>
    <p:sldId id="278" r:id="rId14"/>
    <p:sldId id="270" r:id="rId15"/>
    <p:sldId id="275" r:id="rId16"/>
    <p:sldId id="293" r:id="rId17"/>
    <p:sldId id="315" r:id="rId18"/>
    <p:sldId id="294" r:id="rId19"/>
    <p:sldId id="302" r:id="rId20"/>
    <p:sldId id="295" r:id="rId21"/>
    <p:sldId id="301" r:id="rId22"/>
    <p:sldId id="314" r:id="rId23"/>
    <p:sldId id="281" r:id="rId24"/>
    <p:sldId id="285" r:id="rId25"/>
    <p:sldId id="283" r:id="rId26"/>
    <p:sldId id="282" r:id="rId27"/>
    <p:sldId id="286" r:id="rId28"/>
    <p:sldId id="299" r:id="rId29"/>
    <p:sldId id="290" r:id="rId30"/>
    <p:sldId id="297" r:id="rId31"/>
    <p:sldId id="298" r:id="rId32"/>
    <p:sldId id="300" r:id="rId33"/>
  </p:sldIdLst>
  <p:sldSz cx="9144000" cy="6858000" type="screen4x3"/>
  <p:notesSz cx="6858000" cy="9144000"/>
  <p:defaultTextStyle>
    <a:defPPr>
      <a:defRPr lang="ko-KR"/>
    </a:defPPr>
    <a:lvl1pPr algn="l" rtl="0" eaLnBrk="0" fontAlgn="base" hangingPunct="0">
      <a:spcBef>
        <a:spcPct val="0"/>
      </a:spcBef>
      <a:spcAft>
        <a:spcPct val="0"/>
      </a:spcAft>
      <a:defRPr kumimoji="1" kern="1200">
        <a:solidFill>
          <a:schemeClr val="tx1"/>
        </a:solidFill>
        <a:latin typeface="굴림" panose="020B0600000101010101" pitchFamily="50" charset="-127"/>
        <a:ea typeface="굴림" panose="020B0600000101010101" pitchFamily="50" charset="-127"/>
        <a:cs typeface="+mn-cs"/>
      </a:defRPr>
    </a:lvl1pPr>
    <a:lvl2pPr marL="457200" algn="l" rtl="0" eaLnBrk="0" fontAlgn="base" hangingPunct="0">
      <a:spcBef>
        <a:spcPct val="0"/>
      </a:spcBef>
      <a:spcAft>
        <a:spcPct val="0"/>
      </a:spcAft>
      <a:defRPr kumimoji="1" kern="1200">
        <a:solidFill>
          <a:schemeClr val="tx1"/>
        </a:solidFill>
        <a:latin typeface="굴림" panose="020B0600000101010101" pitchFamily="50" charset="-127"/>
        <a:ea typeface="굴림" panose="020B0600000101010101" pitchFamily="50" charset="-127"/>
        <a:cs typeface="+mn-cs"/>
      </a:defRPr>
    </a:lvl2pPr>
    <a:lvl3pPr marL="914400" algn="l" rtl="0" eaLnBrk="0" fontAlgn="base" hangingPunct="0">
      <a:spcBef>
        <a:spcPct val="0"/>
      </a:spcBef>
      <a:spcAft>
        <a:spcPct val="0"/>
      </a:spcAft>
      <a:defRPr kumimoji="1" kern="1200">
        <a:solidFill>
          <a:schemeClr val="tx1"/>
        </a:solidFill>
        <a:latin typeface="굴림" panose="020B0600000101010101" pitchFamily="50" charset="-127"/>
        <a:ea typeface="굴림" panose="020B0600000101010101" pitchFamily="50" charset="-127"/>
        <a:cs typeface="+mn-cs"/>
      </a:defRPr>
    </a:lvl3pPr>
    <a:lvl4pPr marL="1371600" algn="l" rtl="0" eaLnBrk="0" fontAlgn="base" hangingPunct="0">
      <a:spcBef>
        <a:spcPct val="0"/>
      </a:spcBef>
      <a:spcAft>
        <a:spcPct val="0"/>
      </a:spcAft>
      <a:defRPr kumimoji="1" kern="1200">
        <a:solidFill>
          <a:schemeClr val="tx1"/>
        </a:solidFill>
        <a:latin typeface="굴림" panose="020B0600000101010101" pitchFamily="50" charset="-127"/>
        <a:ea typeface="굴림" panose="020B0600000101010101" pitchFamily="50" charset="-127"/>
        <a:cs typeface="+mn-cs"/>
      </a:defRPr>
    </a:lvl4pPr>
    <a:lvl5pPr marL="1828800" algn="l" rtl="0" eaLnBrk="0" fontAlgn="base" hangingPunct="0">
      <a:spcBef>
        <a:spcPct val="0"/>
      </a:spcBef>
      <a:spcAft>
        <a:spcPct val="0"/>
      </a:spcAft>
      <a:defRPr kumimoji="1" kern="1200">
        <a:solidFill>
          <a:schemeClr val="tx1"/>
        </a:solidFill>
        <a:latin typeface="굴림" panose="020B0600000101010101" pitchFamily="50" charset="-127"/>
        <a:ea typeface="굴림" panose="020B0600000101010101" pitchFamily="50" charset="-127"/>
        <a:cs typeface="+mn-cs"/>
      </a:defRPr>
    </a:lvl5pPr>
    <a:lvl6pPr marL="2286000" algn="l" defTabSz="914400" rtl="0" eaLnBrk="1" latinLnBrk="1" hangingPunct="1">
      <a:defRPr kumimoji="1" kern="1200">
        <a:solidFill>
          <a:schemeClr val="tx1"/>
        </a:solidFill>
        <a:latin typeface="굴림" panose="020B0600000101010101" pitchFamily="50" charset="-127"/>
        <a:ea typeface="굴림" panose="020B0600000101010101" pitchFamily="50" charset="-127"/>
        <a:cs typeface="+mn-cs"/>
      </a:defRPr>
    </a:lvl6pPr>
    <a:lvl7pPr marL="2743200" algn="l" defTabSz="914400" rtl="0" eaLnBrk="1" latinLnBrk="1" hangingPunct="1">
      <a:defRPr kumimoji="1" kern="1200">
        <a:solidFill>
          <a:schemeClr val="tx1"/>
        </a:solidFill>
        <a:latin typeface="굴림" panose="020B0600000101010101" pitchFamily="50" charset="-127"/>
        <a:ea typeface="굴림" panose="020B0600000101010101" pitchFamily="50" charset="-127"/>
        <a:cs typeface="+mn-cs"/>
      </a:defRPr>
    </a:lvl7pPr>
    <a:lvl8pPr marL="3200400" algn="l" defTabSz="914400" rtl="0" eaLnBrk="1" latinLnBrk="1" hangingPunct="1">
      <a:defRPr kumimoji="1" kern="1200">
        <a:solidFill>
          <a:schemeClr val="tx1"/>
        </a:solidFill>
        <a:latin typeface="굴림" panose="020B0600000101010101" pitchFamily="50" charset="-127"/>
        <a:ea typeface="굴림" panose="020B0600000101010101" pitchFamily="50" charset="-127"/>
        <a:cs typeface="+mn-cs"/>
      </a:defRPr>
    </a:lvl8pPr>
    <a:lvl9pPr marL="3657600" algn="l" defTabSz="914400" rtl="0" eaLnBrk="1" latinLnBrk="1" hangingPunct="1">
      <a:defRPr kumimoji="1" kern="1200">
        <a:solidFill>
          <a:schemeClr val="tx1"/>
        </a:solidFill>
        <a:latin typeface="굴림" panose="020B0600000101010101" pitchFamily="50" charset="-127"/>
        <a:ea typeface="굴림" panose="020B0600000101010101" pitchFamily="50" charset="-127"/>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99" autoAdjust="0"/>
    <p:restoredTop sz="94422" autoAdjust="0"/>
  </p:normalViewPr>
  <p:slideViewPr>
    <p:cSldViewPr>
      <p:cViewPr varScale="1">
        <p:scale>
          <a:sx n="106" d="100"/>
          <a:sy n="106" d="100"/>
        </p:scale>
        <p:origin x="1716"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charts/_rels/chart1.xml.rels><?xml version="1.0" encoding="UTF-8" standalone="yes"?>
<Relationships xmlns="http://schemas.openxmlformats.org/package/2006/relationships"><Relationship Id="rId3" Type="http://schemas.openxmlformats.org/officeDocument/2006/relationships/oleObject" Target="file:///\\Users\yunbomi\Library\CloudStorage\Dropbox\&#4359;&#4449;&#4368;&#4449;&#4540;%20&#4370;&#4458;&#4358;&#4455;&#4523;\&#4361;&#4453;&#4520;&#4361;&#4449;%203&#4352;&#4469;\TA%20(&#4363;&#4467;&#4540;&#4363;&#4461;&#4540;&#4352;&#4453;&#4361;&#4469;&#4352;&#4455;&#4540;&#4364;&#4454;)\PPT\&#4358;&#4462;&#4363;&#4455;&#4520;&#4361;&#4462;&#4364;&#4469;.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altLang="ko-KR" sz="1800" dirty="0"/>
              <a:t>Balance</a:t>
            </a:r>
            <a:r>
              <a:rPr lang="en-US" altLang="ko-KR" sz="1800" baseline="0" dirty="0"/>
              <a:t> of Goods and Trade Balance </a:t>
            </a:r>
            <a:endParaRPr lang="ko-KR" altLang="en-US" sz="1800" dirty="0"/>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ko-KR"/>
        </a:p>
      </c:txPr>
    </c:title>
    <c:autoTitleDeleted val="0"/>
    <c:plotArea>
      <c:layout/>
      <c:lineChart>
        <c:grouping val="standard"/>
        <c:varyColors val="0"/>
        <c:ser>
          <c:idx val="0"/>
          <c:order val="0"/>
          <c:tx>
            <c:strRef>
              <c:f>'월별 무역수지 및 경상수지'!$A$4</c:f>
              <c:strCache>
                <c:ptCount val="1"/>
                <c:pt idx="0">
                  <c:v>  Balance of goods</c:v>
                </c:pt>
              </c:strCache>
            </c:strRef>
          </c:tx>
          <c:spPr>
            <a:ln w="28575" cap="rnd">
              <a:solidFill>
                <a:schemeClr val="accent1"/>
              </a:solidFill>
              <a:round/>
            </a:ln>
            <a:effectLst/>
          </c:spPr>
          <c:marker>
            <c:symbol val="none"/>
          </c:marker>
          <c:cat>
            <c:strRef>
              <c:f>'월별 무역수지 및 경상수지'!$D$2:$BA$2</c:f>
              <c:strCache>
                <c:ptCount val="50"/>
                <c:pt idx="0">
                  <c:v>2019/01</c:v>
                </c:pt>
                <c:pt idx="1">
                  <c:v>2019/02</c:v>
                </c:pt>
                <c:pt idx="2">
                  <c:v>2019/03</c:v>
                </c:pt>
                <c:pt idx="3">
                  <c:v>2019/04</c:v>
                </c:pt>
                <c:pt idx="4">
                  <c:v>2019/05</c:v>
                </c:pt>
                <c:pt idx="5">
                  <c:v>2019/06</c:v>
                </c:pt>
                <c:pt idx="6">
                  <c:v>2019/07</c:v>
                </c:pt>
                <c:pt idx="7">
                  <c:v>2019/08</c:v>
                </c:pt>
                <c:pt idx="8">
                  <c:v>2019/09</c:v>
                </c:pt>
                <c:pt idx="9">
                  <c:v>2019/10</c:v>
                </c:pt>
                <c:pt idx="10">
                  <c:v>2019/11</c:v>
                </c:pt>
                <c:pt idx="11">
                  <c:v>2019/12</c:v>
                </c:pt>
                <c:pt idx="12">
                  <c:v>2020/01</c:v>
                </c:pt>
                <c:pt idx="13">
                  <c:v>2020/02</c:v>
                </c:pt>
                <c:pt idx="14">
                  <c:v>2020/03</c:v>
                </c:pt>
                <c:pt idx="15">
                  <c:v>2020/04</c:v>
                </c:pt>
                <c:pt idx="16">
                  <c:v>2020/05</c:v>
                </c:pt>
                <c:pt idx="17">
                  <c:v>2020/06</c:v>
                </c:pt>
                <c:pt idx="18">
                  <c:v>2020/07</c:v>
                </c:pt>
                <c:pt idx="19">
                  <c:v>2020/08</c:v>
                </c:pt>
                <c:pt idx="20">
                  <c:v>2020/09</c:v>
                </c:pt>
                <c:pt idx="21">
                  <c:v>2020/10</c:v>
                </c:pt>
                <c:pt idx="22">
                  <c:v>2020/11</c:v>
                </c:pt>
                <c:pt idx="23">
                  <c:v>2020/12</c:v>
                </c:pt>
                <c:pt idx="24">
                  <c:v>2021/01</c:v>
                </c:pt>
                <c:pt idx="25">
                  <c:v>2021/02</c:v>
                </c:pt>
                <c:pt idx="26">
                  <c:v>2021/03</c:v>
                </c:pt>
                <c:pt idx="27">
                  <c:v>2021/04</c:v>
                </c:pt>
                <c:pt idx="28">
                  <c:v>2021/05</c:v>
                </c:pt>
                <c:pt idx="29">
                  <c:v>2021/06</c:v>
                </c:pt>
                <c:pt idx="30">
                  <c:v>2021/07</c:v>
                </c:pt>
                <c:pt idx="31">
                  <c:v>2021/08</c:v>
                </c:pt>
                <c:pt idx="32">
                  <c:v>2021/09</c:v>
                </c:pt>
                <c:pt idx="33">
                  <c:v>2021/10</c:v>
                </c:pt>
                <c:pt idx="34">
                  <c:v>2021/11</c:v>
                </c:pt>
                <c:pt idx="35">
                  <c:v>2021/12</c:v>
                </c:pt>
                <c:pt idx="36">
                  <c:v>2022/01</c:v>
                </c:pt>
                <c:pt idx="37">
                  <c:v>2022/02</c:v>
                </c:pt>
                <c:pt idx="38">
                  <c:v>2022/03</c:v>
                </c:pt>
                <c:pt idx="39">
                  <c:v>2022/04</c:v>
                </c:pt>
                <c:pt idx="40">
                  <c:v>2022/05</c:v>
                </c:pt>
                <c:pt idx="41">
                  <c:v>2022/06</c:v>
                </c:pt>
                <c:pt idx="42">
                  <c:v>2022/07</c:v>
                </c:pt>
                <c:pt idx="43">
                  <c:v>2022/08</c:v>
                </c:pt>
                <c:pt idx="44">
                  <c:v>2022/09</c:v>
                </c:pt>
                <c:pt idx="45">
                  <c:v>2022/10</c:v>
                </c:pt>
                <c:pt idx="46">
                  <c:v>2022/11</c:v>
                </c:pt>
                <c:pt idx="47">
                  <c:v>2022/12</c:v>
                </c:pt>
                <c:pt idx="48">
                  <c:v>2023/01</c:v>
                </c:pt>
                <c:pt idx="49">
                  <c:v>2023/02</c:v>
                </c:pt>
              </c:strCache>
            </c:strRef>
          </c:cat>
          <c:val>
            <c:numRef>
              <c:f>'월별 무역수지 및 경상수지'!$D$4:$BA$4</c:f>
              <c:numCache>
                <c:formatCode>#,##0_ </c:formatCode>
                <c:ptCount val="50"/>
                <c:pt idx="0">
                  <c:v>5880000</c:v>
                </c:pt>
                <c:pt idx="1">
                  <c:v>5418500</c:v>
                </c:pt>
                <c:pt idx="2">
                  <c:v>8429100</c:v>
                </c:pt>
                <c:pt idx="3">
                  <c:v>5545800</c:v>
                </c:pt>
                <c:pt idx="4">
                  <c:v>5717800</c:v>
                </c:pt>
                <c:pt idx="5">
                  <c:v>6361500</c:v>
                </c:pt>
                <c:pt idx="6">
                  <c:v>6814900</c:v>
                </c:pt>
                <c:pt idx="7">
                  <c:v>4819300</c:v>
                </c:pt>
                <c:pt idx="8">
                  <c:v>8937800</c:v>
                </c:pt>
                <c:pt idx="9">
                  <c:v>8541700</c:v>
                </c:pt>
                <c:pt idx="10">
                  <c:v>7748200</c:v>
                </c:pt>
                <c:pt idx="11">
                  <c:v>5597500</c:v>
                </c:pt>
                <c:pt idx="12">
                  <c:v>1882900</c:v>
                </c:pt>
                <c:pt idx="13">
                  <c:v>6586700</c:v>
                </c:pt>
                <c:pt idx="14">
                  <c:v>6966400</c:v>
                </c:pt>
                <c:pt idx="15">
                  <c:v>488200</c:v>
                </c:pt>
                <c:pt idx="16">
                  <c:v>2191100</c:v>
                </c:pt>
                <c:pt idx="17">
                  <c:v>5760300</c:v>
                </c:pt>
                <c:pt idx="18">
                  <c:v>6907500</c:v>
                </c:pt>
                <c:pt idx="19">
                  <c:v>6998000</c:v>
                </c:pt>
                <c:pt idx="20">
                  <c:v>12016600</c:v>
                </c:pt>
                <c:pt idx="21">
                  <c:v>10234300</c:v>
                </c:pt>
                <c:pt idx="22">
                  <c:v>9969800</c:v>
                </c:pt>
                <c:pt idx="23">
                  <c:v>10603000</c:v>
                </c:pt>
                <c:pt idx="24">
                  <c:v>5451900</c:v>
                </c:pt>
                <c:pt idx="25">
                  <c:v>5831100</c:v>
                </c:pt>
                <c:pt idx="26">
                  <c:v>7680800</c:v>
                </c:pt>
                <c:pt idx="27">
                  <c:v>4876200</c:v>
                </c:pt>
                <c:pt idx="28">
                  <c:v>6416500</c:v>
                </c:pt>
                <c:pt idx="29">
                  <c:v>7551700</c:v>
                </c:pt>
                <c:pt idx="30">
                  <c:v>5783200</c:v>
                </c:pt>
                <c:pt idx="31">
                  <c:v>6194100</c:v>
                </c:pt>
                <c:pt idx="32">
                  <c:v>9543300</c:v>
                </c:pt>
                <c:pt idx="33">
                  <c:v>6041800</c:v>
                </c:pt>
                <c:pt idx="34">
                  <c:v>5926200</c:v>
                </c:pt>
                <c:pt idx="35">
                  <c:v>4434100</c:v>
                </c:pt>
                <c:pt idx="36">
                  <c:v>1542800</c:v>
                </c:pt>
                <c:pt idx="37">
                  <c:v>4353200</c:v>
                </c:pt>
                <c:pt idx="38">
                  <c:v>5569200</c:v>
                </c:pt>
                <c:pt idx="39">
                  <c:v>3129000</c:v>
                </c:pt>
                <c:pt idx="40">
                  <c:v>2951400</c:v>
                </c:pt>
                <c:pt idx="41">
                  <c:v>3844900</c:v>
                </c:pt>
                <c:pt idx="42">
                  <c:v>-519700</c:v>
                </c:pt>
                <c:pt idx="43">
                  <c:v>-4141200</c:v>
                </c:pt>
                <c:pt idx="44">
                  <c:v>754900</c:v>
                </c:pt>
                <c:pt idx="45">
                  <c:v>-950100</c:v>
                </c:pt>
                <c:pt idx="46">
                  <c:v>-998500</c:v>
                </c:pt>
                <c:pt idx="47">
                  <c:v>-475000</c:v>
                </c:pt>
                <c:pt idx="48">
                  <c:v>-7321200</c:v>
                </c:pt>
                <c:pt idx="49">
                  <c:v>-1295700</c:v>
                </c:pt>
              </c:numCache>
            </c:numRef>
          </c:val>
          <c:smooth val="0"/>
          <c:extLst>
            <c:ext xmlns:c16="http://schemas.microsoft.com/office/drawing/2014/chart" uri="{C3380CC4-5D6E-409C-BE32-E72D297353CC}">
              <c16:uniqueId val="{00000000-5421-BC4E-BFA1-3A552613B9A5}"/>
            </c:ext>
          </c:extLst>
        </c:ser>
        <c:ser>
          <c:idx val="1"/>
          <c:order val="1"/>
          <c:tx>
            <c:strRef>
              <c:f>'월별 무역수지 및 경상수지'!$A$5</c:f>
              <c:strCache>
                <c:ptCount val="1"/>
                <c:pt idx="0">
                  <c:v>Balance of Trade</c:v>
                </c:pt>
              </c:strCache>
            </c:strRef>
          </c:tx>
          <c:spPr>
            <a:ln w="28575" cap="rnd">
              <a:solidFill>
                <a:schemeClr val="accent2"/>
              </a:solidFill>
              <a:round/>
            </a:ln>
            <a:effectLst/>
          </c:spPr>
          <c:marker>
            <c:symbol val="none"/>
          </c:marker>
          <c:cat>
            <c:strRef>
              <c:f>'월별 무역수지 및 경상수지'!$D$2:$BA$2</c:f>
              <c:strCache>
                <c:ptCount val="50"/>
                <c:pt idx="0">
                  <c:v>2019/01</c:v>
                </c:pt>
                <c:pt idx="1">
                  <c:v>2019/02</c:v>
                </c:pt>
                <c:pt idx="2">
                  <c:v>2019/03</c:v>
                </c:pt>
                <c:pt idx="3">
                  <c:v>2019/04</c:v>
                </c:pt>
                <c:pt idx="4">
                  <c:v>2019/05</c:v>
                </c:pt>
                <c:pt idx="5">
                  <c:v>2019/06</c:v>
                </c:pt>
                <c:pt idx="6">
                  <c:v>2019/07</c:v>
                </c:pt>
                <c:pt idx="7">
                  <c:v>2019/08</c:v>
                </c:pt>
                <c:pt idx="8">
                  <c:v>2019/09</c:v>
                </c:pt>
                <c:pt idx="9">
                  <c:v>2019/10</c:v>
                </c:pt>
                <c:pt idx="10">
                  <c:v>2019/11</c:v>
                </c:pt>
                <c:pt idx="11">
                  <c:v>2019/12</c:v>
                </c:pt>
                <c:pt idx="12">
                  <c:v>2020/01</c:v>
                </c:pt>
                <c:pt idx="13">
                  <c:v>2020/02</c:v>
                </c:pt>
                <c:pt idx="14">
                  <c:v>2020/03</c:v>
                </c:pt>
                <c:pt idx="15">
                  <c:v>2020/04</c:v>
                </c:pt>
                <c:pt idx="16">
                  <c:v>2020/05</c:v>
                </c:pt>
                <c:pt idx="17">
                  <c:v>2020/06</c:v>
                </c:pt>
                <c:pt idx="18">
                  <c:v>2020/07</c:v>
                </c:pt>
                <c:pt idx="19">
                  <c:v>2020/08</c:v>
                </c:pt>
                <c:pt idx="20">
                  <c:v>2020/09</c:v>
                </c:pt>
                <c:pt idx="21">
                  <c:v>2020/10</c:v>
                </c:pt>
                <c:pt idx="22">
                  <c:v>2020/11</c:v>
                </c:pt>
                <c:pt idx="23">
                  <c:v>2020/12</c:v>
                </c:pt>
                <c:pt idx="24">
                  <c:v>2021/01</c:v>
                </c:pt>
                <c:pt idx="25">
                  <c:v>2021/02</c:v>
                </c:pt>
                <c:pt idx="26">
                  <c:v>2021/03</c:v>
                </c:pt>
                <c:pt idx="27">
                  <c:v>2021/04</c:v>
                </c:pt>
                <c:pt idx="28">
                  <c:v>2021/05</c:v>
                </c:pt>
                <c:pt idx="29">
                  <c:v>2021/06</c:v>
                </c:pt>
                <c:pt idx="30">
                  <c:v>2021/07</c:v>
                </c:pt>
                <c:pt idx="31">
                  <c:v>2021/08</c:v>
                </c:pt>
                <c:pt idx="32">
                  <c:v>2021/09</c:v>
                </c:pt>
                <c:pt idx="33">
                  <c:v>2021/10</c:v>
                </c:pt>
                <c:pt idx="34">
                  <c:v>2021/11</c:v>
                </c:pt>
                <c:pt idx="35">
                  <c:v>2021/12</c:v>
                </c:pt>
                <c:pt idx="36">
                  <c:v>2022/01</c:v>
                </c:pt>
                <c:pt idx="37">
                  <c:v>2022/02</c:v>
                </c:pt>
                <c:pt idx="38">
                  <c:v>2022/03</c:v>
                </c:pt>
                <c:pt idx="39">
                  <c:v>2022/04</c:v>
                </c:pt>
                <c:pt idx="40">
                  <c:v>2022/05</c:v>
                </c:pt>
                <c:pt idx="41">
                  <c:v>2022/06</c:v>
                </c:pt>
                <c:pt idx="42">
                  <c:v>2022/07</c:v>
                </c:pt>
                <c:pt idx="43">
                  <c:v>2022/08</c:v>
                </c:pt>
                <c:pt idx="44">
                  <c:v>2022/09</c:v>
                </c:pt>
                <c:pt idx="45">
                  <c:v>2022/10</c:v>
                </c:pt>
                <c:pt idx="46">
                  <c:v>2022/11</c:v>
                </c:pt>
                <c:pt idx="47">
                  <c:v>2022/12</c:v>
                </c:pt>
                <c:pt idx="48">
                  <c:v>2023/01</c:v>
                </c:pt>
                <c:pt idx="49">
                  <c:v>2023/02</c:v>
                </c:pt>
              </c:strCache>
            </c:strRef>
          </c:cat>
          <c:val>
            <c:numRef>
              <c:f>'월별 무역수지 및 경상수지'!$D$5:$BA$5</c:f>
              <c:numCache>
                <c:formatCode>#,##0</c:formatCode>
                <c:ptCount val="50"/>
                <c:pt idx="0">
                  <c:v>1015545</c:v>
                </c:pt>
                <c:pt idx="1">
                  <c:v>2830366</c:v>
                </c:pt>
                <c:pt idx="2">
                  <c:v>5010857</c:v>
                </c:pt>
                <c:pt idx="3">
                  <c:v>3733992</c:v>
                </c:pt>
                <c:pt idx="4">
                  <c:v>2084281</c:v>
                </c:pt>
                <c:pt idx="5">
                  <c:v>3903592</c:v>
                </c:pt>
                <c:pt idx="6">
                  <c:v>2315976</c:v>
                </c:pt>
                <c:pt idx="7">
                  <c:v>1562815</c:v>
                </c:pt>
                <c:pt idx="8">
                  <c:v>5887580</c:v>
                </c:pt>
                <c:pt idx="9">
                  <c:v>5252239</c:v>
                </c:pt>
                <c:pt idx="10">
                  <c:v>3311507</c:v>
                </c:pt>
                <c:pt idx="11">
                  <c:v>1980912</c:v>
                </c:pt>
                <c:pt idx="12">
                  <c:v>384960</c:v>
                </c:pt>
                <c:pt idx="13">
                  <c:v>3934572</c:v>
                </c:pt>
                <c:pt idx="14">
                  <c:v>4363344</c:v>
                </c:pt>
                <c:pt idx="15">
                  <c:v>-1662429</c:v>
                </c:pt>
                <c:pt idx="16">
                  <c:v>192537</c:v>
                </c:pt>
                <c:pt idx="17">
                  <c:v>3419211</c:v>
                </c:pt>
                <c:pt idx="18">
                  <c:v>3935959</c:v>
                </c:pt>
                <c:pt idx="19">
                  <c:v>3651302</c:v>
                </c:pt>
                <c:pt idx="20">
                  <c:v>8419758</c:v>
                </c:pt>
                <c:pt idx="21">
                  <c:v>5724739</c:v>
                </c:pt>
                <c:pt idx="22">
                  <c:v>5807120</c:v>
                </c:pt>
                <c:pt idx="23">
                  <c:v>6694203</c:v>
                </c:pt>
                <c:pt idx="24">
                  <c:v>3550152</c:v>
                </c:pt>
                <c:pt idx="25">
                  <c:v>2302271</c:v>
                </c:pt>
                <c:pt idx="26">
                  <c:v>3948359</c:v>
                </c:pt>
                <c:pt idx="27">
                  <c:v>334840</c:v>
                </c:pt>
                <c:pt idx="28">
                  <c:v>2814640</c:v>
                </c:pt>
                <c:pt idx="29">
                  <c:v>4349878</c:v>
                </c:pt>
                <c:pt idx="30">
                  <c:v>1785262</c:v>
                </c:pt>
                <c:pt idx="31">
                  <c:v>1584011</c:v>
                </c:pt>
                <c:pt idx="32">
                  <c:v>4277521</c:v>
                </c:pt>
                <c:pt idx="33">
                  <c:v>1812548</c:v>
                </c:pt>
                <c:pt idx="34">
                  <c:v>2972993</c:v>
                </c:pt>
                <c:pt idx="35">
                  <c:v>-425554</c:v>
                </c:pt>
                <c:pt idx="36">
                  <c:v>-5151345</c:v>
                </c:pt>
                <c:pt idx="37">
                  <c:v>673782</c:v>
                </c:pt>
                <c:pt idx="38">
                  <c:v>-24267</c:v>
                </c:pt>
                <c:pt idx="39">
                  <c:v>-2370369</c:v>
                </c:pt>
                <c:pt idx="40">
                  <c:v>-1577053</c:v>
                </c:pt>
                <c:pt idx="41">
                  <c:v>-2469972</c:v>
                </c:pt>
                <c:pt idx="42">
                  <c:v>-5018064</c:v>
                </c:pt>
                <c:pt idx="43">
                  <c:v>-9421783</c:v>
                </c:pt>
                <c:pt idx="44">
                  <c:v>-3836537</c:v>
                </c:pt>
                <c:pt idx="45">
                  <c:v>-6739094</c:v>
                </c:pt>
                <c:pt idx="46">
                  <c:v>-7075799</c:v>
                </c:pt>
                <c:pt idx="47">
                  <c:v>-4774396</c:v>
                </c:pt>
                <c:pt idx="48">
                  <c:v>-12511453</c:v>
                </c:pt>
                <c:pt idx="49">
                  <c:v>-5268461</c:v>
                </c:pt>
              </c:numCache>
            </c:numRef>
          </c:val>
          <c:smooth val="0"/>
          <c:extLst>
            <c:ext xmlns:c16="http://schemas.microsoft.com/office/drawing/2014/chart" uri="{C3380CC4-5D6E-409C-BE32-E72D297353CC}">
              <c16:uniqueId val="{00000001-5421-BC4E-BFA1-3A552613B9A5}"/>
            </c:ext>
          </c:extLst>
        </c:ser>
        <c:dLbls>
          <c:showLegendKey val="0"/>
          <c:showVal val="0"/>
          <c:showCatName val="0"/>
          <c:showSerName val="0"/>
          <c:showPercent val="0"/>
          <c:showBubbleSize val="0"/>
        </c:dLbls>
        <c:smooth val="0"/>
        <c:axId val="419061408"/>
        <c:axId val="419063680"/>
      </c:lineChart>
      <c:catAx>
        <c:axId val="419061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ko-KR"/>
          </a:p>
        </c:txPr>
        <c:crossAx val="419063680"/>
        <c:crosses val="autoZero"/>
        <c:auto val="1"/>
        <c:lblAlgn val="ctr"/>
        <c:lblOffset val="100"/>
        <c:noMultiLvlLbl val="0"/>
      </c:catAx>
      <c:valAx>
        <c:axId val="419063680"/>
        <c:scaling>
          <c:orientation val="minMax"/>
        </c:scaling>
        <c:delete val="0"/>
        <c:axPos val="l"/>
        <c:majorGridlines>
          <c:spPr>
            <a:ln w="9525" cap="flat" cmpd="sng" algn="ctr">
              <a:solidFill>
                <a:schemeClr val="tx1">
                  <a:lumMod val="15000"/>
                  <a:lumOff val="85000"/>
                </a:schemeClr>
              </a:solidFill>
              <a:round/>
            </a:ln>
            <a:effectLst/>
          </c:spPr>
        </c:majorGridlines>
        <c:numFmt formatCode="#,##0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ko-KR"/>
          </a:p>
        </c:txPr>
        <c:crossAx val="4190614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ko-K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ko-K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latinLnBrk="1" hangingPunct="1">
              <a:defRPr sz="1200"/>
            </a:lvl1pPr>
          </a:lstStyle>
          <a:p>
            <a:pPr>
              <a:defRPr/>
            </a:pPr>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latinLnBrk="1" hangingPunct="1">
              <a:defRPr sz="1200"/>
            </a:lvl1pPr>
          </a:lstStyle>
          <a:p>
            <a:pPr>
              <a:defRPr/>
            </a:pPr>
            <a:fld id="{A2FC22D7-FF14-4D0E-B9E6-0AF80BD067AD}" type="datetimeFigureOut">
              <a:rPr lang="ko-KR" altLang="en-US"/>
              <a:pPr>
                <a:defRPr/>
              </a:pPr>
              <a:t>2026-04-17</a:t>
            </a:fld>
            <a:endParaRPr lang="ko-KR" altLang="en-US"/>
          </a:p>
        </p:txBody>
      </p:sp>
      <p:sp>
        <p:nvSpPr>
          <p:cNvPr id="4" name="슬라이드 이미지 개체 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ko-KR" altLang="en-US" noProof="0"/>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noProof="0"/>
              <a:t>마스터 텍스트 스타일을 편집하려면 클릭</a:t>
            </a:r>
          </a:p>
          <a:p>
            <a:pPr lvl="1"/>
            <a:r>
              <a:rPr lang="ko-KR" altLang="en-US" noProof="0"/>
              <a:t>두 번째 수준</a:t>
            </a:r>
          </a:p>
          <a:p>
            <a:pPr lvl="2"/>
            <a:r>
              <a:rPr lang="ko-KR" altLang="en-US" noProof="0"/>
              <a:t>세 번째 수준</a:t>
            </a:r>
          </a:p>
          <a:p>
            <a:pPr lvl="3"/>
            <a:r>
              <a:rPr lang="ko-KR" altLang="en-US" noProof="0"/>
              <a:t>네 번째 수준</a:t>
            </a:r>
          </a:p>
          <a:p>
            <a:pPr lvl="4"/>
            <a:r>
              <a:rPr lang="ko-KR" altLang="en-US" noProof="0"/>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latinLnBrk="1" hangingPunct="1">
              <a:defRPr sz="1200"/>
            </a:lvl1pPr>
          </a:lstStyle>
          <a:p>
            <a:pPr>
              <a:defRPr/>
            </a:pPr>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latinLnBrk="1" hangingPunct="1">
              <a:defRPr sz="1200"/>
            </a:lvl1pPr>
          </a:lstStyle>
          <a:p>
            <a:fld id="{362C6EAC-9985-4517-BD00-CF7EF158FAB1}" type="slidenum">
              <a:rPr lang="ko-KR" altLang="en-US"/>
              <a:pPr/>
              <a:t>‹#›</a:t>
            </a:fld>
            <a:endParaRPr lang="ko-KR" altLang="en-US"/>
          </a:p>
        </p:txBody>
      </p:sp>
    </p:spTree>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sz="1200" kern="1200">
        <a:solidFill>
          <a:schemeClr val="tx1"/>
        </a:solidFill>
        <a:latin typeface="+mn-lt"/>
        <a:ea typeface="+mn-ea"/>
        <a:cs typeface="+mn-cs"/>
      </a:defRPr>
    </a:lvl1pPr>
    <a:lvl2pPr marL="457200" algn="l" rtl="0" eaLnBrk="0" fontAlgn="base" latinLnBrk="1" hangingPunct="0">
      <a:spcBef>
        <a:spcPct val="30000"/>
      </a:spcBef>
      <a:spcAft>
        <a:spcPct val="0"/>
      </a:spcAft>
      <a:defRPr sz="1200" kern="1200">
        <a:solidFill>
          <a:schemeClr val="tx1"/>
        </a:solidFill>
        <a:latin typeface="+mn-lt"/>
        <a:ea typeface="+mn-ea"/>
        <a:cs typeface="+mn-cs"/>
      </a:defRPr>
    </a:lvl2pPr>
    <a:lvl3pPr marL="914400" algn="l" rtl="0" eaLnBrk="0" fontAlgn="base" latinLnBrk="1" hangingPunct="0">
      <a:spcBef>
        <a:spcPct val="30000"/>
      </a:spcBef>
      <a:spcAft>
        <a:spcPct val="0"/>
      </a:spcAft>
      <a:defRPr sz="1200" kern="1200">
        <a:solidFill>
          <a:schemeClr val="tx1"/>
        </a:solidFill>
        <a:latin typeface="+mn-lt"/>
        <a:ea typeface="+mn-ea"/>
        <a:cs typeface="+mn-cs"/>
      </a:defRPr>
    </a:lvl3pPr>
    <a:lvl4pPr marL="1371600" algn="l" rtl="0" eaLnBrk="0" fontAlgn="base" latinLnBrk="1" hangingPunct="0">
      <a:spcBef>
        <a:spcPct val="30000"/>
      </a:spcBef>
      <a:spcAft>
        <a:spcPct val="0"/>
      </a:spcAft>
      <a:defRPr sz="1200" kern="1200">
        <a:solidFill>
          <a:schemeClr val="tx1"/>
        </a:solidFill>
        <a:latin typeface="+mn-lt"/>
        <a:ea typeface="+mn-ea"/>
        <a:cs typeface="+mn-cs"/>
      </a:defRPr>
    </a:lvl4pPr>
    <a:lvl5pPr marL="1828800" algn="l" rtl="0" eaLnBrk="0" fontAlgn="base" latinLnBrk="1" hangingPunct="0">
      <a:spcBef>
        <a:spcPct val="30000"/>
      </a:spcBef>
      <a:spcAft>
        <a:spcPct val="0"/>
      </a:spcAft>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슬라이드 이미지 개체 틀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슬라이드 노트 개체 틀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ko-KR" altLang="en-US"/>
          </a:p>
        </p:txBody>
      </p:sp>
      <p:sp>
        <p:nvSpPr>
          <p:cNvPr id="7172" name="슬라이드 번호 개체 틀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30000"/>
              </a:spcBef>
              <a:defRPr sz="1200">
                <a:solidFill>
                  <a:schemeClr val="tx1"/>
                </a:solidFill>
                <a:latin typeface="맑은 고딕" panose="020B0503020000020004" pitchFamily="50" charset="-127"/>
                <a:ea typeface="맑은 고딕" panose="020B0503020000020004" pitchFamily="50" charset="-127"/>
              </a:defRPr>
            </a:lvl1pPr>
            <a:lvl2pPr marL="742950" indent="-285750" latinLnBrk="1">
              <a:spcBef>
                <a:spcPct val="30000"/>
              </a:spcBef>
              <a:defRPr sz="1200">
                <a:solidFill>
                  <a:schemeClr val="tx1"/>
                </a:solidFill>
                <a:latin typeface="맑은 고딕" panose="020B0503020000020004" pitchFamily="50" charset="-127"/>
                <a:ea typeface="맑은 고딕" panose="020B0503020000020004" pitchFamily="50" charset="-127"/>
              </a:defRPr>
            </a:lvl2pPr>
            <a:lvl3pPr marL="1143000" indent="-228600" latinLnBrk="1">
              <a:spcBef>
                <a:spcPct val="30000"/>
              </a:spcBef>
              <a:defRPr sz="1200">
                <a:solidFill>
                  <a:schemeClr val="tx1"/>
                </a:solidFill>
                <a:latin typeface="맑은 고딕" panose="020B0503020000020004" pitchFamily="50" charset="-127"/>
                <a:ea typeface="맑은 고딕" panose="020B0503020000020004" pitchFamily="50" charset="-127"/>
              </a:defRPr>
            </a:lvl3pPr>
            <a:lvl4pPr marL="1600200" indent="-228600" latinLnBrk="1">
              <a:spcBef>
                <a:spcPct val="30000"/>
              </a:spcBef>
              <a:defRPr sz="1200">
                <a:solidFill>
                  <a:schemeClr val="tx1"/>
                </a:solidFill>
                <a:latin typeface="맑은 고딕" panose="020B0503020000020004" pitchFamily="50" charset="-127"/>
                <a:ea typeface="맑은 고딕" panose="020B0503020000020004" pitchFamily="50" charset="-127"/>
              </a:defRPr>
            </a:lvl4pPr>
            <a:lvl5pPr marL="2057400" indent="-228600" latinLnBrk="1">
              <a:spcBef>
                <a:spcPct val="30000"/>
              </a:spcBef>
              <a:defRPr sz="1200">
                <a:solidFill>
                  <a:schemeClr val="tx1"/>
                </a:solidFill>
                <a:latin typeface="맑은 고딕" panose="020B0503020000020004" pitchFamily="50" charset="-127"/>
                <a:ea typeface="맑은 고딕" panose="020B0503020000020004" pitchFamily="50" charset="-127"/>
              </a:defRPr>
            </a:lvl5pPr>
            <a:lvl6pPr marL="2514600" indent="-228600" eaLnBrk="0" fontAlgn="base" hangingPunct="0">
              <a:spcBef>
                <a:spcPct val="30000"/>
              </a:spcBef>
              <a:spcAft>
                <a:spcPct val="0"/>
              </a:spcAft>
              <a:defRPr sz="1200">
                <a:solidFill>
                  <a:schemeClr val="tx1"/>
                </a:solidFill>
                <a:latin typeface="맑은 고딕" panose="020B0503020000020004" pitchFamily="50" charset="-127"/>
                <a:ea typeface="맑은 고딕" panose="020B0503020000020004" pitchFamily="50" charset="-127"/>
              </a:defRPr>
            </a:lvl6pPr>
            <a:lvl7pPr marL="2971800" indent="-228600" eaLnBrk="0" fontAlgn="base" hangingPunct="0">
              <a:spcBef>
                <a:spcPct val="30000"/>
              </a:spcBef>
              <a:spcAft>
                <a:spcPct val="0"/>
              </a:spcAft>
              <a:defRPr sz="1200">
                <a:solidFill>
                  <a:schemeClr val="tx1"/>
                </a:solidFill>
                <a:latin typeface="맑은 고딕" panose="020B0503020000020004" pitchFamily="50" charset="-127"/>
                <a:ea typeface="맑은 고딕" panose="020B0503020000020004" pitchFamily="50" charset="-127"/>
              </a:defRPr>
            </a:lvl7pPr>
            <a:lvl8pPr marL="3429000" indent="-228600" eaLnBrk="0" fontAlgn="base" hangingPunct="0">
              <a:spcBef>
                <a:spcPct val="30000"/>
              </a:spcBef>
              <a:spcAft>
                <a:spcPct val="0"/>
              </a:spcAft>
              <a:defRPr sz="1200">
                <a:solidFill>
                  <a:schemeClr val="tx1"/>
                </a:solidFill>
                <a:latin typeface="맑은 고딕" panose="020B0503020000020004" pitchFamily="50" charset="-127"/>
                <a:ea typeface="맑은 고딕" panose="020B0503020000020004" pitchFamily="50" charset="-127"/>
              </a:defRPr>
            </a:lvl8pPr>
            <a:lvl9pPr marL="3886200" indent="-228600" eaLnBrk="0" fontAlgn="base" hangingPunct="0">
              <a:spcBef>
                <a:spcPct val="30000"/>
              </a:spcBef>
              <a:spcAft>
                <a:spcPct val="0"/>
              </a:spcAft>
              <a:defRPr sz="1200">
                <a:solidFill>
                  <a:schemeClr val="tx1"/>
                </a:solidFill>
                <a:latin typeface="맑은 고딕" panose="020B0503020000020004" pitchFamily="50" charset="-127"/>
                <a:ea typeface="맑은 고딕" panose="020B0503020000020004" pitchFamily="50" charset="-127"/>
              </a:defRPr>
            </a:lvl9pPr>
          </a:lstStyle>
          <a:p>
            <a:pPr>
              <a:spcBef>
                <a:spcPct val="0"/>
              </a:spcBef>
            </a:pPr>
            <a:fld id="{A554E9C3-BC6E-495B-B946-5610D5F2E89B}" type="slidenum">
              <a:rPr lang="ko-KR" altLang="en-US">
                <a:latin typeface="굴림" panose="020B0600000101010101" pitchFamily="50" charset="-127"/>
                <a:ea typeface="굴림" panose="020B0600000101010101" pitchFamily="50" charset="-127"/>
              </a:rPr>
              <a:pPr>
                <a:spcBef>
                  <a:spcPct val="0"/>
                </a:spcBef>
              </a:pPr>
              <a:t>4</a:t>
            </a:fld>
            <a:endParaRPr lang="ko-KR" altLang="en-US">
              <a:latin typeface="굴림" panose="020B0600000101010101" pitchFamily="50" charset="-127"/>
              <a:ea typeface="굴림" panose="020B0600000101010101" pitchFamily="50" charset="-127"/>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kumimoji="1" lang="ko-KR" altLang="en-US" dirty="0"/>
              <a:t>상품수지도 마찬가지</a:t>
            </a:r>
            <a:endParaRPr kumimoji="1" lang="en-US" altLang="ko-KR" dirty="0"/>
          </a:p>
          <a:p>
            <a:r>
              <a:rPr kumimoji="1" lang="en-US" altLang="ko-Kore-KR" dirty="0"/>
              <a:t>C</a:t>
            </a:r>
            <a:r>
              <a:rPr kumimoji="1" lang="en-US" altLang="ko-KR" dirty="0"/>
              <a:t>A</a:t>
            </a:r>
            <a:r>
              <a:rPr kumimoji="1" lang="ko-KR" altLang="en-US" dirty="0"/>
              <a:t>와 상품수지 모두 </a:t>
            </a:r>
            <a:r>
              <a:rPr kumimoji="1" lang="en-US" altLang="ko-KR" dirty="0"/>
              <a:t>TB</a:t>
            </a:r>
            <a:r>
              <a:rPr kumimoji="1" lang="ko-KR" altLang="en-US" dirty="0" err="1"/>
              <a:t>를</a:t>
            </a:r>
            <a:r>
              <a:rPr kumimoji="1" lang="ko-KR" altLang="en-US" dirty="0"/>
              <a:t> 상회하고 있음</a:t>
            </a:r>
            <a:endParaRPr kumimoji="1" lang="ko-Kore-KR" altLang="en-US"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F9C57CA-0CD5-704D-BF17-880B7B679B62}" type="slidenum">
              <a:rPr kumimoji="1" lang="ko-Kore-KR" altLang="en-US" sz="1200" b="0" i="0" u="none" strike="noStrike" kern="1200" cap="none" spc="0" normalizeH="0" baseline="0" noProof="0" smtClean="0">
                <a:ln>
                  <a:noFill/>
                </a:ln>
                <a:solidFill>
                  <a:prstClr val="black"/>
                </a:solidFill>
                <a:effectLst/>
                <a:uLnTx/>
                <a:uFillTx/>
                <a:latin typeface="맑은 고딕" panose="020B0503020000020004" pitchFamily="50" charset="-12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1" lang="ko-Kore-KR" altLang="en-US" sz="1200" b="0" i="0" u="none" strike="noStrike" kern="1200" cap="none" spc="0" normalizeH="0" baseline="0" noProof="0">
              <a:ln>
                <a:noFill/>
              </a:ln>
              <a:solidFill>
                <a:prstClr val="black"/>
              </a:solidFill>
              <a:effectLst/>
              <a:uLnTx/>
              <a:uFillTx/>
              <a:latin typeface="맑은 고딕" panose="020B0503020000020004" pitchFamily="50" charset="-127"/>
              <a:ea typeface="+mn-ea"/>
              <a:cs typeface="+mn-cs"/>
            </a:endParaRPr>
          </a:p>
        </p:txBody>
      </p:sp>
    </p:spTree>
    <p:extLst>
      <p:ext uri="{BB962C8B-B14F-4D97-AF65-F5344CB8AC3E}">
        <p14:creationId xmlns:p14="http://schemas.microsoft.com/office/powerpoint/2010/main" val="1266759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143000" y="1122363"/>
            <a:ext cx="68580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fld id="{A0D0C058-8AB1-40B0-9AAB-A6C5AF08F32E}" type="slidenum">
              <a:rPr lang="en-US" altLang="ko-KR"/>
              <a:pPr/>
              <a:t>‹#›</a:t>
            </a:fld>
            <a:endParaRPr lang="en-US" altLang="ko-KR"/>
          </a:p>
        </p:txBody>
      </p:sp>
    </p:spTree>
    <p:extLst>
      <p:ext uri="{BB962C8B-B14F-4D97-AF65-F5344CB8AC3E}">
        <p14:creationId xmlns:p14="http://schemas.microsoft.com/office/powerpoint/2010/main" val="31361410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fld id="{4F504FAD-ACFD-456F-BDEF-9B98ADCD7051}" type="slidenum">
              <a:rPr lang="en-US" altLang="ko-KR"/>
              <a:pPr/>
              <a:t>‹#›</a:t>
            </a:fld>
            <a:endParaRPr lang="en-US" altLang="ko-KR"/>
          </a:p>
        </p:txBody>
      </p:sp>
    </p:spTree>
    <p:extLst>
      <p:ext uri="{BB962C8B-B14F-4D97-AF65-F5344CB8AC3E}">
        <p14:creationId xmlns:p14="http://schemas.microsoft.com/office/powerpoint/2010/main" val="1963412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623888" y="1709738"/>
            <a:ext cx="7886700"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ko-KR" altLang="en-US"/>
              <a:t>마스터 텍스트 스타일을 편집하려면 클릭</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fld id="{6FB14FEB-3A14-4394-8E05-D6751F70058E}" type="slidenum">
              <a:rPr lang="en-US" altLang="ko-KR"/>
              <a:pPr/>
              <a:t>‹#›</a:t>
            </a:fld>
            <a:endParaRPr lang="en-US" altLang="ko-KR"/>
          </a:p>
        </p:txBody>
      </p:sp>
    </p:spTree>
    <p:extLst>
      <p:ext uri="{BB962C8B-B14F-4D97-AF65-F5344CB8AC3E}">
        <p14:creationId xmlns:p14="http://schemas.microsoft.com/office/powerpoint/2010/main" val="628532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457200" y="1600200"/>
            <a:ext cx="4038600" cy="452596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p:cNvSpPr>
            <a:spLocks noGrp="1"/>
          </p:cNvSpPr>
          <p:nvPr>
            <p:ph sz="half" idx="2"/>
          </p:nvPr>
        </p:nvSpPr>
        <p:spPr>
          <a:xfrm>
            <a:off x="4648200" y="1600200"/>
            <a:ext cx="4038600" cy="452596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fld id="{ED7CEEEF-86AB-4337-8C62-7D5FCE322C2D}" type="slidenum">
              <a:rPr lang="en-US" altLang="ko-KR"/>
              <a:pPr/>
              <a:t>‹#›</a:t>
            </a:fld>
            <a:endParaRPr lang="en-US" altLang="ko-KR"/>
          </a:p>
        </p:txBody>
      </p:sp>
    </p:spTree>
    <p:extLst>
      <p:ext uri="{BB962C8B-B14F-4D97-AF65-F5344CB8AC3E}">
        <p14:creationId xmlns:p14="http://schemas.microsoft.com/office/powerpoint/2010/main" val="1122828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630238" y="365125"/>
            <a:ext cx="7886700" cy="1325563"/>
          </a:xfrm>
        </p:spPr>
        <p:txBody>
          <a:bodyPr/>
          <a:lstStyle/>
          <a:p>
            <a:r>
              <a:rPr lang="ko-KR" altLang="en-US"/>
              <a:t>마스터 제목 스타일 편집</a:t>
            </a:r>
          </a:p>
        </p:txBody>
      </p:sp>
      <p:sp>
        <p:nvSpPr>
          <p:cNvPr id="3" name="텍스트 개체 틀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p:cNvSpPr>
            <a:spLocks noGrp="1"/>
          </p:cNvSpPr>
          <p:nvPr>
            <p:ph sz="half" idx="2"/>
          </p:nvPr>
        </p:nvSpPr>
        <p:spPr>
          <a:xfrm>
            <a:off x="630238" y="2505075"/>
            <a:ext cx="386873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p:cNvSpPr>
            <a:spLocks noGrp="1"/>
          </p:cNvSpPr>
          <p:nvPr>
            <p:ph sz="quarter" idx="4"/>
          </p:nvPr>
        </p:nvSpPr>
        <p:spPr>
          <a:xfrm>
            <a:off x="4629150" y="2505075"/>
            <a:ext cx="38877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9" name="Rectangle 6"/>
          <p:cNvSpPr>
            <a:spLocks noGrp="1" noChangeArrowheads="1"/>
          </p:cNvSpPr>
          <p:nvPr>
            <p:ph type="sldNum" sz="quarter" idx="12"/>
          </p:nvPr>
        </p:nvSpPr>
        <p:spPr>
          <a:ln/>
        </p:spPr>
        <p:txBody>
          <a:bodyPr/>
          <a:lstStyle>
            <a:lvl1pPr>
              <a:defRPr/>
            </a:lvl1pPr>
          </a:lstStyle>
          <a:p>
            <a:fld id="{746D3B6B-CE24-4100-A1ED-8AD5233A20BE}" type="slidenum">
              <a:rPr lang="en-US" altLang="ko-KR"/>
              <a:pPr/>
              <a:t>‹#›</a:t>
            </a:fld>
            <a:endParaRPr lang="en-US" altLang="ko-KR"/>
          </a:p>
        </p:txBody>
      </p:sp>
    </p:spTree>
    <p:extLst>
      <p:ext uri="{BB962C8B-B14F-4D97-AF65-F5344CB8AC3E}">
        <p14:creationId xmlns:p14="http://schemas.microsoft.com/office/powerpoint/2010/main" val="10020827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5" name="Rectangle 6"/>
          <p:cNvSpPr>
            <a:spLocks noGrp="1" noChangeArrowheads="1"/>
          </p:cNvSpPr>
          <p:nvPr>
            <p:ph type="sldNum" sz="quarter" idx="12"/>
          </p:nvPr>
        </p:nvSpPr>
        <p:spPr>
          <a:ln/>
        </p:spPr>
        <p:txBody>
          <a:bodyPr/>
          <a:lstStyle>
            <a:lvl1pPr>
              <a:defRPr/>
            </a:lvl1pPr>
          </a:lstStyle>
          <a:p>
            <a:fld id="{26B2738B-6C0B-4EB2-AFCC-C6497BED7DC0}" type="slidenum">
              <a:rPr lang="en-US" altLang="ko-KR"/>
              <a:pPr/>
              <a:t>‹#›</a:t>
            </a:fld>
            <a:endParaRPr lang="en-US" altLang="ko-KR"/>
          </a:p>
        </p:txBody>
      </p:sp>
    </p:spTree>
    <p:extLst>
      <p:ext uri="{BB962C8B-B14F-4D97-AF65-F5344CB8AC3E}">
        <p14:creationId xmlns:p14="http://schemas.microsoft.com/office/powerpoint/2010/main" val="974684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4" name="Rectangle 6"/>
          <p:cNvSpPr>
            <a:spLocks noGrp="1" noChangeArrowheads="1"/>
          </p:cNvSpPr>
          <p:nvPr>
            <p:ph type="sldNum" sz="quarter" idx="12"/>
          </p:nvPr>
        </p:nvSpPr>
        <p:spPr>
          <a:ln/>
        </p:spPr>
        <p:txBody>
          <a:bodyPr/>
          <a:lstStyle>
            <a:lvl1pPr>
              <a:defRPr/>
            </a:lvl1pPr>
          </a:lstStyle>
          <a:p>
            <a:fld id="{4BB0AB22-9072-4934-958D-EA85BB9FA88A}" type="slidenum">
              <a:rPr lang="en-US" altLang="ko-KR"/>
              <a:pPr/>
              <a:t>‹#›</a:t>
            </a:fld>
            <a:endParaRPr lang="en-US" altLang="ko-KR"/>
          </a:p>
        </p:txBody>
      </p:sp>
    </p:spTree>
    <p:extLst>
      <p:ext uri="{BB962C8B-B14F-4D97-AF65-F5344CB8AC3E}">
        <p14:creationId xmlns:p14="http://schemas.microsoft.com/office/powerpoint/2010/main" val="4149175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630238" y="457200"/>
            <a:ext cx="2949575"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fld id="{4E92FEEE-4660-405D-B366-D4C34235C5D9}" type="slidenum">
              <a:rPr lang="en-US" altLang="ko-KR"/>
              <a:pPr/>
              <a:t>‹#›</a:t>
            </a:fld>
            <a:endParaRPr lang="en-US" altLang="ko-KR"/>
          </a:p>
        </p:txBody>
      </p:sp>
    </p:spTree>
    <p:extLst>
      <p:ext uri="{BB962C8B-B14F-4D97-AF65-F5344CB8AC3E}">
        <p14:creationId xmlns:p14="http://schemas.microsoft.com/office/powerpoint/2010/main" val="7954437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630238" y="457200"/>
            <a:ext cx="2949575"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a:p>
        </p:txBody>
      </p:sp>
      <p:sp>
        <p:nvSpPr>
          <p:cNvPr id="4" name="텍스트 개체 틀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fld id="{4D81C8C1-DF7D-4F04-B463-A1A87524EDE5}" type="slidenum">
              <a:rPr lang="en-US" altLang="ko-KR"/>
              <a:pPr/>
              <a:t>‹#›</a:t>
            </a:fld>
            <a:endParaRPr lang="en-US" altLang="ko-KR"/>
          </a:p>
        </p:txBody>
      </p:sp>
    </p:spTree>
    <p:extLst>
      <p:ext uri="{BB962C8B-B14F-4D97-AF65-F5344CB8AC3E}">
        <p14:creationId xmlns:p14="http://schemas.microsoft.com/office/powerpoint/2010/main" val="1465348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fld id="{1CD197C9-22FD-4130-8639-724F553DBC84}" type="slidenum">
              <a:rPr lang="en-US" altLang="ko-KR"/>
              <a:pPr/>
              <a:t>‹#›</a:t>
            </a:fld>
            <a:endParaRPr lang="en-US" altLang="ko-KR"/>
          </a:p>
        </p:txBody>
      </p:sp>
    </p:spTree>
    <p:extLst>
      <p:ext uri="{BB962C8B-B14F-4D97-AF65-F5344CB8AC3E}">
        <p14:creationId xmlns:p14="http://schemas.microsoft.com/office/powerpoint/2010/main" val="1482994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74638"/>
            <a:ext cx="2057400" cy="5851525"/>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57200" y="274638"/>
            <a:ext cx="6019800" cy="5851525"/>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fld id="{FF9274C4-C7E2-4707-BE6B-F60D0AEBC0F6}" type="slidenum">
              <a:rPr lang="en-US" altLang="ko-KR"/>
              <a:pPr/>
              <a:t>‹#›</a:t>
            </a:fld>
            <a:endParaRPr lang="en-US" altLang="ko-KR"/>
          </a:p>
        </p:txBody>
      </p:sp>
    </p:spTree>
    <p:extLst>
      <p:ext uri="{BB962C8B-B14F-4D97-AF65-F5344CB8AC3E}">
        <p14:creationId xmlns:p14="http://schemas.microsoft.com/office/powerpoint/2010/main" val="1613626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C49A8E5-95D5-F257-42B3-09795EAEDC9E}"/>
              </a:ext>
            </a:extLst>
          </p:cNvPr>
          <p:cNvSpPr>
            <a:spLocks noGrp="1"/>
          </p:cNvSpPr>
          <p:nvPr>
            <p:ph type="ctrTitle"/>
          </p:nvPr>
        </p:nvSpPr>
        <p:spPr>
          <a:xfrm>
            <a:off x="1143000" y="1122363"/>
            <a:ext cx="6858000" cy="2387600"/>
          </a:xfrm>
        </p:spPr>
        <p:txBody>
          <a:bodyPr anchor="b"/>
          <a:lstStyle>
            <a:lvl1pPr algn="ctr">
              <a:defRPr sz="4500"/>
            </a:lvl1pPr>
          </a:lstStyle>
          <a:p>
            <a:r>
              <a:rPr kumimoji="1" lang="ko-KR" altLang="en-US"/>
              <a:t>마스터 제목 스타일 편집</a:t>
            </a:r>
            <a:endParaRPr kumimoji="1" lang="ko-Kore-KR" altLang="en-US"/>
          </a:p>
        </p:txBody>
      </p:sp>
      <p:sp>
        <p:nvSpPr>
          <p:cNvPr id="3" name="부제목 2">
            <a:extLst>
              <a:ext uri="{FF2B5EF4-FFF2-40B4-BE49-F238E27FC236}">
                <a16:creationId xmlns:a16="http://schemas.microsoft.com/office/drawing/2014/main" id="{8383C7B4-D2C6-7673-D515-4180C722D0E0}"/>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ko-KR" altLang="en-US"/>
              <a:t>클릭하여 마스터 부제목 스타일 편집</a:t>
            </a:r>
            <a:endParaRPr kumimoji="1" lang="ko-Kore-KR" altLang="en-US"/>
          </a:p>
        </p:txBody>
      </p:sp>
      <p:sp>
        <p:nvSpPr>
          <p:cNvPr id="4" name="날짜 개체 틀 3">
            <a:extLst>
              <a:ext uri="{FF2B5EF4-FFF2-40B4-BE49-F238E27FC236}">
                <a16:creationId xmlns:a16="http://schemas.microsoft.com/office/drawing/2014/main" id="{515C10B6-ACA5-92BD-90DF-E00EE5072618}"/>
              </a:ext>
            </a:extLst>
          </p:cNvPr>
          <p:cNvSpPr>
            <a:spLocks noGrp="1"/>
          </p:cNvSpPr>
          <p:nvPr>
            <p:ph type="dt" sz="half" idx="10"/>
          </p:nvPr>
        </p:nvSpPr>
        <p:spPr/>
        <p:txBody>
          <a:bodyPr/>
          <a:lstStyle/>
          <a:p>
            <a:fld id="{C7B8FC19-0FAB-404C-A99C-2C59D7E94823}" type="datetimeFigureOut">
              <a:rPr kumimoji="1" lang="ko-Kore-KR" altLang="en-US" smtClean="0"/>
              <a:t>04/17/2026</a:t>
            </a:fld>
            <a:endParaRPr kumimoji="1" lang="ko-Kore-KR" altLang="en-US"/>
          </a:p>
        </p:txBody>
      </p:sp>
      <p:sp>
        <p:nvSpPr>
          <p:cNvPr id="5" name="바닥글 개체 틀 4">
            <a:extLst>
              <a:ext uri="{FF2B5EF4-FFF2-40B4-BE49-F238E27FC236}">
                <a16:creationId xmlns:a16="http://schemas.microsoft.com/office/drawing/2014/main" id="{8A634EAF-A31F-CD75-56DE-4A2CC41931AD}"/>
              </a:ext>
            </a:extLst>
          </p:cNvPr>
          <p:cNvSpPr>
            <a:spLocks noGrp="1"/>
          </p:cNvSpPr>
          <p:nvPr>
            <p:ph type="ftr" sz="quarter" idx="11"/>
          </p:nvPr>
        </p:nvSpPr>
        <p:spPr/>
        <p:txBody>
          <a:bodyPr/>
          <a:lstStyle/>
          <a:p>
            <a:endParaRPr kumimoji="1" lang="ko-Kore-KR" altLang="en-US"/>
          </a:p>
        </p:txBody>
      </p:sp>
      <p:sp>
        <p:nvSpPr>
          <p:cNvPr id="6" name="슬라이드 번호 개체 틀 5">
            <a:extLst>
              <a:ext uri="{FF2B5EF4-FFF2-40B4-BE49-F238E27FC236}">
                <a16:creationId xmlns:a16="http://schemas.microsoft.com/office/drawing/2014/main" id="{F871BFC5-8706-2366-D1B1-E8C6C0589B40}"/>
              </a:ext>
            </a:extLst>
          </p:cNvPr>
          <p:cNvSpPr>
            <a:spLocks noGrp="1"/>
          </p:cNvSpPr>
          <p:nvPr>
            <p:ph type="sldNum" sz="quarter" idx="12"/>
          </p:nvPr>
        </p:nvSpPr>
        <p:spPr/>
        <p:txBody>
          <a:bodyPr/>
          <a:lstStyle/>
          <a:p>
            <a:fld id="{E6EAFB72-FD7E-AF48-99F2-B6AF69C148F9}" type="slidenum">
              <a:rPr kumimoji="1" lang="ko-Kore-KR" altLang="en-US" smtClean="0"/>
              <a:t>‹#›</a:t>
            </a:fld>
            <a:endParaRPr kumimoji="1" lang="ko-Kore-KR" altLang="en-US"/>
          </a:p>
        </p:txBody>
      </p:sp>
    </p:spTree>
    <p:extLst>
      <p:ext uri="{BB962C8B-B14F-4D97-AF65-F5344CB8AC3E}">
        <p14:creationId xmlns:p14="http://schemas.microsoft.com/office/powerpoint/2010/main" val="20107551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9F24193-878A-59D4-4B1D-13AAA3A4C8EB}"/>
              </a:ext>
            </a:extLst>
          </p:cNvPr>
          <p:cNvSpPr>
            <a:spLocks noGrp="1"/>
          </p:cNvSpPr>
          <p:nvPr>
            <p:ph type="title"/>
          </p:nvPr>
        </p:nvSpPr>
        <p:spPr/>
        <p:txBody>
          <a:bodyPr/>
          <a:lstStyle/>
          <a:p>
            <a:r>
              <a:rPr kumimoji="1" lang="ko-KR" altLang="en-US"/>
              <a:t>마스터 제목 스타일 편집</a:t>
            </a:r>
            <a:endParaRPr kumimoji="1" lang="ko-Kore-KR" altLang="en-US"/>
          </a:p>
        </p:txBody>
      </p:sp>
      <p:sp>
        <p:nvSpPr>
          <p:cNvPr id="3" name="내용 개체 틀 2">
            <a:extLst>
              <a:ext uri="{FF2B5EF4-FFF2-40B4-BE49-F238E27FC236}">
                <a16:creationId xmlns:a16="http://schemas.microsoft.com/office/drawing/2014/main" id="{E8581019-1329-282E-E3A5-BDD5193A0296}"/>
              </a:ext>
            </a:extLst>
          </p:cNvPr>
          <p:cNvSpPr>
            <a:spLocks noGrp="1"/>
          </p:cNvSpPr>
          <p:nvPr>
            <p:ph idx="1"/>
          </p:nvPr>
        </p:nvSpPr>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endParaRPr kumimoji="1" lang="ko-Kore-KR" altLang="en-US"/>
          </a:p>
        </p:txBody>
      </p:sp>
      <p:sp>
        <p:nvSpPr>
          <p:cNvPr id="4" name="날짜 개체 틀 3">
            <a:extLst>
              <a:ext uri="{FF2B5EF4-FFF2-40B4-BE49-F238E27FC236}">
                <a16:creationId xmlns:a16="http://schemas.microsoft.com/office/drawing/2014/main" id="{33D2C030-2052-7C39-20A6-B90DD3C2FA2F}"/>
              </a:ext>
            </a:extLst>
          </p:cNvPr>
          <p:cNvSpPr>
            <a:spLocks noGrp="1"/>
          </p:cNvSpPr>
          <p:nvPr>
            <p:ph type="dt" sz="half" idx="10"/>
          </p:nvPr>
        </p:nvSpPr>
        <p:spPr/>
        <p:txBody>
          <a:bodyPr/>
          <a:lstStyle/>
          <a:p>
            <a:fld id="{C7B8FC19-0FAB-404C-A99C-2C59D7E94823}" type="datetimeFigureOut">
              <a:rPr kumimoji="1" lang="ko-Kore-KR" altLang="en-US" smtClean="0"/>
              <a:t>04/17/2026</a:t>
            </a:fld>
            <a:endParaRPr kumimoji="1" lang="ko-Kore-KR" altLang="en-US"/>
          </a:p>
        </p:txBody>
      </p:sp>
      <p:sp>
        <p:nvSpPr>
          <p:cNvPr id="5" name="바닥글 개체 틀 4">
            <a:extLst>
              <a:ext uri="{FF2B5EF4-FFF2-40B4-BE49-F238E27FC236}">
                <a16:creationId xmlns:a16="http://schemas.microsoft.com/office/drawing/2014/main" id="{AB8B4790-4258-2658-199D-B32DA56D062D}"/>
              </a:ext>
            </a:extLst>
          </p:cNvPr>
          <p:cNvSpPr>
            <a:spLocks noGrp="1"/>
          </p:cNvSpPr>
          <p:nvPr>
            <p:ph type="ftr" sz="quarter" idx="11"/>
          </p:nvPr>
        </p:nvSpPr>
        <p:spPr/>
        <p:txBody>
          <a:bodyPr/>
          <a:lstStyle/>
          <a:p>
            <a:endParaRPr kumimoji="1" lang="ko-Kore-KR" altLang="en-US"/>
          </a:p>
        </p:txBody>
      </p:sp>
      <p:sp>
        <p:nvSpPr>
          <p:cNvPr id="6" name="슬라이드 번호 개체 틀 5">
            <a:extLst>
              <a:ext uri="{FF2B5EF4-FFF2-40B4-BE49-F238E27FC236}">
                <a16:creationId xmlns:a16="http://schemas.microsoft.com/office/drawing/2014/main" id="{D3125827-F05A-8980-027A-9607F61C9F2A}"/>
              </a:ext>
            </a:extLst>
          </p:cNvPr>
          <p:cNvSpPr>
            <a:spLocks noGrp="1"/>
          </p:cNvSpPr>
          <p:nvPr>
            <p:ph type="sldNum" sz="quarter" idx="12"/>
          </p:nvPr>
        </p:nvSpPr>
        <p:spPr/>
        <p:txBody>
          <a:bodyPr/>
          <a:lstStyle/>
          <a:p>
            <a:fld id="{E6EAFB72-FD7E-AF48-99F2-B6AF69C148F9}" type="slidenum">
              <a:rPr kumimoji="1" lang="ko-Kore-KR" altLang="en-US" smtClean="0"/>
              <a:t>‹#›</a:t>
            </a:fld>
            <a:endParaRPr kumimoji="1" lang="ko-Kore-KR" altLang="en-US"/>
          </a:p>
        </p:txBody>
      </p:sp>
    </p:spTree>
    <p:extLst>
      <p:ext uri="{BB962C8B-B14F-4D97-AF65-F5344CB8AC3E}">
        <p14:creationId xmlns:p14="http://schemas.microsoft.com/office/powerpoint/2010/main" val="37145544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B41B5A1-6815-4560-9E45-6A23F686A1A6}"/>
              </a:ext>
            </a:extLst>
          </p:cNvPr>
          <p:cNvSpPr>
            <a:spLocks noGrp="1"/>
          </p:cNvSpPr>
          <p:nvPr>
            <p:ph type="title"/>
          </p:nvPr>
        </p:nvSpPr>
        <p:spPr>
          <a:xfrm>
            <a:off x="623888" y="1709739"/>
            <a:ext cx="7886700" cy="2852737"/>
          </a:xfrm>
        </p:spPr>
        <p:txBody>
          <a:bodyPr anchor="b"/>
          <a:lstStyle>
            <a:lvl1pPr>
              <a:defRPr sz="4500"/>
            </a:lvl1pPr>
          </a:lstStyle>
          <a:p>
            <a:r>
              <a:rPr kumimoji="1" lang="ko-KR" altLang="en-US"/>
              <a:t>마스터 제목 스타일 편집</a:t>
            </a:r>
            <a:endParaRPr kumimoji="1" lang="ko-Kore-KR" altLang="en-US"/>
          </a:p>
        </p:txBody>
      </p:sp>
      <p:sp>
        <p:nvSpPr>
          <p:cNvPr id="3" name="텍스트 개체 틀 2">
            <a:extLst>
              <a:ext uri="{FF2B5EF4-FFF2-40B4-BE49-F238E27FC236}">
                <a16:creationId xmlns:a16="http://schemas.microsoft.com/office/drawing/2014/main" id="{08FB28C4-588E-7494-950C-5B64A116DB34}"/>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kumimoji="1" lang="ko-KR" altLang="en-US"/>
              <a:t>마스터 텍스트 스타일을 편집하려면 클릭</a:t>
            </a:r>
          </a:p>
        </p:txBody>
      </p:sp>
      <p:sp>
        <p:nvSpPr>
          <p:cNvPr id="4" name="날짜 개체 틀 3">
            <a:extLst>
              <a:ext uri="{FF2B5EF4-FFF2-40B4-BE49-F238E27FC236}">
                <a16:creationId xmlns:a16="http://schemas.microsoft.com/office/drawing/2014/main" id="{60EF1CE7-16CC-45A5-6AB7-78A3AB739947}"/>
              </a:ext>
            </a:extLst>
          </p:cNvPr>
          <p:cNvSpPr>
            <a:spLocks noGrp="1"/>
          </p:cNvSpPr>
          <p:nvPr>
            <p:ph type="dt" sz="half" idx="10"/>
          </p:nvPr>
        </p:nvSpPr>
        <p:spPr/>
        <p:txBody>
          <a:bodyPr/>
          <a:lstStyle/>
          <a:p>
            <a:fld id="{C7B8FC19-0FAB-404C-A99C-2C59D7E94823}" type="datetimeFigureOut">
              <a:rPr kumimoji="1" lang="ko-Kore-KR" altLang="en-US" smtClean="0"/>
              <a:t>04/17/2026</a:t>
            </a:fld>
            <a:endParaRPr kumimoji="1" lang="ko-Kore-KR" altLang="en-US"/>
          </a:p>
        </p:txBody>
      </p:sp>
      <p:sp>
        <p:nvSpPr>
          <p:cNvPr id="5" name="바닥글 개체 틀 4">
            <a:extLst>
              <a:ext uri="{FF2B5EF4-FFF2-40B4-BE49-F238E27FC236}">
                <a16:creationId xmlns:a16="http://schemas.microsoft.com/office/drawing/2014/main" id="{6E5D457A-7434-909E-B8FA-B14A276EFF9B}"/>
              </a:ext>
            </a:extLst>
          </p:cNvPr>
          <p:cNvSpPr>
            <a:spLocks noGrp="1"/>
          </p:cNvSpPr>
          <p:nvPr>
            <p:ph type="ftr" sz="quarter" idx="11"/>
          </p:nvPr>
        </p:nvSpPr>
        <p:spPr/>
        <p:txBody>
          <a:bodyPr/>
          <a:lstStyle/>
          <a:p>
            <a:endParaRPr kumimoji="1" lang="ko-Kore-KR" altLang="en-US"/>
          </a:p>
        </p:txBody>
      </p:sp>
      <p:sp>
        <p:nvSpPr>
          <p:cNvPr id="6" name="슬라이드 번호 개체 틀 5">
            <a:extLst>
              <a:ext uri="{FF2B5EF4-FFF2-40B4-BE49-F238E27FC236}">
                <a16:creationId xmlns:a16="http://schemas.microsoft.com/office/drawing/2014/main" id="{F4BE75A2-12D2-994D-C63B-EFCFB5640E47}"/>
              </a:ext>
            </a:extLst>
          </p:cNvPr>
          <p:cNvSpPr>
            <a:spLocks noGrp="1"/>
          </p:cNvSpPr>
          <p:nvPr>
            <p:ph type="sldNum" sz="quarter" idx="12"/>
          </p:nvPr>
        </p:nvSpPr>
        <p:spPr/>
        <p:txBody>
          <a:bodyPr/>
          <a:lstStyle/>
          <a:p>
            <a:fld id="{E6EAFB72-FD7E-AF48-99F2-B6AF69C148F9}" type="slidenum">
              <a:rPr kumimoji="1" lang="ko-Kore-KR" altLang="en-US" smtClean="0"/>
              <a:t>‹#›</a:t>
            </a:fld>
            <a:endParaRPr kumimoji="1" lang="ko-Kore-KR" altLang="en-US"/>
          </a:p>
        </p:txBody>
      </p:sp>
    </p:spTree>
    <p:extLst>
      <p:ext uri="{BB962C8B-B14F-4D97-AF65-F5344CB8AC3E}">
        <p14:creationId xmlns:p14="http://schemas.microsoft.com/office/powerpoint/2010/main" val="34718032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75F421A-FA20-22C2-846E-6B0B587596D4}"/>
              </a:ext>
            </a:extLst>
          </p:cNvPr>
          <p:cNvSpPr>
            <a:spLocks noGrp="1"/>
          </p:cNvSpPr>
          <p:nvPr>
            <p:ph type="title"/>
          </p:nvPr>
        </p:nvSpPr>
        <p:spPr/>
        <p:txBody>
          <a:bodyPr/>
          <a:lstStyle/>
          <a:p>
            <a:r>
              <a:rPr kumimoji="1" lang="ko-KR" altLang="en-US"/>
              <a:t>마스터 제목 스타일 편집</a:t>
            </a:r>
            <a:endParaRPr kumimoji="1" lang="ko-Kore-KR" altLang="en-US"/>
          </a:p>
        </p:txBody>
      </p:sp>
      <p:sp>
        <p:nvSpPr>
          <p:cNvPr id="3" name="내용 개체 틀 2">
            <a:extLst>
              <a:ext uri="{FF2B5EF4-FFF2-40B4-BE49-F238E27FC236}">
                <a16:creationId xmlns:a16="http://schemas.microsoft.com/office/drawing/2014/main" id="{5E321AF2-99CE-38FD-E384-604F966829DE}"/>
              </a:ext>
            </a:extLst>
          </p:cNvPr>
          <p:cNvSpPr>
            <a:spLocks noGrp="1"/>
          </p:cNvSpPr>
          <p:nvPr>
            <p:ph sz="half" idx="1"/>
          </p:nvPr>
        </p:nvSpPr>
        <p:spPr>
          <a:xfrm>
            <a:off x="628650" y="1825625"/>
            <a:ext cx="3886200" cy="4351338"/>
          </a:xfrm>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endParaRPr kumimoji="1" lang="ko-Kore-KR" altLang="en-US"/>
          </a:p>
        </p:txBody>
      </p:sp>
      <p:sp>
        <p:nvSpPr>
          <p:cNvPr id="4" name="내용 개체 틀 3">
            <a:extLst>
              <a:ext uri="{FF2B5EF4-FFF2-40B4-BE49-F238E27FC236}">
                <a16:creationId xmlns:a16="http://schemas.microsoft.com/office/drawing/2014/main" id="{0A1A5C5C-EC68-65BA-9DF5-9B93149D8975}"/>
              </a:ext>
            </a:extLst>
          </p:cNvPr>
          <p:cNvSpPr>
            <a:spLocks noGrp="1"/>
          </p:cNvSpPr>
          <p:nvPr>
            <p:ph sz="half" idx="2"/>
          </p:nvPr>
        </p:nvSpPr>
        <p:spPr>
          <a:xfrm>
            <a:off x="4629150" y="1825625"/>
            <a:ext cx="3886200" cy="4351338"/>
          </a:xfrm>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endParaRPr kumimoji="1" lang="ko-Kore-KR" altLang="en-US"/>
          </a:p>
        </p:txBody>
      </p:sp>
      <p:sp>
        <p:nvSpPr>
          <p:cNvPr id="5" name="날짜 개체 틀 4">
            <a:extLst>
              <a:ext uri="{FF2B5EF4-FFF2-40B4-BE49-F238E27FC236}">
                <a16:creationId xmlns:a16="http://schemas.microsoft.com/office/drawing/2014/main" id="{8CEEE84F-2230-8706-81E5-0E78491B9693}"/>
              </a:ext>
            </a:extLst>
          </p:cNvPr>
          <p:cNvSpPr>
            <a:spLocks noGrp="1"/>
          </p:cNvSpPr>
          <p:nvPr>
            <p:ph type="dt" sz="half" idx="10"/>
          </p:nvPr>
        </p:nvSpPr>
        <p:spPr/>
        <p:txBody>
          <a:bodyPr/>
          <a:lstStyle/>
          <a:p>
            <a:fld id="{C7B8FC19-0FAB-404C-A99C-2C59D7E94823}" type="datetimeFigureOut">
              <a:rPr kumimoji="1" lang="ko-Kore-KR" altLang="en-US" smtClean="0"/>
              <a:t>04/17/2026</a:t>
            </a:fld>
            <a:endParaRPr kumimoji="1" lang="ko-Kore-KR" altLang="en-US"/>
          </a:p>
        </p:txBody>
      </p:sp>
      <p:sp>
        <p:nvSpPr>
          <p:cNvPr id="6" name="바닥글 개체 틀 5">
            <a:extLst>
              <a:ext uri="{FF2B5EF4-FFF2-40B4-BE49-F238E27FC236}">
                <a16:creationId xmlns:a16="http://schemas.microsoft.com/office/drawing/2014/main" id="{18320198-1B11-61CC-E993-5FB8DBAB8348}"/>
              </a:ext>
            </a:extLst>
          </p:cNvPr>
          <p:cNvSpPr>
            <a:spLocks noGrp="1"/>
          </p:cNvSpPr>
          <p:nvPr>
            <p:ph type="ftr" sz="quarter" idx="11"/>
          </p:nvPr>
        </p:nvSpPr>
        <p:spPr/>
        <p:txBody>
          <a:bodyPr/>
          <a:lstStyle/>
          <a:p>
            <a:endParaRPr kumimoji="1" lang="ko-Kore-KR" altLang="en-US"/>
          </a:p>
        </p:txBody>
      </p:sp>
      <p:sp>
        <p:nvSpPr>
          <p:cNvPr id="7" name="슬라이드 번호 개체 틀 6">
            <a:extLst>
              <a:ext uri="{FF2B5EF4-FFF2-40B4-BE49-F238E27FC236}">
                <a16:creationId xmlns:a16="http://schemas.microsoft.com/office/drawing/2014/main" id="{AF23941A-4C8D-654B-8EC3-5796FC8B92BF}"/>
              </a:ext>
            </a:extLst>
          </p:cNvPr>
          <p:cNvSpPr>
            <a:spLocks noGrp="1"/>
          </p:cNvSpPr>
          <p:nvPr>
            <p:ph type="sldNum" sz="quarter" idx="12"/>
          </p:nvPr>
        </p:nvSpPr>
        <p:spPr/>
        <p:txBody>
          <a:bodyPr/>
          <a:lstStyle/>
          <a:p>
            <a:fld id="{E6EAFB72-FD7E-AF48-99F2-B6AF69C148F9}" type="slidenum">
              <a:rPr kumimoji="1" lang="ko-Kore-KR" altLang="en-US" smtClean="0"/>
              <a:t>‹#›</a:t>
            </a:fld>
            <a:endParaRPr kumimoji="1" lang="ko-Kore-KR" altLang="en-US"/>
          </a:p>
        </p:txBody>
      </p:sp>
    </p:spTree>
    <p:extLst>
      <p:ext uri="{BB962C8B-B14F-4D97-AF65-F5344CB8AC3E}">
        <p14:creationId xmlns:p14="http://schemas.microsoft.com/office/powerpoint/2010/main" val="37645838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173916-40A5-23A6-EB17-4AEDAB402FF4}"/>
              </a:ext>
            </a:extLst>
          </p:cNvPr>
          <p:cNvSpPr>
            <a:spLocks noGrp="1"/>
          </p:cNvSpPr>
          <p:nvPr>
            <p:ph type="title"/>
          </p:nvPr>
        </p:nvSpPr>
        <p:spPr>
          <a:xfrm>
            <a:off x="629841" y="365126"/>
            <a:ext cx="7886700" cy="1325563"/>
          </a:xfrm>
        </p:spPr>
        <p:txBody>
          <a:bodyPr/>
          <a:lstStyle/>
          <a:p>
            <a:r>
              <a:rPr kumimoji="1" lang="ko-KR" altLang="en-US"/>
              <a:t>마스터 제목 스타일 편집</a:t>
            </a:r>
            <a:endParaRPr kumimoji="1" lang="ko-Kore-KR" altLang="en-US"/>
          </a:p>
        </p:txBody>
      </p:sp>
      <p:sp>
        <p:nvSpPr>
          <p:cNvPr id="3" name="텍스트 개체 틀 2">
            <a:extLst>
              <a:ext uri="{FF2B5EF4-FFF2-40B4-BE49-F238E27FC236}">
                <a16:creationId xmlns:a16="http://schemas.microsoft.com/office/drawing/2014/main" id="{334E5228-40C9-4675-B58E-4E3896DDB56D}"/>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ko-KR" altLang="en-US"/>
              <a:t>마스터 텍스트 스타일을 편집하려면 클릭</a:t>
            </a:r>
          </a:p>
        </p:txBody>
      </p:sp>
      <p:sp>
        <p:nvSpPr>
          <p:cNvPr id="4" name="내용 개체 틀 3">
            <a:extLst>
              <a:ext uri="{FF2B5EF4-FFF2-40B4-BE49-F238E27FC236}">
                <a16:creationId xmlns:a16="http://schemas.microsoft.com/office/drawing/2014/main" id="{3B814076-3148-75A9-36B3-21C2EC67FB52}"/>
              </a:ext>
            </a:extLst>
          </p:cNvPr>
          <p:cNvSpPr>
            <a:spLocks noGrp="1"/>
          </p:cNvSpPr>
          <p:nvPr>
            <p:ph sz="half" idx="2"/>
          </p:nvPr>
        </p:nvSpPr>
        <p:spPr>
          <a:xfrm>
            <a:off x="629842" y="2505075"/>
            <a:ext cx="3868340" cy="3684588"/>
          </a:xfrm>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endParaRPr kumimoji="1" lang="ko-Kore-KR" altLang="en-US"/>
          </a:p>
        </p:txBody>
      </p:sp>
      <p:sp>
        <p:nvSpPr>
          <p:cNvPr id="5" name="텍스트 개체 틀 4">
            <a:extLst>
              <a:ext uri="{FF2B5EF4-FFF2-40B4-BE49-F238E27FC236}">
                <a16:creationId xmlns:a16="http://schemas.microsoft.com/office/drawing/2014/main" id="{ED7CC8CC-07D9-DBCB-6618-1BAF3F946965}"/>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ko-KR" altLang="en-US"/>
              <a:t>마스터 텍스트 스타일을 편집하려면 클릭</a:t>
            </a:r>
          </a:p>
        </p:txBody>
      </p:sp>
      <p:sp>
        <p:nvSpPr>
          <p:cNvPr id="6" name="내용 개체 틀 5">
            <a:extLst>
              <a:ext uri="{FF2B5EF4-FFF2-40B4-BE49-F238E27FC236}">
                <a16:creationId xmlns:a16="http://schemas.microsoft.com/office/drawing/2014/main" id="{1721AD0D-AB21-F3F4-2F7E-33E4D5E02906}"/>
              </a:ext>
            </a:extLst>
          </p:cNvPr>
          <p:cNvSpPr>
            <a:spLocks noGrp="1"/>
          </p:cNvSpPr>
          <p:nvPr>
            <p:ph sz="quarter" idx="4"/>
          </p:nvPr>
        </p:nvSpPr>
        <p:spPr>
          <a:xfrm>
            <a:off x="4629150" y="2505075"/>
            <a:ext cx="3887391" cy="3684588"/>
          </a:xfrm>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endParaRPr kumimoji="1" lang="ko-Kore-KR" altLang="en-US"/>
          </a:p>
        </p:txBody>
      </p:sp>
      <p:sp>
        <p:nvSpPr>
          <p:cNvPr id="7" name="날짜 개체 틀 6">
            <a:extLst>
              <a:ext uri="{FF2B5EF4-FFF2-40B4-BE49-F238E27FC236}">
                <a16:creationId xmlns:a16="http://schemas.microsoft.com/office/drawing/2014/main" id="{272DD826-C051-D1A6-4FB6-1676BA04E8C0}"/>
              </a:ext>
            </a:extLst>
          </p:cNvPr>
          <p:cNvSpPr>
            <a:spLocks noGrp="1"/>
          </p:cNvSpPr>
          <p:nvPr>
            <p:ph type="dt" sz="half" idx="10"/>
          </p:nvPr>
        </p:nvSpPr>
        <p:spPr/>
        <p:txBody>
          <a:bodyPr/>
          <a:lstStyle/>
          <a:p>
            <a:fld id="{C7B8FC19-0FAB-404C-A99C-2C59D7E94823}" type="datetimeFigureOut">
              <a:rPr kumimoji="1" lang="ko-Kore-KR" altLang="en-US" smtClean="0"/>
              <a:t>04/17/2026</a:t>
            </a:fld>
            <a:endParaRPr kumimoji="1" lang="ko-Kore-KR" altLang="en-US"/>
          </a:p>
        </p:txBody>
      </p:sp>
      <p:sp>
        <p:nvSpPr>
          <p:cNvPr id="8" name="바닥글 개체 틀 7">
            <a:extLst>
              <a:ext uri="{FF2B5EF4-FFF2-40B4-BE49-F238E27FC236}">
                <a16:creationId xmlns:a16="http://schemas.microsoft.com/office/drawing/2014/main" id="{7426680C-24EC-D00A-5012-56593338616F}"/>
              </a:ext>
            </a:extLst>
          </p:cNvPr>
          <p:cNvSpPr>
            <a:spLocks noGrp="1"/>
          </p:cNvSpPr>
          <p:nvPr>
            <p:ph type="ftr" sz="quarter" idx="11"/>
          </p:nvPr>
        </p:nvSpPr>
        <p:spPr/>
        <p:txBody>
          <a:bodyPr/>
          <a:lstStyle/>
          <a:p>
            <a:endParaRPr kumimoji="1" lang="ko-Kore-KR" altLang="en-US"/>
          </a:p>
        </p:txBody>
      </p:sp>
      <p:sp>
        <p:nvSpPr>
          <p:cNvPr id="9" name="슬라이드 번호 개체 틀 8">
            <a:extLst>
              <a:ext uri="{FF2B5EF4-FFF2-40B4-BE49-F238E27FC236}">
                <a16:creationId xmlns:a16="http://schemas.microsoft.com/office/drawing/2014/main" id="{96792D47-9216-BF4F-8797-1E1BB8D27E6C}"/>
              </a:ext>
            </a:extLst>
          </p:cNvPr>
          <p:cNvSpPr>
            <a:spLocks noGrp="1"/>
          </p:cNvSpPr>
          <p:nvPr>
            <p:ph type="sldNum" sz="quarter" idx="12"/>
          </p:nvPr>
        </p:nvSpPr>
        <p:spPr/>
        <p:txBody>
          <a:bodyPr/>
          <a:lstStyle/>
          <a:p>
            <a:fld id="{E6EAFB72-FD7E-AF48-99F2-B6AF69C148F9}" type="slidenum">
              <a:rPr kumimoji="1" lang="ko-Kore-KR" altLang="en-US" smtClean="0"/>
              <a:t>‹#›</a:t>
            </a:fld>
            <a:endParaRPr kumimoji="1" lang="ko-Kore-KR" altLang="en-US"/>
          </a:p>
        </p:txBody>
      </p:sp>
    </p:spTree>
    <p:extLst>
      <p:ext uri="{BB962C8B-B14F-4D97-AF65-F5344CB8AC3E}">
        <p14:creationId xmlns:p14="http://schemas.microsoft.com/office/powerpoint/2010/main" val="1337829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03D0046-BEEF-260B-CFEA-2209DDD979F5}"/>
              </a:ext>
            </a:extLst>
          </p:cNvPr>
          <p:cNvSpPr>
            <a:spLocks noGrp="1"/>
          </p:cNvSpPr>
          <p:nvPr>
            <p:ph type="title"/>
          </p:nvPr>
        </p:nvSpPr>
        <p:spPr/>
        <p:txBody>
          <a:bodyPr/>
          <a:lstStyle/>
          <a:p>
            <a:r>
              <a:rPr kumimoji="1" lang="ko-KR" altLang="en-US"/>
              <a:t>마스터 제목 스타일 편집</a:t>
            </a:r>
            <a:endParaRPr kumimoji="1" lang="ko-Kore-KR" altLang="en-US"/>
          </a:p>
        </p:txBody>
      </p:sp>
      <p:sp>
        <p:nvSpPr>
          <p:cNvPr id="3" name="날짜 개체 틀 2">
            <a:extLst>
              <a:ext uri="{FF2B5EF4-FFF2-40B4-BE49-F238E27FC236}">
                <a16:creationId xmlns:a16="http://schemas.microsoft.com/office/drawing/2014/main" id="{3C71C6CF-F3ED-3EC4-A042-308290191A7C}"/>
              </a:ext>
            </a:extLst>
          </p:cNvPr>
          <p:cNvSpPr>
            <a:spLocks noGrp="1"/>
          </p:cNvSpPr>
          <p:nvPr>
            <p:ph type="dt" sz="half" idx="10"/>
          </p:nvPr>
        </p:nvSpPr>
        <p:spPr/>
        <p:txBody>
          <a:bodyPr/>
          <a:lstStyle/>
          <a:p>
            <a:fld id="{C7B8FC19-0FAB-404C-A99C-2C59D7E94823}" type="datetimeFigureOut">
              <a:rPr kumimoji="1" lang="ko-Kore-KR" altLang="en-US" smtClean="0"/>
              <a:t>04/17/2026</a:t>
            </a:fld>
            <a:endParaRPr kumimoji="1" lang="ko-Kore-KR" altLang="en-US"/>
          </a:p>
        </p:txBody>
      </p:sp>
      <p:sp>
        <p:nvSpPr>
          <p:cNvPr id="4" name="바닥글 개체 틀 3">
            <a:extLst>
              <a:ext uri="{FF2B5EF4-FFF2-40B4-BE49-F238E27FC236}">
                <a16:creationId xmlns:a16="http://schemas.microsoft.com/office/drawing/2014/main" id="{79497212-3768-A3F6-63F4-B04267967246}"/>
              </a:ext>
            </a:extLst>
          </p:cNvPr>
          <p:cNvSpPr>
            <a:spLocks noGrp="1"/>
          </p:cNvSpPr>
          <p:nvPr>
            <p:ph type="ftr" sz="quarter" idx="11"/>
          </p:nvPr>
        </p:nvSpPr>
        <p:spPr/>
        <p:txBody>
          <a:bodyPr/>
          <a:lstStyle/>
          <a:p>
            <a:endParaRPr kumimoji="1" lang="ko-Kore-KR" altLang="en-US"/>
          </a:p>
        </p:txBody>
      </p:sp>
      <p:sp>
        <p:nvSpPr>
          <p:cNvPr id="5" name="슬라이드 번호 개체 틀 4">
            <a:extLst>
              <a:ext uri="{FF2B5EF4-FFF2-40B4-BE49-F238E27FC236}">
                <a16:creationId xmlns:a16="http://schemas.microsoft.com/office/drawing/2014/main" id="{88E5C17F-B025-6EFF-7F0D-E92FA008CDDE}"/>
              </a:ext>
            </a:extLst>
          </p:cNvPr>
          <p:cNvSpPr>
            <a:spLocks noGrp="1"/>
          </p:cNvSpPr>
          <p:nvPr>
            <p:ph type="sldNum" sz="quarter" idx="12"/>
          </p:nvPr>
        </p:nvSpPr>
        <p:spPr/>
        <p:txBody>
          <a:bodyPr/>
          <a:lstStyle/>
          <a:p>
            <a:fld id="{E6EAFB72-FD7E-AF48-99F2-B6AF69C148F9}" type="slidenum">
              <a:rPr kumimoji="1" lang="ko-Kore-KR" altLang="en-US" smtClean="0"/>
              <a:t>‹#›</a:t>
            </a:fld>
            <a:endParaRPr kumimoji="1" lang="ko-Kore-KR" altLang="en-US"/>
          </a:p>
        </p:txBody>
      </p:sp>
    </p:spTree>
    <p:extLst>
      <p:ext uri="{BB962C8B-B14F-4D97-AF65-F5344CB8AC3E}">
        <p14:creationId xmlns:p14="http://schemas.microsoft.com/office/powerpoint/2010/main" val="29811686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3ECF73E6-1276-DCBA-3B1F-E1701BB2CAA4}"/>
              </a:ext>
            </a:extLst>
          </p:cNvPr>
          <p:cNvSpPr>
            <a:spLocks noGrp="1"/>
          </p:cNvSpPr>
          <p:nvPr>
            <p:ph type="dt" sz="half" idx="10"/>
          </p:nvPr>
        </p:nvSpPr>
        <p:spPr/>
        <p:txBody>
          <a:bodyPr/>
          <a:lstStyle/>
          <a:p>
            <a:fld id="{C7B8FC19-0FAB-404C-A99C-2C59D7E94823}" type="datetimeFigureOut">
              <a:rPr kumimoji="1" lang="ko-Kore-KR" altLang="en-US" smtClean="0"/>
              <a:t>04/17/2026</a:t>
            </a:fld>
            <a:endParaRPr kumimoji="1" lang="ko-Kore-KR" altLang="en-US"/>
          </a:p>
        </p:txBody>
      </p:sp>
      <p:sp>
        <p:nvSpPr>
          <p:cNvPr id="3" name="바닥글 개체 틀 2">
            <a:extLst>
              <a:ext uri="{FF2B5EF4-FFF2-40B4-BE49-F238E27FC236}">
                <a16:creationId xmlns:a16="http://schemas.microsoft.com/office/drawing/2014/main" id="{FA8B0AAD-7EF6-A470-ED6B-B69BFC848045}"/>
              </a:ext>
            </a:extLst>
          </p:cNvPr>
          <p:cNvSpPr>
            <a:spLocks noGrp="1"/>
          </p:cNvSpPr>
          <p:nvPr>
            <p:ph type="ftr" sz="quarter" idx="11"/>
          </p:nvPr>
        </p:nvSpPr>
        <p:spPr/>
        <p:txBody>
          <a:bodyPr/>
          <a:lstStyle/>
          <a:p>
            <a:endParaRPr kumimoji="1" lang="ko-Kore-KR" altLang="en-US"/>
          </a:p>
        </p:txBody>
      </p:sp>
      <p:sp>
        <p:nvSpPr>
          <p:cNvPr id="4" name="슬라이드 번호 개체 틀 3">
            <a:extLst>
              <a:ext uri="{FF2B5EF4-FFF2-40B4-BE49-F238E27FC236}">
                <a16:creationId xmlns:a16="http://schemas.microsoft.com/office/drawing/2014/main" id="{A53E173E-F362-D822-3C36-802B0805C65F}"/>
              </a:ext>
            </a:extLst>
          </p:cNvPr>
          <p:cNvSpPr>
            <a:spLocks noGrp="1"/>
          </p:cNvSpPr>
          <p:nvPr>
            <p:ph type="sldNum" sz="quarter" idx="12"/>
          </p:nvPr>
        </p:nvSpPr>
        <p:spPr/>
        <p:txBody>
          <a:bodyPr/>
          <a:lstStyle/>
          <a:p>
            <a:fld id="{E6EAFB72-FD7E-AF48-99F2-B6AF69C148F9}" type="slidenum">
              <a:rPr kumimoji="1" lang="ko-Kore-KR" altLang="en-US" smtClean="0"/>
              <a:t>‹#›</a:t>
            </a:fld>
            <a:endParaRPr kumimoji="1" lang="ko-Kore-KR" altLang="en-US"/>
          </a:p>
        </p:txBody>
      </p:sp>
    </p:spTree>
    <p:extLst>
      <p:ext uri="{BB962C8B-B14F-4D97-AF65-F5344CB8AC3E}">
        <p14:creationId xmlns:p14="http://schemas.microsoft.com/office/powerpoint/2010/main" val="42468946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EEEDF79-D00E-BEC5-1AB2-5C6DF1B25081}"/>
              </a:ext>
            </a:extLst>
          </p:cNvPr>
          <p:cNvSpPr>
            <a:spLocks noGrp="1"/>
          </p:cNvSpPr>
          <p:nvPr>
            <p:ph type="title"/>
          </p:nvPr>
        </p:nvSpPr>
        <p:spPr>
          <a:xfrm>
            <a:off x="629841" y="457200"/>
            <a:ext cx="2949178" cy="1600200"/>
          </a:xfrm>
        </p:spPr>
        <p:txBody>
          <a:bodyPr anchor="b"/>
          <a:lstStyle>
            <a:lvl1pPr>
              <a:defRPr sz="2400"/>
            </a:lvl1pPr>
          </a:lstStyle>
          <a:p>
            <a:r>
              <a:rPr kumimoji="1" lang="ko-KR" altLang="en-US"/>
              <a:t>마스터 제목 스타일 편집</a:t>
            </a:r>
            <a:endParaRPr kumimoji="1" lang="ko-Kore-KR" altLang="en-US"/>
          </a:p>
        </p:txBody>
      </p:sp>
      <p:sp>
        <p:nvSpPr>
          <p:cNvPr id="3" name="내용 개체 틀 2">
            <a:extLst>
              <a:ext uri="{FF2B5EF4-FFF2-40B4-BE49-F238E27FC236}">
                <a16:creationId xmlns:a16="http://schemas.microsoft.com/office/drawing/2014/main" id="{71517DD4-671E-DC45-E479-E7559BAE5E1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endParaRPr kumimoji="1" lang="ko-Kore-KR" altLang="en-US"/>
          </a:p>
        </p:txBody>
      </p:sp>
      <p:sp>
        <p:nvSpPr>
          <p:cNvPr id="4" name="텍스트 개체 틀 3">
            <a:extLst>
              <a:ext uri="{FF2B5EF4-FFF2-40B4-BE49-F238E27FC236}">
                <a16:creationId xmlns:a16="http://schemas.microsoft.com/office/drawing/2014/main" id="{233301EA-DDD4-8978-09C7-19D70B5C52D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ko-KR" altLang="en-US"/>
              <a:t>마스터 텍스트 스타일을 편집하려면 클릭</a:t>
            </a:r>
          </a:p>
        </p:txBody>
      </p:sp>
      <p:sp>
        <p:nvSpPr>
          <p:cNvPr id="5" name="날짜 개체 틀 4">
            <a:extLst>
              <a:ext uri="{FF2B5EF4-FFF2-40B4-BE49-F238E27FC236}">
                <a16:creationId xmlns:a16="http://schemas.microsoft.com/office/drawing/2014/main" id="{30CC2A64-B21D-E215-E70A-9DB83583F8CB}"/>
              </a:ext>
            </a:extLst>
          </p:cNvPr>
          <p:cNvSpPr>
            <a:spLocks noGrp="1"/>
          </p:cNvSpPr>
          <p:nvPr>
            <p:ph type="dt" sz="half" idx="10"/>
          </p:nvPr>
        </p:nvSpPr>
        <p:spPr/>
        <p:txBody>
          <a:bodyPr/>
          <a:lstStyle/>
          <a:p>
            <a:fld id="{C7B8FC19-0FAB-404C-A99C-2C59D7E94823}" type="datetimeFigureOut">
              <a:rPr kumimoji="1" lang="ko-Kore-KR" altLang="en-US" smtClean="0"/>
              <a:t>04/17/2026</a:t>
            </a:fld>
            <a:endParaRPr kumimoji="1" lang="ko-Kore-KR" altLang="en-US"/>
          </a:p>
        </p:txBody>
      </p:sp>
      <p:sp>
        <p:nvSpPr>
          <p:cNvPr id="6" name="바닥글 개체 틀 5">
            <a:extLst>
              <a:ext uri="{FF2B5EF4-FFF2-40B4-BE49-F238E27FC236}">
                <a16:creationId xmlns:a16="http://schemas.microsoft.com/office/drawing/2014/main" id="{07AB720F-247B-32D7-9C7A-DDA0629F1DDF}"/>
              </a:ext>
            </a:extLst>
          </p:cNvPr>
          <p:cNvSpPr>
            <a:spLocks noGrp="1"/>
          </p:cNvSpPr>
          <p:nvPr>
            <p:ph type="ftr" sz="quarter" idx="11"/>
          </p:nvPr>
        </p:nvSpPr>
        <p:spPr/>
        <p:txBody>
          <a:bodyPr/>
          <a:lstStyle/>
          <a:p>
            <a:endParaRPr kumimoji="1" lang="ko-Kore-KR" altLang="en-US"/>
          </a:p>
        </p:txBody>
      </p:sp>
      <p:sp>
        <p:nvSpPr>
          <p:cNvPr id="7" name="슬라이드 번호 개체 틀 6">
            <a:extLst>
              <a:ext uri="{FF2B5EF4-FFF2-40B4-BE49-F238E27FC236}">
                <a16:creationId xmlns:a16="http://schemas.microsoft.com/office/drawing/2014/main" id="{848E220F-6D21-4BD0-2310-73612021A799}"/>
              </a:ext>
            </a:extLst>
          </p:cNvPr>
          <p:cNvSpPr>
            <a:spLocks noGrp="1"/>
          </p:cNvSpPr>
          <p:nvPr>
            <p:ph type="sldNum" sz="quarter" idx="12"/>
          </p:nvPr>
        </p:nvSpPr>
        <p:spPr/>
        <p:txBody>
          <a:bodyPr/>
          <a:lstStyle/>
          <a:p>
            <a:fld id="{E6EAFB72-FD7E-AF48-99F2-B6AF69C148F9}" type="slidenum">
              <a:rPr kumimoji="1" lang="ko-Kore-KR" altLang="en-US" smtClean="0"/>
              <a:t>‹#›</a:t>
            </a:fld>
            <a:endParaRPr kumimoji="1" lang="ko-Kore-KR" altLang="en-US"/>
          </a:p>
        </p:txBody>
      </p:sp>
    </p:spTree>
    <p:extLst>
      <p:ext uri="{BB962C8B-B14F-4D97-AF65-F5344CB8AC3E}">
        <p14:creationId xmlns:p14="http://schemas.microsoft.com/office/powerpoint/2010/main" val="17222308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45204B8-D2A2-C1A0-0453-17304E61C4C3}"/>
              </a:ext>
            </a:extLst>
          </p:cNvPr>
          <p:cNvSpPr>
            <a:spLocks noGrp="1"/>
          </p:cNvSpPr>
          <p:nvPr>
            <p:ph type="title"/>
          </p:nvPr>
        </p:nvSpPr>
        <p:spPr>
          <a:xfrm>
            <a:off x="629841" y="457200"/>
            <a:ext cx="2949178" cy="1600200"/>
          </a:xfrm>
        </p:spPr>
        <p:txBody>
          <a:bodyPr anchor="b"/>
          <a:lstStyle>
            <a:lvl1pPr>
              <a:defRPr sz="2400"/>
            </a:lvl1pPr>
          </a:lstStyle>
          <a:p>
            <a:r>
              <a:rPr kumimoji="1" lang="ko-KR" altLang="en-US"/>
              <a:t>마스터 제목 스타일 편집</a:t>
            </a:r>
            <a:endParaRPr kumimoji="1" lang="ko-Kore-KR" altLang="en-US"/>
          </a:p>
        </p:txBody>
      </p:sp>
      <p:sp>
        <p:nvSpPr>
          <p:cNvPr id="3" name="그림 개체 틀 2">
            <a:extLst>
              <a:ext uri="{FF2B5EF4-FFF2-40B4-BE49-F238E27FC236}">
                <a16:creationId xmlns:a16="http://schemas.microsoft.com/office/drawing/2014/main" id="{1D8B2C4E-65E4-E783-CFEC-38C4BA686558}"/>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kumimoji="1" lang="ko-Kore-KR" altLang="en-US"/>
          </a:p>
        </p:txBody>
      </p:sp>
      <p:sp>
        <p:nvSpPr>
          <p:cNvPr id="4" name="텍스트 개체 틀 3">
            <a:extLst>
              <a:ext uri="{FF2B5EF4-FFF2-40B4-BE49-F238E27FC236}">
                <a16:creationId xmlns:a16="http://schemas.microsoft.com/office/drawing/2014/main" id="{D889A272-FE57-7327-5584-C6E6199189DB}"/>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ko-KR" altLang="en-US"/>
              <a:t>마스터 텍스트 스타일을 편집하려면 클릭</a:t>
            </a:r>
          </a:p>
        </p:txBody>
      </p:sp>
      <p:sp>
        <p:nvSpPr>
          <p:cNvPr id="5" name="날짜 개체 틀 4">
            <a:extLst>
              <a:ext uri="{FF2B5EF4-FFF2-40B4-BE49-F238E27FC236}">
                <a16:creationId xmlns:a16="http://schemas.microsoft.com/office/drawing/2014/main" id="{AD6EE42E-200D-25C3-5F2A-0A93460539BF}"/>
              </a:ext>
            </a:extLst>
          </p:cNvPr>
          <p:cNvSpPr>
            <a:spLocks noGrp="1"/>
          </p:cNvSpPr>
          <p:nvPr>
            <p:ph type="dt" sz="half" idx="10"/>
          </p:nvPr>
        </p:nvSpPr>
        <p:spPr/>
        <p:txBody>
          <a:bodyPr/>
          <a:lstStyle/>
          <a:p>
            <a:fld id="{C7B8FC19-0FAB-404C-A99C-2C59D7E94823}" type="datetimeFigureOut">
              <a:rPr kumimoji="1" lang="ko-Kore-KR" altLang="en-US" smtClean="0"/>
              <a:t>04/17/2026</a:t>
            </a:fld>
            <a:endParaRPr kumimoji="1" lang="ko-Kore-KR" altLang="en-US"/>
          </a:p>
        </p:txBody>
      </p:sp>
      <p:sp>
        <p:nvSpPr>
          <p:cNvPr id="6" name="바닥글 개체 틀 5">
            <a:extLst>
              <a:ext uri="{FF2B5EF4-FFF2-40B4-BE49-F238E27FC236}">
                <a16:creationId xmlns:a16="http://schemas.microsoft.com/office/drawing/2014/main" id="{DBF00851-20E1-D04F-E1B2-A70DCEA07081}"/>
              </a:ext>
            </a:extLst>
          </p:cNvPr>
          <p:cNvSpPr>
            <a:spLocks noGrp="1"/>
          </p:cNvSpPr>
          <p:nvPr>
            <p:ph type="ftr" sz="quarter" idx="11"/>
          </p:nvPr>
        </p:nvSpPr>
        <p:spPr/>
        <p:txBody>
          <a:bodyPr/>
          <a:lstStyle/>
          <a:p>
            <a:endParaRPr kumimoji="1" lang="ko-Kore-KR" altLang="en-US"/>
          </a:p>
        </p:txBody>
      </p:sp>
      <p:sp>
        <p:nvSpPr>
          <p:cNvPr id="7" name="슬라이드 번호 개체 틀 6">
            <a:extLst>
              <a:ext uri="{FF2B5EF4-FFF2-40B4-BE49-F238E27FC236}">
                <a16:creationId xmlns:a16="http://schemas.microsoft.com/office/drawing/2014/main" id="{D3D7D752-65B7-0C24-9690-B512A159B5FA}"/>
              </a:ext>
            </a:extLst>
          </p:cNvPr>
          <p:cNvSpPr>
            <a:spLocks noGrp="1"/>
          </p:cNvSpPr>
          <p:nvPr>
            <p:ph type="sldNum" sz="quarter" idx="12"/>
          </p:nvPr>
        </p:nvSpPr>
        <p:spPr/>
        <p:txBody>
          <a:bodyPr/>
          <a:lstStyle/>
          <a:p>
            <a:fld id="{E6EAFB72-FD7E-AF48-99F2-B6AF69C148F9}" type="slidenum">
              <a:rPr kumimoji="1" lang="ko-Kore-KR" altLang="en-US" smtClean="0"/>
              <a:t>‹#›</a:t>
            </a:fld>
            <a:endParaRPr kumimoji="1" lang="ko-Kore-KR" altLang="en-US"/>
          </a:p>
        </p:txBody>
      </p:sp>
    </p:spTree>
    <p:extLst>
      <p:ext uri="{BB962C8B-B14F-4D97-AF65-F5344CB8AC3E}">
        <p14:creationId xmlns:p14="http://schemas.microsoft.com/office/powerpoint/2010/main" val="14490275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C92D711-5C32-E8F9-6E3E-8E072DDE41D1}"/>
              </a:ext>
            </a:extLst>
          </p:cNvPr>
          <p:cNvSpPr>
            <a:spLocks noGrp="1"/>
          </p:cNvSpPr>
          <p:nvPr>
            <p:ph type="title"/>
          </p:nvPr>
        </p:nvSpPr>
        <p:spPr/>
        <p:txBody>
          <a:bodyPr/>
          <a:lstStyle/>
          <a:p>
            <a:r>
              <a:rPr kumimoji="1" lang="ko-KR" altLang="en-US"/>
              <a:t>마스터 제목 스타일 편집</a:t>
            </a:r>
            <a:endParaRPr kumimoji="1" lang="ko-Kore-KR" altLang="en-US"/>
          </a:p>
        </p:txBody>
      </p:sp>
      <p:sp>
        <p:nvSpPr>
          <p:cNvPr id="3" name="세로 텍스트 개체 틀 2">
            <a:extLst>
              <a:ext uri="{FF2B5EF4-FFF2-40B4-BE49-F238E27FC236}">
                <a16:creationId xmlns:a16="http://schemas.microsoft.com/office/drawing/2014/main" id="{26AD8027-B364-BC37-4FA7-016217ED9C1D}"/>
              </a:ext>
            </a:extLst>
          </p:cNvPr>
          <p:cNvSpPr>
            <a:spLocks noGrp="1"/>
          </p:cNvSpPr>
          <p:nvPr>
            <p:ph type="body" orient="vert" idx="1"/>
          </p:nvPr>
        </p:nvSpPr>
        <p:spPr/>
        <p:txBody>
          <a:bodyPr vert="eaVert"/>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endParaRPr kumimoji="1" lang="ko-Kore-KR" altLang="en-US"/>
          </a:p>
        </p:txBody>
      </p:sp>
      <p:sp>
        <p:nvSpPr>
          <p:cNvPr id="4" name="날짜 개체 틀 3">
            <a:extLst>
              <a:ext uri="{FF2B5EF4-FFF2-40B4-BE49-F238E27FC236}">
                <a16:creationId xmlns:a16="http://schemas.microsoft.com/office/drawing/2014/main" id="{171ED649-DB80-40F5-4596-A7F1735331B2}"/>
              </a:ext>
            </a:extLst>
          </p:cNvPr>
          <p:cNvSpPr>
            <a:spLocks noGrp="1"/>
          </p:cNvSpPr>
          <p:nvPr>
            <p:ph type="dt" sz="half" idx="10"/>
          </p:nvPr>
        </p:nvSpPr>
        <p:spPr/>
        <p:txBody>
          <a:bodyPr/>
          <a:lstStyle/>
          <a:p>
            <a:fld id="{C7B8FC19-0FAB-404C-A99C-2C59D7E94823}" type="datetimeFigureOut">
              <a:rPr kumimoji="1" lang="ko-Kore-KR" altLang="en-US" smtClean="0"/>
              <a:t>04/17/2026</a:t>
            </a:fld>
            <a:endParaRPr kumimoji="1" lang="ko-Kore-KR" altLang="en-US"/>
          </a:p>
        </p:txBody>
      </p:sp>
      <p:sp>
        <p:nvSpPr>
          <p:cNvPr id="5" name="바닥글 개체 틀 4">
            <a:extLst>
              <a:ext uri="{FF2B5EF4-FFF2-40B4-BE49-F238E27FC236}">
                <a16:creationId xmlns:a16="http://schemas.microsoft.com/office/drawing/2014/main" id="{67737B77-179D-B7A4-F799-DC9870BF857B}"/>
              </a:ext>
            </a:extLst>
          </p:cNvPr>
          <p:cNvSpPr>
            <a:spLocks noGrp="1"/>
          </p:cNvSpPr>
          <p:nvPr>
            <p:ph type="ftr" sz="quarter" idx="11"/>
          </p:nvPr>
        </p:nvSpPr>
        <p:spPr/>
        <p:txBody>
          <a:bodyPr/>
          <a:lstStyle/>
          <a:p>
            <a:endParaRPr kumimoji="1" lang="ko-Kore-KR" altLang="en-US"/>
          </a:p>
        </p:txBody>
      </p:sp>
      <p:sp>
        <p:nvSpPr>
          <p:cNvPr id="6" name="슬라이드 번호 개체 틀 5">
            <a:extLst>
              <a:ext uri="{FF2B5EF4-FFF2-40B4-BE49-F238E27FC236}">
                <a16:creationId xmlns:a16="http://schemas.microsoft.com/office/drawing/2014/main" id="{CB575A7F-D6AF-8C72-A8D8-C44C3000A7A9}"/>
              </a:ext>
            </a:extLst>
          </p:cNvPr>
          <p:cNvSpPr>
            <a:spLocks noGrp="1"/>
          </p:cNvSpPr>
          <p:nvPr>
            <p:ph type="sldNum" sz="quarter" idx="12"/>
          </p:nvPr>
        </p:nvSpPr>
        <p:spPr/>
        <p:txBody>
          <a:bodyPr/>
          <a:lstStyle/>
          <a:p>
            <a:fld id="{E6EAFB72-FD7E-AF48-99F2-B6AF69C148F9}" type="slidenum">
              <a:rPr kumimoji="1" lang="ko-Kore-KR" altLang="en-US" smtClean="0"/>
              <a:t>‹#›</a:t>
            </a:fld>
            <a:endParaRPr kumimoji="1" lang="ko-Kore-KR" altLang="en-US"/>
          </a:p>
        </p:txBody>
      </p:sp>
    </p:spTree>
    <p:extLst>
      <p:ext uri="{BB962C8B-B14F-4D97-AF65-F5344CB8AC3E}">
        <p14:creationId xmlns:p14="http://schemas.microsoft.com/office/powerpoint/2010/main" val="41139223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8EA630E2-410E-E77C-A62D-6312374E3451}"/>
              </a:ext>
            </a:extLst>
          </p:cNvPr>
          <p:cNvSpPr>
            <a:spLocks noGrp="1"/>
          </p:cNvSpPr>
          <p:nvPr>
            <p:ph type="title" orient="vert"/>
          </p:nvPr>
        </p:nvSpPr>
        <p:spPr>
          <a:xfrm>
            <a:off x="6543675" y="365125"/>
            <a:ext cx="1971675" cy="5811838"/>
          </a:xfrm>
        </p:spPr>
        <p:txBody>
          <a:bodyPr vert="eaVert"/>
          <a:lstStyle/>
          <a:p>
            <a:r>
              <a:rPr kumimoji="1" lang="ko-KR" altLang="en-US"/>
              <a:t>마스터 제목 스타일 편집</a:t>
            </a:r>
            <a:endParaRPr kumimoji="1" lang="ko-Kore-KR" altLang="en-US"/>
          </a:p>
        </p:txBody>
      </p:sp>
      <p:sp>
        <p:nvSpPr>
          <p:cNvPr id="3" name="세로 텍스트 개체 틀 2">
            <a:extLst>
              <a:ext uri="{FF2B5EF4-FFF2-40B4-BE49-F238E27FC236}">
                <a16:creationId xmlns:a16="http://schemas.microsoft.com/office/drawing/2014/main" id="{8A6A4B95-C120-00E9-B01D-10787E889ECE}"/>
              </a:ext>
            </a:extLst>
          </p:cNvPr>
          <p:cNvSpPr>
            <a:spLocks noGrp="1"/>
          </p:cNvSpPr>
          <p:nvPr>
            <p:ph type="body" orient="vert" idx="1"/>
          </p:nvPr>
        </p:nvSpPr>
        <p:spPr>
          <a:xfrm>
            <a:off x="628650" y="365125"/>
            <a:ext cx="5800725" cy="5811838"/>
          </a:xfrm>
        </p:spPr>
        <p:txBody>
          <a:bodyPr vert="eaVert"/>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endParaRPr kumimoji="1" lang="ko-Kore-KR" altLang="en-US"/>
          </a:p>
        </p:txBody>
      </p:sp>
      <p:sp>
        <p:nvSpPr>
          <p:cNvPr id="4" name="날짜 개체 틀 3">
            <a:extLst>
              <a:ext uri="{FF2B5EF4-FFF2-40B4-BE49-F238E27FC236}">
                <a16:creationId xmlns:a16="http://schemas.microsoft.com/office/drawing/2014/main" id="{AE26B051-DB78-7C58-CC61-5A5003C89EF6}"/>
              </a:ext>
            </a:extLst>
          </p:cNvPr>
          <p:cNvSpPr>
            <a:spLocks noGrp="1"/>
          </p:cNvSpPr>
          <p:nvPr>
            <p:ph type="dt" sz="half" idx="10"/>
          </p:nvPr>
        </p:nvSpPr>
        <p:spPr/>
        <p:txBody>
          <a:bodyPr/>
          <a:lstStyle/>
          <a:p>
            <a:fld id="{C7B8FC19-0FAB-404C-A99C-2C59D7E94823}" type="datetimeFigureOut">
              <a:rPr kumimoji="1" lang="ko-Kore-KR" altLang="en-US" smtClean="0"/>
              <a:t>04/17/2026</a:t>
            </a:fld>
            <a:endParaRPr kumimoji="1" lang="ko-Kore-KR" altLang="en-US"/>
          </a:p>
        </p:txBody>
      </p:sp>
      <p:sp>
        <p:nvSpPr>
          <p:cNvPr id="5" name="바닥글 개체 틀 4">
            <a:extLst>
              <a:ext uri="{FF2B5EF4-FFF2-40B4-BE49-F238E27FC236}">
                <a16:creationId xmlns:a16="http://schemas.microsoft.com/office/drawing/2014/main" id="{1A3F7C00-CD46-C026-2F0F-518E2425CC13}"/>
              </a:ext>
            </a:extLst>
          </p:cNvPr>
          <p:cNvSpPr>
            <a:spLocks noGrp="1"/>
          </p:cNvSpPr>
          <p:nvPr>
            <p:ph type="ftr" sz="quarter" idx="11"/>
          </p:nvPr>
        </p:nvSpPr>
        <p:spPr/>
        <p:txBody>
          <a:bodyPr/>
          <a:lstStyle/>
          <a:p>
            <a:endParaRPr kumimoji="1" lang="ko-Kore-KR" altLang="en-US"/>
          </a:p>
        </p:txBody>
      </p:sp>
      <p:sp>
        <p:nvSpPr>
          <p:cNvPr id="6" name="슬라이드 번호 개체 틀 5">
            <a:extLst>
              <a:ext uri="{FF2B5EF4-FFF2-40B4-BE49-F238E27FC236}">
                <a16:creationId xmlns:a16="http://schemas.microsoft.com/office/drawing/2014/main" id="{2BF8EEAE-B42E-CB59-033C-49BC2F247DD8}"/>
              </a:ext>
            </a:extLst>
          </p:cNvPr>
          <p:cNvSpPr>
            <a:spLocks noGrp="1"/>
          </p:cNvSpPr>
          <p:nvPr>
            <p:ph type="sldNum" sz="quarter" idx="12"/>
          </p:nvPr>
        </p:nvSpPr>
        <p:spPr/>
        <p:txBody>
          <a:bodyPr/>
          <a:lstStyle/>
          <a:p>
            <a:fld id="{E6EAFB72-FD7E-AF48-99F2-B6AF69C148F9}" type="slidenum">
              <a:rPr kumimoji="1" lang="ko-Kore-KR" altLang="en-US" smtClean="0"/>
              <a:t>‹#›</a:t>
            </a:fld>
            <a:endParaRPr kumimoji="1" lang="ko-Kore-KR" altLang="en-US"/>
          </a:p>
        </p:txBody>
      </p:sp>
    </p:spTree>
    <p:extLst>
      <p:ext uri="{BB962C8B-B14F-4D97-AF65-F5344CB8AC3E}">
        <p14:creationId xmlns:p14="http://schemas.microsoft.com/office/powerpoint/2010/main" val="33037468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latinLnBrk="1" hangingPunct="1">
              <a:defRPr sz="1400"/>
            </a:lvl1pPr>
          </a:lstStyle>
          <a:p>
            <a:pPr>
              <a:defRPr/>
            </a:pPr>
            <a:endParaRPr lang="en-US" altLang="ko-K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latinLnBrk="1" hangingPunct="1">
              <a:defRPr sz="1400"/>
            </a:lvl1pPr>
          </a:lstStyle>
          <a:p>
            <a:pPr>
              <a:defRPr/>
            </a:pPr>
            <a:endParaRPr lang="en-US" altLang="ko-K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latinLnBrk="1" hangingPunct="1">
              <a:defRPr sz="1400"/>
            </a:lvl1pPr>
          </a:lstStyle>
          <a:p>
            <a:fld id="{403358B8-3858-4AF6-BC73-37FAD9FFED67}" type="slidenum">
              <a:rPr lang="en-US" altLang="ko-KR"/>
              <a:pPr/>
              <a:t>‹#›</a:t>
            </a:fld>
            <a:endParaRPr lang="en-US" altLang="ko-K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latinLnBrk="1" hangingPunct="0">
        <a:spcBef>
          <a:spcPct val="0"/>
        </a:spcBef>
        <a:spcAft>
          <a:spcPct val="0"/>
        </a:spcAft>
        <a:defRPr kumimoji="1" sz="4400" kern="12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anose="020B0600000101010101" pitchFamily="50" charset="-127"/>
          <a:ea typeface="굴림" panose="020B0600000101010101" pitchFamily="50" charset="-127"/>
        </a:defRPr>
      </a:lvl2pPr>
      <a:lvl3pPr algn="ctr" rtl="0" eaLnBrk="0" fontAlgn="base" latinLnBrk="1" hangingPunct="0">
        <a:spcBef>
          <a:spcPct val="0"/>
        </a:spcBef>
        <a:spcAft>
          <a:spcPct val="0"/>
        </a:spcAft>
        <a:defRPr kumimoji="1" sz="4400">
          <a:solidFill>
            <a:schemeClr val="tx2"/>
          </a:solidFill>
          <a:latin typeface="굴림" panose="020B0600000101010101" pitchFamily="50" charset="-127"/>
          <a:ea typeface="굴림" panose="020B0600000101010101" pitchFamily="50" charset="-127"/>
        </a:defRPr>
      </a:lvl3pPr>
      <a:lvl4pPr algn="ctr" rtl="0" eaLnBrk="0" fontAlgn="base" latinLnBrk="1" hangingPunct="0">
        <a:spcBef>
          <a:spcPct val="0"/>
        </a:spcBef>
        <a:spcAft>
          <a:spcPct val="0"/>
        </a:spcAft>
        <a:defRPr kumimoji="1" sz="4400">
          <a:solidFill>
            <a:schemeClr val="tx2"/>
          </a:solidFill>
          <a:latin typeface="굴림" panose="020B0600000101010101" pitchFamily="50" charset="-127"/>
          <a:ea typeface="굴림" panose="020B0600000101010101" pitchFamily="50" charset="-127"/>
        </a:defRPr>
      </a:lvl4pPr>
      <a:lvl5pPr algn="ctr" rtl="0" eaLnBrk="0" fontAlgn="base" latinLnBrk="1" hangingPunct="0">
        <a:spcBef>
          <a:spcPct val="0"/>
        </a:spcBef>
        <a:spcAft>
          <a:spcPct val="0"/>
        </a:spcAft>
        <a:defRPr kumimoji="1" sz="4400">
          <a:solidFill>
            <a:schemeClr val="tx2"/>
          </a:solidFill>
          <a:latin typeface="굴림" panose="020B0600000101010101" pitchFamily="50" charset="-127"/>
          <a:ea typeface="굴림" panose="020B0600000101010101" pitchFamily="50" charset="-127"/>
        </a:defRPr>
      </a:lvl5pPr>
      <a:lvl6pPr marL="457200" algn="ctr" rtl="0" fontAlgn="base" latinLnBrk="1">
        <a:spcBef>
          <a:spcPct val="0"/>
        </a:spcBef>
        <a:spcAft>
          <a:spcPct val="0"/>
        </a:spcAft>
        <a:defRPr kumimoji="1" sz="4400">
          <a:solidFill>
            <a:schemeClr val="tx2"/>
          </a:solidFill>
          <a:latin typeface="굴림" panose="020B0600000101010101" pitchFamily="50" charset="-127"/>
          <a:ea typeface="굴림" panose="020B0600000101010101" pitchFamily="50" charset="-127"/>
        </a:defRPr>
      </a:lvl6pPr>
      <a:lvl7pPr marL="914400" algn="ctr" rtl="0" fontAlgn="base" latinLnBrk="1">
        <a:spcBef>
          <a:spcPct val="0"/>
        </a:spcBef>
        <a:spcAft>
          <a:spcPct val="0"/>
        </a:spcAft>
        <a:defRPr kumimoji="1" sz="4400">
          <a:solidFill>
            <a:schemeClr val="tx2"/>
          </a:solidFill>
          <a:latin typeface="굴림" panose="020B0600000101010101" pitchFamily="50" charset="-127"/>
          <a:ea typeface="굴림" panose="020B0600000101010101" pitchFamily="50" charset="-127"/>
        </a:defRPr>
      </a:lvl7pPr>
      <a:lvl8pPr marL="1371600" algn="ctr" rtl="0" fontAlgn="base" latinLnBrk="1">
        <a:spcBef>
          <a:spcPct val="0"/>
        </a:spcBef>
        <a:spcAft>
          <a:spcPct val="0"/>
        </a:spcAft>
        <a:defRPr kumimoji="1" sz="4400">
          <a:solidFill>
            <a:schemeClr val="tx2"/>
          </a:solidFill>
          <a:latin typeface="굴림" panose="020B0600000101010101" pitchFamily="50" charset="-127"/>
          <a:ea typeface="굴림" panose="020B0600000101010101" pitchFamily="50" charset="-127"/>
        </a:defRPr>
      </a:lvl8pPr>
      <a:lvl9pPr marL="1828800" algn="ctr" rtl="0" fontAlgn="base" latinLnBrk="1">
        <a:spcBef>
          <a:spcPct val="0"/>
        </a:spcBef>
        <a:spcAft>
          <a:spcPct val="0"/>
        </a:spcAft>
        <a:defRPr kumimoji="1" sz="4400">
          <a:solidFill>
            <a:schemeClr val="tx2"/>
          </a:solidFill>
          <a:latin typeface="굴림" panose="020B0600000101010101" pitchFamily="50" charset="-127"/>
          <a:ea typeface="굴림" panose="020B0600000101010101" pitchFamily="50" charset="-127"/>
        </a:defRPr>
      </a:lvl9pPr>
    </p:titleStyle>
    <p:body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DD7F0F4C-A3BD-4DFF-D57F-CE6C29D634AD}"/>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kumimoji="1" lang="ko-KR" altLang="en-US"/>
              <a:t>마스터 제목 스타일 편집</a:t>
            </a:r>
            <a:endParaRPr kumimoji="1" lang="ko-Kore-KR" altLang="en-US"/>
          </a:p>
        </p:txBody>
      </p:sp>
      <p:sp>
        <p:nvSpPr>
          <p:cNvPr id="3" name="텍스트 개체 틀 2">
            <a:extLst>
              <a:ext uri="{FF2B5EF4-FFF2-40B4-BE49-F238E27FC236}">
                <a16:creationId xmlns:a16="http://schemas.microsoft.com/office/drawing/2014/main" id="{5993EBE5-C053-759C-481F-6DB05C99E005}"/>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endParaRPr kumimoji="1" lang="ko-Kore-KR" altLang="en-US"/>
          </a:p>
        </p:txBody>
      </p:sp>
      <p:sp>
        <p:nvSpPr>
          <p:cNvPr id="4" name="날짜 개체 틀 3">
            <a:extLst>
              <a:ext uri="{FF2B5EF4-FFF2-40B4-BE49-F238E27FC236}">
                <a16:creationId xmlns:a16="http://schemas.microsoft.com/office/drawing/2014/main" id="{832CCA68-444E-5C35-0797-D83DA17E1ECE}"/>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7B8FC19-0FAB-404C-A99C-2C59D7E94823}" type="datetimeFigureOut">
              <a:rPr kumimoji="1" lang="ko-Kore-KR" altLang="en-US" smtClean="0"/>
              <a:t>04/17/2026</a:t>
            </a:fld>
            <a:endParaRPr kumimoji="1" lang="ko-Kore-KR" altLang="en-US"/>
          </a:p>
        </p:txBody>
      </p:sp>
      <p:sp>
        <p:nvSpPr>
          <p:cNvPr id="5" name="바닥글 개체 틀 4">
            <a:extLst>
              <a:ext uri="{FF2B5EF4-FFF2-40B4-BE49-F238E27FC236}">
                <a16:creationId xmlns:a16="http://schemas.microsoft.com/office/drawing/2014/main" id="{AAE16916-E459-AA2F-FCF8-447138FE29E9}"/>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kumimoji="1" lang="ko-Kore-KR" altLang="en-US"/>
          </a:p>
        </p:txBody>
      </p:sp>
      <p:sp>
        <p:nvSpPr>
          <p:cNvPr id="6" name="슬라이드 번호 개체 틀 5">
            <a:extLst>
              <a:ext uri="{FF2B5EF4-FFF2-40B4-BE49-F238E27FC236}">
                <a16:creationId xmlns:a16="http://schemas.microsoft.com/office/drawing/2014/main" id="{516FE748-7A9C-D857-627E-E0B42160FAB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6EAFB72-FD7E-AF48-99F2-B6AF69C148F9}" type="slidenum">
              <a:rPr kumimoji="1" lang="ko-Kore-KR" altLang="en-US" smtClean="0"/>
              <a:t>‹#›</a:t>
            </a:fld>
            <a:endParaRPr kumimoji="1" lang="ko-Kore-KR" altLang="en-US"/>
          </a:p>
        </p:txBody>
      </p:sp>
    </p:spTree>
    <p:extLst>
      <p:ext uri="{BB962C8B-B14F-4D97-AF65-F5344CB8AC3E}">
        <p14:creationId xmlns:p14="http://schemas.microsoft.com/office/powerpoint/2010/main" val="3267525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ko-Kore-K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제목 1"/>
          <p:cNvSpPr>
            <a:spLocks noGrp="1" noChangeArrowheads="1"/>
          </p:cNvSpPr>
          <p:nvPr>
            <p:ph type="ctrTitle"/>
          </p:nvPr>
        </p:nvSpPr>
        <p:spPr>
          <a:xfrm>
            <a:off x="1143000" y="1122363"/>
            <a:ext cx="7316788" cy="2387600"/>
          </a:xfrm>
        </p:spPr>
        <p:txBody>
          <a:bodyPr/>
          <a:lstStyle/>
          <a:p>
            <a:pPr algn="l" eaLnBrk="1" hangingPunct="1">
              <a:defRPr/>
            </a:pPr>
            <a:r>
              <a:rPr lang="ko-KR" altLang="ko-KR" sz="4000" dirty="0">
                <a:effectLst>
                  <a:outerShdw blurRad="38100" dist="38100" dir="2700000" algn="tl">
                    <a:srgbClr val="000000">
                      <a:alpha val="43137"/>
                    </a:srgbClr>
                  </a:outerShdw>
                </a:effectLst>
                <a:latin typeface="Angsana New" panose="020B0502040204020203" pitchFamily="18" charset="-34"/>
                <a:cs typeface="Angsana New" panose="020B0502040204020203" pitchFamily="18" charset="-34"/>
              </a:rPr>
              <a:t>국제수지표의 이해</a:t>
            </a:r>
            <a:r>
              <a:rPr lang="en-US" altLang="ko-KR" sz="4000" dirty="0">
                <a:effectLst>
                  <a:outerShdw blurRad="38100" dist="38100" dir="2700000" algn="tl">
                    <a:srgbClr val="000000">
                      <a:alpha val="43137"/>
                    </a:srgbClr>
                  </a:outerShdw>
                </a:effectLst>
                <a:latin typeface="Angsana New" panose="020B0502040204020203" pitchFamily="18" charset="-34"/>
                <a:cs typeface="Angsana New" panose="020B0502040204020203" pitchFamily="18" charset="-34"/>
              </a:rPr>
              <a:t>, </a:t>
            </a:r>
            <a:br>
              <a:rPr lang="en-US" altLang="ko-KR" sz="4000" dirty="0">
                <a:effectLst>
                  <a:outerShdw blurRad="38100" dist="38100" dir="2700000" algn="tl">
                    <a:srgbClr val="000000">
                      <a:alpha val="43137"/>
                    </a:srgbClr>
                  </a:outerShdw>
                </a:effectLst>
                <a:latin typeface="Angsana New" panose="020B0502040204020203" pitchFamily="18" charset="-34"/>
                <a:cs typeface="Angsana New" panose="020B0502040204020203" pitchFamily="18" charset="-34"/>
              </a:rPr>
            </a:br>
            <a:r>
              <a:rPr lang="ko-KR" altLang="ko-KR" sz="4000" dirty="0">
                <a:effectLst>
                  <a:outerShdw blurRad="38100" dist="38100" dir="2700000" algn="tl">
                    <a:srgbClr val="000000">
                      <a:alpha val="43137"/>
                    </a:srgbClr>
                  </a:outerShdw>
                </a:effectLst>
                <a:latin typeface="Angsana New" panose="020B0502040204020203" pitchFamily="18" charset="-34"/>
                <a:cs typeface="Angsana New" panose="020B0502040204020203" pitchFamily="18" charset="-34"/>
              </a:rPr>
              <a:t>국제수지의 현황 및 결정요인</a:t>
            </a:r>
            <a:r>
              <a:rPr lang="en-US" altLang="ko-KR" sz="4000" dirty="0">
                <a:effectLst>
                  <a:outerShdw blurRad="38100" dist="38100" dir="2700000" algn="tl">
                    <a:srgbClr val="000000">
                      <a:alpha val="43137"/>
                    </a:srgbClr>
                  </a:outerShdw>
                </a:effectLst>
                <a:latin typeface="Angsana New" panose="020B0502040204020203" pitchFamily="18" charset="-34"/>
                <a:cs typeface="Angsana New" panose="020B0502040204020203" pitchFamily="18" charset="-34"/>
              </a:rPr>
              <a:t>, </a:t>
            </a:r>
            <a:br>
              <a:rPr lang="en-US" altLang="ko-KR" sz="4000" dirty="0">
                <a:effectLst>
                  <a:outerShdw blurRad="38100" dist="38100" dir="2700000" algn="tl">
                    <a:srgbClr val="000000">
                      <a:alpha val="43137"/>
                    </a:srgbClr>
                  </a:outerShdw>
                </a:effectLst>
                <a:latin typeface="Angsana New" panose="020B0502040204020203" pitchFamily="18" charset="-34"/>
                <a:cs typeface="Angsana New" panose="020B0502040204020203" pitchFamily="18" charset="-34"/>
              </a:rPr>
            </a:br>
            <a:r>
              <a:rPr lang="ko-KR" altLang="ko-KR" sz="4000" dirty="0">
                <a:effectLst>
                  <a:outerShdw blurRad="38100" dist="38100" dir="2700000" algn="tl">
                    <a:srgbClr val="000000">
                      <a:alpha val="43137"/>
                    </a:srgbClr>
                  </a:outerShdw>
                </a:effectLst>
                <a:latin typeface="Angsana New" panose="020B0502040204020203" pitchFamily="18" charset="-34"/>
                <a:cs typeface="Angsana New" panose="020B0502040204020203" pitchFamily="18" charset="-34"/>
              </a:rPr>
              <a:t>저축</a:t>
            </a:r>
            <a:r>
              <a:rPr lang="en-US" altLang="ko-KR" sz="4000" dirty="0">
                <a:effectLst>
                  <a:outerShdw blurRad="38100" dist="38100" dir="2700000" algn="tl">
                    <a:srgbClr val="000000">
                      <a:alpha val="43137"/>
                    </a:srgbClr>
                  </a:outerShdw>
                </a:effectLst>
                <a:latin typeface="Angsana New" panose="020B0502040204020203" pitchFamily="18" charset="-34"/>
                <a:cs typeface="Angsana New" panose="020B0502040204020203" pitchFamily="18" charset="-34"/>
              </a:rPr>
              <a:t>, </a:t>
            </a:r>
            <a:r>
              <a:rPr lang="ko-KR" altLang="ko-KR" sz="4000" dirty="0">
                <a:effectLst>
                  <a:outerShdw blurRad="38100" dist="38100" dir="2700000" algn="tl">
                    <a:srgbClr val="000000">
                      <a:alpha val="43137"/>
                    </a:srgbClr>
                  </a:outerShdw>
                </a:effectLst>
                <a:latin typeface="Angsana New" panose="020B0502040204020203" pitchFamily="18" charset="-34"/>
                <a:cs typeface="Angsana New" panose="020B0502040204020203" pitchFamily="18" charset="-34"/>
              </a:rPr>
              <a:t>투자와 국제수지</a:t>
            </a:r>
            <a:endParaRPr lang="ko-KR" altLang="en-US" sz="4000" dirty="0">
              <a:effectLst>
                <a:outerShdw blurRad="38100" dist="38100" dir="2700000" algn="tl">
                  <a:srgbClr val="000000">
                    <a:alpha val="43137"/>
                  </a:srgbClr>
                </a:outerShdw>
              </a:effectLst>
              <a:latin typeface="Angsana New" panose="020B0502040204020203" pitchFamily="18" charset="-34"/>
              <a:cs typeface="Angsana New" panose="020B0502040204020203" pitchFamily="18" charset="-34"/>
            </a:endParaRPr>
          </a:p>
        </p:txBody>
      </p:sp>
      <p:sp>
        <p:nvSpPr>
          <p:cNvPr id="3076" name="부제목 4"/>
          <p:cNvSpPr>
            <a:spLocks noGrp="1" noChangeArrowheads="1"/>
          </p:cNvSpPr>
          <p:nvPr>
            <p:ph type="subTitle" idx="1"/>
          </p:nvPr>
        </p:nvSpPr>
        <p:spPr>
          <a:xfrm>
            <a:off x="1258888" y="4797425"/>
            <a:ext cx="6858000" cy="863600"/>
          </a:xfrm>
        </p:spPr>
        <p:txBody>
          <a:bodyPr/>
          <a:lstStyle/>
          <a:p>
            <a:pPr algn="r" eaLnBrk="1" hangingPunct="1"/>
            <a:r>
              <a:rPr lang="en-US" altLang="ko-KR" dirty="0"/>
              <a:t>8</a:t>
            </a:r>
            <a:r>
              <a:rPr lang="ko-KR" altLang="en-US" dirty="0"/>
              <a:t>주차 강의자료</a:t>
            </a:r>
            <a:endParaRPr lang="en-US" altLang="ko-KR" dirty="0"/>
          </a:p>
          <a:p>
            <a:pPr algn="r" eaLnBrk="1" hangingPunct="1"/>
            <a:r>
              <a:rPr lang="en-US" altLang="ko-KR" dirty="0"/>
              <a:t>(</a:t>
            </a:r>
            <a:r>
              <a:rPr lang="ko-KR" altLang="en-US" dirty="0" err="1"/>
              <a:t>김인준</a:t>
            </a:r>
            <a:r>
              <a:rPr lang="en-US" altLang="ko-KR" dirty="0"/>
              <a:t>, </a:t>
            </a:r>
            <a:r>
              <a:rPr lang="ko-KR" altLang="en-US" dirty="0"/>
              <a:t>이영섭</a:t>
            </a:r>
            <a:r>
              <a:rPr lang="en-US" altLang="ko-KR" dirty="0"/>
              <a:t>, </a:t>
            </a:r>
            <a:r>
              <a:rPr lang="ko-KR" altLang="en-US" dirty="0"/>
              <a:t>김성현 교과서</a:t>
            </a:r>
            <a:r>
              <a:rPr lang="en-US" altLang="ko-KR" dirty="0"/>
              <a:t>+</a:t>
            </a:r>
            <a:r>
              <a:rPr lang="ko-KR" altLang="en-US" dirty="0"/>
              <a:t>개인자료</a:t>
            </a:r>
            <a:r>
              <a:rPr lang="en-US" altLang="ko-KR" dirty="0"/>
              <a:t>)</a:t>
            </a:r>
          </a:p>
          <a:p>
            <a:pPr algn="r" eaLnBrk="1" hangingPunct="1"/>
            <a:r>
              <a:rPr lang="ko-KR" altLang="en-US" dirty="0"/>
              <a:t>김성현 교수</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내용 개체 틀 4"/>
          <p:cNvSpPr>
            <a:spLocks noGrp="1"/>
          </p:cNvSpPr>
          <p:nvPr>
            <p:ph idx="1"/>
          </p:nvPr>
        </p:nvSpPr>
        <p:spPr>
          <a:xfrm>
            <a:off x="455613" y="1289050"/>
            <a:ext cx="8229600" cy="4279900"/>
          </a:xfrm>
        </p:spPr>
        <p:txBody>
          <a:bodyPr/>
          <a:lstStyle/>
          <a:p>
            <a:pPr marL="461963" indent="-449263" eaLnBrk="1" hangingPunct="1">
              <a:spcBef>
                <a:spcPct val="100000"/>
              </a:spcBef>
              <a:buClr>
                <a:srgbClr val="FFC000"/>
              </a:buClr>
              <a:buFont typeface="Wingdings" panose="05000000000000000000" pitchFamily="2" charset="2"/>
              <a:buChar char="Ø"/>
              <a:defRPr/>
            </a:pPr>
            <a:r>
              <a:rPr lang="ko-KR" altLang="en-US" sz="2500" b="1" dirty="0">
                <a:latin typeface="바탕체" panose="02030609000101010101" pitchFamily="17" charset="-127"/>
                <a:ea typeface="바탕체" panose="02030609000101010101" pitchFamily="17" charset="-127"/>
              </a:rPr>
              <a:t>이번주 강의의 목적</a:t>
            </a:r>
            <a:endParaRPr lang="ko-KR" altLang="en-US" sz="2500" dirty="0">
              <a:latin typeface="바탕체" panose="02030609000101010101" pitchFamily="17" charset="-127"/>
              <a:ea typeface="바탕체" panose="02030609000101010101" pitchFamily="17" charset="-127"/>
            </a:endParaRPr>
          </a:p>
          <a:p>
            <a:pPr marL="461963" indent="-449263" eaLnBrk="1" hangingPunct="1">
              <a:spcBef>
                <a:spcPct val="0"/>
              </a:spcBef>
              <a:buClr>
                <a:srgbClr val="006666"/>
              </a:buClr>
              <a:buSzPct val="90000"/>
              <a:buFont typeface="Wingdings" panose="05000000000000000000" pitchFamily="2" charset="2"/>
              <a:buNone/>
              <a:defRPr/>
            </a:pPr>
            <a:endParaRPr lang="en-US" altLang="ko-KR" sz="2500" dirty="0">
              <a:latin typeface="바탕체" panose="02030609000101010101" pitchFamily="17" charset="-127"/>
              <a:ea typeface="바탕체" panose="02030609000101010101" pitchFamily="17" charset="-127"/>
            </a:endParaRPr>
          </a:p>
          <a:p>
            <a:pPr marL="862013" lvl="1" indent="-449263" eaLnBrk="1" hangingPunct="1">
              <a:spcBef>
                <a:spcPts val="3000"/>
              </a:spcBef>
              <a:buClr>
                <a:srgbClr val="006666"/>
              </a:buClr>
              <a:buSzPct val="90000"/>
              <a:buFont typeface="Arial" panose="020B0604020202020204" pitchFamily="34" charset="0"/>
              <a:buChar char="•"/>
              <a:defRPr/>
            </a:pPr>
            <a:r>
              <a:rPr lang="ko-KR" altLang="en-US" sz="2200" dirty="0">
                <a:latin typeface="바탕체" panose="02030609000101010101" pitchFamily="17" charset="-127"/>
                <a:ea typeface="바탕체" panose="02030609000101010101" pitchFamily="17" charset="-127"/>
              </a:rPr>
              <a:t>대내경제와 대외경제 간의 연결고리인 국제수지에 대해 설명</a:t>
            </a:r>
            <a:endParaRPr lang="en-US" altLang="ko-KR" sz="2200" dirty="0">
              <a:latin typeface="바탕체" panose="02030609000101010101" pitchFamily="17" charset="-127"/>
              <a:ea typeface="바탕체" panose="02030609000101010101" pitchFamily="17" charset="-127"/>
            </a:endParaRPr>
          </a:p>
          <a:p>
            <a:pPr marL="862013" lvl="1" indent="-449263" eaLnBrk="1" hangingPunct="1">
              <a:spcBef>
                <a:spcPts val="3000"/>
              </a:spcBef>
              <a:buClr>
                <a:srgbClr val="006666"/>
              </a:buClr>
              <a:buSzPct val="90000"/>
              <a:buFont typeface="Arial" panose="020B0604020202020204" pitchFamily="34" charset="0"/>
              <a:buChar char="•"/>
              <a:defRPr/>
            </a:pPr>
            <a:r>
              <a:rPr lang="ko-KR" altLang="en-US" sz="2200" dirty="0">
                <a:latin typeface="바탕체" panose="02030609000101010101" pitchFamily="17" charset="-127"/>
                <a:ea typeface="바탕체" panose="02030609000101010101" pitchFamily="17" charset="-127"/>
              </a:rPr>
              <a:t>국가 간 자본이동을 이해하기 위해 국제거래의 체계적인 분류에 대한 이해가 필요</a:t>
            </a:r>
            <a:endParaRPr lang="en-US" altLang="en-US" sz="2200" dirty="0">
              <a:latin typeface="바탕체" panose="02030609000101010101" pitchFamily="17" charset="-127"/>
              <a:ea typeface="바탕체" panose="02030609000101010101" pitchFamily="17" charset="-127"/>
            </a:endParaRPr>
          </a:p>
          <a:p>
            <a:pPr eaLnBrk="1" hangingPunct="1">
              <a:defRPr/>
            </a:pPr>
            <a:endParaRPr lang="ko-KR"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제목 3"/>
          <p:cNvSpPr>
            <a:spLocks noGrp="1"/>
          </p:cNvSpPr>
          <p:nvPr>
            <p:ph idx="1"/>
          </p:nvPr>
        </p:nvSpPr>
        <p:spPr>
          <a:xfrm>
            <a:off x="457200" y="908050"/>
            <a:ext cx="8229600" cy="5218113"/>
          </a:xfrm>
        </p:spPr>
        <p:txBody>
          <a:bodyPr/>
          <a:lstStyle/>
          <a:p>
            <a:pPr marL="12700" indent="0" eaLnBrk="1" fontAlgn="auto" hangingPunct="1">
              <a:spcBef>
                <a:spcPct val="100000"/>
              </a:spcBef>
              <a:spcAft>
                <a:spcPts val="0"/>
              </a:spcAft>
              <a:buClr>
                <a:schemeClr val="accent2"/>
              </a:buClr>
              <a:buFontTx/>
              <a:buNone/>
              <a:defRPr/>
            </a:pPr>
            <a:endParaRPr lang="en-US" altLang="ko-KR" sz="2700" dirty="0">
              <a:effectLst>
                <a:outerShdw blurRad="38100" dist="38100" dir="2700000" algn="tl">
                  <a:srgbClr val="C0C0C0"/>
                </a:outerShdw>
              </a:effectLst>
              <a:latin typeface="바탕체" pitchFamily="17" charset="-127"/>
              <a:ea typeface="바탕체" pitchFamily="17" charset="-127"/>
            </a:endParaRPr>
          </a:p>
          <a:p>
            <a:pPr marL="469900" indent="-457200" eaLnBrk="1" fontAlgn="auto" hangingPunct="1">
              <a:spcBef>
                <a:spcPts val="6600"/>
              </a:spcBef>
              <a:spcAft>
                <a:spcPts val="0"/>
              </a:spcAft>
              <a:buClr>
                <a:srgbClr val="FFC000"/>
              </a:buClr>
              <a:buFont typeface="Arial" panose="020B0604020202020204" pitchFamily="34" charset="0"/>
              <a:buChar char="•"/>
              <a:defRPr/>
            </a:pPr>
            <a:r>
              <a:rPr lang="ko-KR" altLang="en-US" sz="2700" dirty="0">
                <a:latin typeface="바탕체" pitchFamily="17" charset="-127"/>
                <a:ea typeface="바탕체" pitchFamily="17" charset="-127"/>
              </a:rPr>
              <a:t>제 </a:t>
            </a:r>
            <a:r>
              <a:rPr lang="en-US" altLang="ko-KR" sz="2700" dirty="0">
                <a:latin typeface="바탕체" pitchFamily="17" charset="-127"/>
                <a:ea typeface="바탕체" pitchFamily="17" charset="-127"/>
              </a:rPr>
              <a:t>1 </a:t>
            </a:r>
            <a:r>
              <a:rPr lang="ko-KR" altLang="en-US" sz="2700" dirty="0">
                <a:latin typeface="바탕체" pitchFamily="17" charset="-127"/>
                <a:ea typeface="바탕체" pitchFamily="17" charset="-127"/>
              </a:rPr>
              <a:t>절</a:t>
            </a:r>
            <a:r>
              <a:rPr lang="ko-KR" altLang="en-US" sz="2700" b="1" dirty="0">
                <a:latin typeface="바탕체" pitchFamily="17" charset="-127"/>
                <a:ea typeface="바탕체" pitchFamily="17" charset="-127"/>
              </a:rPr>
              <a:t> 국제수지표의 구성</a:t>
            </a:r>
            <a:endParaRPr lang="en-US" altLang="ko-KR" sz="2700" b="1" dirty="0">
              <a:latin typeface="바탕체" pitchFamily="17" charset="-127"/>
              <a:ea typeface="바탕체" pitchFamily="17" charset="-127"/>
            </a:endParaRPr>
          </a:p>
          <a:p>
            <a:pPr marL="469900" indent="-457200" eaLnBrk="1" fontAlgn="auto" hangingPunct="1">
              <a:spcBef>
                <a:spcPct val="100000"/>
              </a:spcBef>
              <a:spcAft>
                <a:spcPts val="0"/>
              </a:spcAft>
              <a:buClr>
                <a:srgbClr val="FFC000"/>
              </a:buClr>
              <a:buFont typeface="Arial" panose="020B0604020202020204" pitchFamily="34" charset="0"/>
              <a:buChar char="•"/>
              <a:defRPr/>
            </a:pPr>
            <a:r>
              <a:rPr lang="ko-KR" altLang="en-US" sz="2700" dirty="0">
                <a:latin typeface="바탕체" pitchFamily="17" charset="-127"/>
                <a:ea typeface="바탕체" pitchFamily="17" charset="-127"/>
              </a:rPr>
              <a:t>제 </a:t>
            </a:r>
            <a:r>
              <a:rPr lang="en-US" altLang="ko-KR" sz="2700" dirty="0">
                <a:latin typeface="바탕체" pitchFamily="17" charset="-127"/>
                <a:ea typeface="바탕체" pitchFamily="17" charset="-127"/>
              </a:rPr>
              <a:t>2 </a:t>
            </a:r>
            <a:r>
              <a:rPr lang="ko-KR" altLang="en-US" sz="2700" dirty="0">
                <a:latin typeface="바탕체" pitchFamily="17" charset="-127"/>
                <a:ea typeface="바탕체" pitchFamily="17" charset="-127"/>
              </a:rPr>
              <a:t>절</a:t>
            </a:r>
            <a:r>
              <a:rPr lang="ko-KR" altLang="en-US" sz="2700" b="1" dirty="0">
                <a:latin typeface="바탕체" pitchFamily="17" charset="-127"/>
                <a:ea typeface="바탕체" pitchFamily="17" charset="-127"/>
              </a:rPr>
              <a:t> 국제수지균형의 종류</a:t>
            </a:r>
            <a:endParaRPr lang="en-US" altLang="ko-KR" sz="2700" b="1" dirty="0">
              <a:latin typeface="바탕체" pitchFamily="17" charset="-127"/>
              <a:ea typeface="바탕체" pitchFamily="17" charset="-127"/>
            </a:endParaRPr>
          </a:p>
          <a:p>
            <a:pPr marL="469900" indent="-457200" eaLnBrk="1" fontAlgn="auto" hangingPunct="1">
              <a:spcBef>
                <a:spcPct val="100000"/>
              </a:spcBef>
              <a:spcAft>
                <a:spcPts val="0"/>
              </a:spcAft>
              <a:buClr>
                <a:srgbClr val="FFC000"/>
              </a:buClr>
              <a:buFont typeface="Arial" panose="020B0604020202020204" pitchFamily="34" charset="0"/>
              <a:buChar char="•"/>
              <a:defRPr/>
            </a:pPr>
            <a:r>
              <a:rPr lang="ko-KR" altLang="en-US" sz="2700" dirty="0">
                <a:latin typeface="바탕체" pitchFamily="17" charset="-127"/>
                <a:ea typeface="바탕체" pitchFamily="17" charset="-127"/>
              </a:rPr>
              <a:t>제 </a:t>
            </a:r>
            <a:r>
              <a:rPr lang="en-US" altLang="ko-KR" sz="2700" dirty="0">
                <a:latin typeface="바탕체" pitchFamily="17" charset="-127"/>
                <a:ea typeface="바탕체" pitchFamily="17" charset="-127"/>
              </a:rPr>
              <a:t>3 </a:t>
            </a:r>
            <a:r>
              <a:rPr lang="ko-KR" altLang="en-US" sz="2700" dirty="0">
                <a:latin typeface="바탕체" pitchFamily="17" charset="-127"/>
                <a:ea typeface="바탕체" pitchFamily="17" charset="-127"/>
              </a:rPr>
              <a:t>절 </a:t>
            </a:r>
            <a:r>
              <a:rPr lang="ko-KR" altLang="en-US" sz="2700" b="1" dirty="0">
                <a:latin typeface="바탕체" pitchFamily="17" charset="-127"/>
                <a:ea typeface="바탕체" pitchFamily="17" charset="-127"/>
              </a:rPr>
              <a:t>국제수지와 타 사회계정과의 관계</a:t>
            </a:r>
            <a:endParaRPr lang="en-US" altLang="en-US" sz="2700" b="1" dirty="0">
              <a:latin typeface="바탕체" pitchFamily="17" charset="-127"/>
              <a:ea typeface="바탕체" pitchFamily="17" charset="-127"/>
            </a:endParaRPr>
          </a:p>
          <a:p>
            <a:pPr eaLnBrk="1" hangingPunct="1">
              <a:defRPr/>
            </a:pPr>
            <a:endParaRPr lang="ko-KR" altLang="en-US" sz="2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7" name="제목 3"/>
          <p:cNvSpPr>
            <a:spLocks noGrp="1" noChangeArrowheads="1"/>
          </p:cNvSpPr>
          <p:nvPr>
            <p:ph type="title"/>
          </p:nvPr>
        </p:nvSpPr>
        <p:spPr>
          <a:xfrm>
            <a:off x="457200" y="868363"/>
            <a:ext cx="8229600" cy="549275"/>
          </a:xfrm>
        </p:spPr>
        <p:txBody>
          <a:bodyPr/>
          <a:lstStyle/>
          <a:p>
            <a:pPr algn="l" eaLnBrk="1" hangingPunct="1"/>
            <a:r>
              <a:rPr lang="ko-KR" altLang="en-US" sz="2500"/>
              <a:t>제</a:t>
            </a:r>
            <a:r>
              <a:rPr lang="en-US" altLang="ko-KR" sz="2500"/>
              <a:t>1</a:t>
            </a:r>
            <a:r>
              <a:rPr lang="ko-KR" altLang="en-US" sz="2500"/>
              <a:t>절 국제수지의 구성</a:t>
            </a:r>
            <a:r>
              <a:rPr lang="en-US" altLang="ko-KR" sz="2500"/>
              <a:t>: </a:t>
            </a:r>
            <a:r>
              <a:rPr lang="ko-KR" altLang="en-US" sz="2500"/>
              <a:t>정의 및 특징</a:t>
            </a:r>
          </a:p>
        </p:txBody>
      </p:sp>
      <p:sp>
        <p:nvSpPr>
          <p:cNvPr id="6148" name="내용 개체 틀 4"/>
          <p:cNvSpPr>
            <a:spLocks noGrp="1" noChangeArrowheads="1"/>
          </p:cNvSpPr>
          <p:nvPr>
            <p:ph idx="1"/>
          </p:nvPr>
        </p:nvSpPr>
        <p:spPr>
          <a:xfrm>
            <a:off x="457200" y="1600200"/>
            <a:ext cx="8229600" cy="5141913"/>
          </a:xfrm>
        </p:spPr>
        <p:txBody>
          <a:bodyPr/>
          <a:lstStyle/>
          <a:p>
            <a:pPr eaLnBrk="1" hangingPunct="1">
              <a:lnSpc>
                <a:spcPct val="120000"/>
              </a:lnSpc>
              <a:buClr>
                <a:srgbClr val="FF9900"/>
              </a:buClr>
            </a:pPr>
            <a:r>
              <a:rPr lang="ko-KR" altLang="en-US" sz="1800">
                <a:latin typeface="바탕체" panose="02030609000101010101" pitchFamily="17" charset="-127"/>
                <a:ea typeface="바탕체" panose="02030609000101010101" pitchFamily="17" charset="-127"/>
              </a:rPr>
              <a:t>국제수지표의 정의</a:t>
            </a:r>
          </a:p>
          <a:p>
            <a:pPr eaLnBrk="1" hangingPunct="1">
              <a:lnSpc>
                <a:spcPct val="120000"/>
              </a:lnSpc>
              <a:buFont typeface="바탕체" panose="02030609000101010101" pitchFamily="17" charset="-127"/>
              <a:buChar char="—"/>
            </a:pPr>
            <a:r>
              <a:rPr lang="ko-KR" altLang="en-US" sz="1400">
                <a:latin typeface="바탕체" panose="02030609000101010101" pitchFamily="17" charset="-127"/>
                <a:ea typeface="바탕체" panose="02030609000101010101" pitchFamily="17" charset="-127"/>
              </a:rPr>
              <a:t>일정한 기간 동안 국내거주자와 외국거주자 사이에 발생한 모든 경제적 거래를 체계적으로 분류한 표</a:t>
            </a:r>
            <a:endParaRPr lang="en-US" altLang="ko-KR" sz="1400">
              <a:latin typeface="바탕체" panose="02030609000101010101" pitchFamily="17" charset="-127"/>
              <a:ea typeface="바탕체" panose="02030609000101010101" pitchFamily="17" charset="-127"/>
            </a:endParaRPr>
          </a:p>
          <a:p>
            <a:pPr eaLnBrk="1" hangingPunct="1">
              <a:lnSpc>
                <a:spcPct val="120000"/>
              </a:lnSpc>
              <a:buFont typeface="바탕체" panose="02030609000101010101" pitchFamily="17" charset="-127"/>
              <a:buChar char="—"/>
            </a:pPr>
            <a:r>
              <a:rPr lang="en-US" altLang="ko-KR" sz="1400"/>
              <a:t>Record of a country’s trade in goods, services, (in CA) and financial assets (in FA, financial account) with the rest of the world</a:t>
            </a:r>
          </a:p>
          <a:p>
            <a:pPr eaLnBrk="1" hangingPunct="1">
              <a:lnSpc>
                <a:spcPct val="120000"/>
              </a:lnSpc>
              <a:buFont typeface="바탕체" panose="02030609000101010101" pitchFamily="17" charset="-127"/>
              <a:buChar char="—"/>
            </a:pPr>
            <a:endParaRPr lang="ko-KR" altLang="en-US" sz="1100">
              <a:latin typeface="바탕체" panose="02030609000101010101" pitchFamily="17" charset="-127"/>
              <a:ea typeface="바탕체" panose="02030609000101010101" pitchFamily="17" charset="-127"/>
            </a:endParaRPr>
          </a:p>
          <a:p>
            <a:pPr eaLnBrk="1" hangingPunct="1">
              <a:lnSpc>
                <a:spcPct val="120000"/>
              </a:lnSpc>
              <a:buClr>
                <a:srgbClr val="FF9900"/>
              </a:buClr>
            </a:pPr>
            <a:r>
              <a:rPr lang="ko-KR" altLang="en-US" sz="1800">
                <a:latin typeface="바탕체" panose="02030609000101010101" pitchFamily="17" charset="-127"/>
                <a:ea typeface="바탕체" panose="02030609000101010101" pitchFamily="17" charset="-127"/>
              </a:rPr>
              <a:t>국제수지표의 특징</a:t>
            </a:r>
          </a:p>
          <a:p>
            <a:pPr eaLnBrk="1" hangingPunct="1">
              <a:lnSpc>
                <a:spcPct val="120000"/>
              </a:lnSpc>
              <a:buFont typeface="바탕체" panose="02030609000101010101" pitchFamily="17" charset="-127"/>
              <a:buChar char="—"/>
            </a:pPr>
            <a:r>
              <a:rPr lang="ko-KR" altLang="en-US" sz="1400">
                <a:latin typeface="바탕체" panose="02030609000101010101" pitchFamily="17" charset="-127"/>
                <a:ea typeface="바탕체" panose="02030609000101010101" pitchFamily="17" charset="-127"/>
              </a:rPr>
              <a:t>플로우</a:t>
            </a:r>
            <a:r>
              <a:rPr lang="en-US" altLang="ko-KR" sz="1400">
                <a:latin typeface="바탕체" panose="02030609000101010101" pitchFamily="17" charset="-127"/>
                <a:ea typeface="바탕체" panose="02030609000101010101" pitchFamily="17" charset="-127"/>
              </a:rPr>
              <a:t>(flow) </a:t>
            </a:r>
            <a:r>
              <a:rPr lang="ko-KR" altLang="en-US" sz="1400">
                <a:latin typeface="바탕체" panose="02030609000101010101" pitchFamily="17" charset="-127"/>
                <a:ea typeface="바탕체" panose="02030609000101010101" pitchFamily="17" charset="-127"/>
              </a:rPr>
              <a:t>개념</a:t>
            </a:r>
            <a:r>
              <a:rPr lang="en-US" altLang="ko-KR" sz="1400">
                <a:latin typeface="바탕체" panose="02030609000101010101" pitchFamily="17" charset="-127"/>
                <a:ea typeface="바탕체" panose="02030609000101010101" pitchFamily="17" charset="-127"/>
              </a:rPr>
              <a:t>:</a:t>
            </a:r>
            <a:r>
              <a:rPr lang="en-US" altLang="ko-KR" sz="1400"/>
              <a:t>stock means </a:t>
            </a:r>
            <a:r>
              <a:rPr lang="en-US" altLang="ko-KR" sz="1400" u="sng"/>
              <a:t>gross</a:t>
            </a:r>
            <a:r>
              <a:rPr lang="en-US" altLang="ko-KR" sz="1400"/>
              <a:t> (amount of purchase itself), while flow means </a:t>
            </a:r>
            <a:r>
              <a:rPr lang="en-US" altLang="ko-KR" sz="1400" u="sng"/>
              <a:t>net</a:t>
            </a:r>
            <a:r>
              <a:rPr lang="en-US" altLang="ko-KR" sz="1400"/>
              <a:t> (purchase minus sale). </a:t>
            </a:r>
          </a:p>
          <a:p>
            <a:pPr eaLnBrk="1" hangingPunct="1">
              <a:lnSpc>
                <a:spcPct val="120000"/>
              </a:lnSpc>
              <a:buFont typeface="바탕체" panose="02030609000101010101" pitchFamily="17" charset="-127"/>
              <a:buChar char="—"/>
            </a:pPr>
            <a:r>
              <a:rPr lang="en-US" altLang="ko-KR" sz="1400"/>
              <a:t>Examples of stocks: assets, debts, reserves; Examples of flows: export, import, account balances, changes in stocks.</a:t>
            </a:r>
            <a:endParaRPr lang="en-US" altLang="ko-KR" sz="1000">
              <a:latin typeface="바탕체" panose="02030609000101010101" pitchFamily="17" charset="-127"/>
              <a:ea typeface="바탕체" panose="02030609000101010101" pitchFamily="17" charset="-127"/>
            </a:endParaRPr>
          </a:p>
          <a:p>
            <a:pPr lvl="1" eaLnBrk="1" hangingPunct="1">
              <a:lnSpc>
                <a:spcPct val="120000"/>
              </a:lnSpc>
              <a:spcBef>
                <a:spcPts val="600"/>
              </a:spcBef>
              <a:buFont typeface="Arial" panose="020B0604020202020204" pitchFamily="34" charset="0"/>
              <a:buChar char="•"/>
            </a:pPr>
            <a:r>
              <a:rPr lang="ko-KR" altLang="en-US" sz="1400">
                <a:latin typeface="바탕체" panose="02030609000101010101" pitchFamily="17" charset="-127"/>
                <a:ea typeface="바탕체" panose="02030609000101010101" pitchFamily="17" charset="-127"/>
              </a:rPr>
              <a:t>참고</a:t>
            </a:r>
            <a:r>
              <a:rPr lang="en-US" altLang="ko-KR" sz="1400">
                <a:latin typeface="바탕체" panose="02030609000101010101" pitchFamily="17" charset="-127"/>
                <a:ea typeface="바탕체" panose="02030609000101010101" pitchFamily="17" charset="-127"/>
              </a:rPr>
              <a:t>: </a:t>
            </a:r>
            <a:r>
              <a:rPr lang="ko-KR" altLang="en-US" sz="1400">
                <a:latin typeface="바탕체" panose="02030609000101010101" pitchFamily="17" charset="-127"/>
                <a:ea typeface="바탕체" panose="02030609000101010101" pitchFamily="17" charset="-127"/>
              </a:rPr>
              <a:t>국제투자대조표</a:t>
            </a:r>
            <a:r>
              <a:rPr lang="en-US" altLang="ko-KR" sz="1400">
                <a:latin typeface="바탕체" panose="02030609000101010101" pitchFamily="17" charset="-127"/>
                <a:ea typeface="바탕체" panose="02030609000101010101" pitchFamily="17" charset="-127"/>
              </a:rPr>
              <a:t>(international investment position: IIP)</a:t>
            </a:r>
            <a:r>
              <a:rPr lang="ko-KR" altLang="en-US" sz="1400">
                <a:latin typeface="바탕체" panose="02030609000101010101" pitchFamily="17" charset="-127"/>
                <a:ea typeface="바탕체" panose="02030609000101010101" pitchFamily="17" charset="-127"/>
              </a:rPr>
              <a:t>는 일정한 시점에서 일국의 대외자산 및 부채를 기록한 스톡</a:t>
            </a:r>
            <a:r>
              <a:rPr lang="en-US" altLang="ko-KR" sz="1400">
                <a:latin typeface="바탕체" panose="02030609000101010101" pitchFamily="17" charset="-127"/>
                <a:ea typeface="바탕체" panose="02030609000101010101" pitchFamily="17" charset="-127"/>
              </a:rPr>
              <a:t>(stock)</a:t>
            </a:r>
            <a:r>
              <a:rPr lang="ko-KR" altLang="en-US" sz="1400">
                <a:latin typeface="바탕체" panose="02030609000101010101" pitchFamily="17" charset="-127"/>
                <a:ea typeface="바탕체" panose="02030609000101010101" pitchFamily="17" charset="-127"/>
              </a:rPr>
              <a:t>개념</a:t>
            </a:r>
          </a:p>
          <a:p>
            <a:pPr eaLnBrk="1" hangingPunct="1">
              <a:lnSpc>
                <a:spcPct val="120000"/>
              </a:lnSpc>
              <a:spcBef>
                <a:spcPts val="1200"/>
              </a:spcBef>
              <a:buFont typeface="바탕체" panose="02030609000101010101" pitchFamily="17" charset="-127"/>
              <a:buChar char="—"/>
            </a:pPr>
            <a:r>
              <a:rPr lang="ko-KR" altLang="en-US" sz="1400">
                <a:latin typeface="바탕체" panose="02030609000101010101" pitchFamily="17" charset="-127"/>
                <a:ea typeface="바탕체" panose="02030609000101010101" pitchFamily="17" charset="-127"/>
              </a:rPr>
              <a:t>지리적 거주지보다는 경제활동의 본거지가 중요</a:t>
            </a:r>
          </a:p>
          <a:p>
            <a:pPr eaLnBrk="1" hangingPunct="1">
              <a:lnSpc>
                <a:spcPct val="120000"/>
              </a:lnSpc>
              <a:buFont typeface="바탕체" panose="02030609000101010101" pitchFamily="17" charset="-127"/>
              <a:buChar char="—"/>
            </a:pPr>
            <a:r>
              <a:rPr lang="ko-KR" altLang="en-US" sz="1400">
                <a:latin typeface="바탕체" panose="02030609000101010101" pitchFamily="17" charset="-127"/>
                <a:ea typeface="바탕체" panose="02030609000101010101" pitchFamily="17" charset="-127"/>
              </a:rPr>
              <a:t>실물거래</a:t>
            </a:r>
            <a:r>
              <a:rPr lang="en-US" altLang="ko-KR" sz="1400">
                <a:latin typeface="바탕체" panose="02030609000101010101" pitchFamily="17" charset="-127"/>
                <a:ea typeface="바탕체" panose="02030609000101010101" pitchFamily="17" charset="-127"/>
              </a:rPr>
              <a:t>, </a:t>
            </a:r>
            <a:r>
              <a:rPr lang="ko-KR" altLang="en-US" sz="1400">
                <a:latin typeface="바탕체" panose="02030609000101010101" pitchFamily="17" charset="-127"/>
                <a:ea typeface="바탕체" panose="02030609000101010101" pitchFamily="17" charset="-127"/>
              </a:rPr>
              <a:t>금융거래 등 일체의 거래를 포함</a:t>
            </a:r>
            <a:endParaRPr lang="en-US" altLang="ko-KR" sz="1400">
              <a:latin typeface="바탕체" panose="02030609000101010101" pitchFamily="17" charset="-127"/>
              <a:ea typeface="바탕체" panose="02030609000101010101" pitchFamily="17" charset="-127"/>
            </a:endParaRPr>
          </a:p>
          <a:p>
            <a:pPr eaLnBrk="1" hangingPunct="1">
              <a:lnSpc>
                <a:spcPct val="120000"/>
              </a:lnSpc>
              <a:buFont typeface="바탕체" panose="02030609000101010101" pitchFamily="17" charset="-127"/>
              <a:buChar char="—"/>
            </a:pPr>
            <a:r>
              <a:rPr lang="ko-KR" altLang="en-US" sz="1400">
                <a:latin typeface="바탕체" panose="02030609000101010101" pitchFamily="17" charset="-127"/>
                <a:ea typeface="바탕체" panose="02030609000101010101" pitchFamily="17" charset="-127"/>
              </a:rPr>
              <a:t>복식부기</a:t>
            </a:r>
            <a:r>
              <a:rPr lang="en-US" altLang="ko-KR" sz="1400">
                <a:latin typeface="바탕체" panose="02030609000101010101" pitchFamily="17" charset="-127"/>
                <a:ea typeface="바탕체" panose="02030609000101010101" pitchFamily="17" charset="-127"/>
              </a:rPr>
              <a:t>(double sentry bookkeeping)</a:t>
            </a:r>
            <a:r>
              <a:rPr lang="ko-KR" altLang="en-US" sz="1400">
                <a:latin typeface="바탕체" panose="02030609000101010101" pitchFamily="17" charset="-127"/>
                <a:ea typeface="바탕체" panose="02030609000101010101" pitchFamily="17" charset="-127"/>
              </a:rPr>
              <a:t>의 원리에 따라 체계적으로 기록</a:t>
            </a:r>
          </a:p>
          <a:p>
            <a:pPr eaLnBrk="1" hangingPunct="1"/>
            <a:endParaRPr lang="ko-KR"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5" name="제목 3"/>
          <p:cNvSpPr>
            <a:spLocks noGrp="1" noChangeArrowheads="1"/>
          </p:cNvSpPr>
          <p:nvPr>
            <p:ph type="title"/>
          </p:nvPr>
        </p:nvSpPr>
        <p:spPr>
          <a:xfrm>
            <a:off x="457200" y="868363"/>
            <a:ext cx="8229600" cy="549275"/>
          </a:xfrm>
        </p:spPr>
        <p:txBody>
          <a:bodyPr/>
          <a:lstStyle/>
          <a:p>
            <a:pPr algn="l" eaLnBrk="1" hangingPunct="1"/>
            <a:r>
              <a:rPr lang="ko-KR" altLang="en-US" sz="2500"/>
              <a:t>제</a:t>
            </a:r>
            <a:r>
              <a:rPr lang="en-US" altLang="ko-KR" sz="2500"/>
              <a:t>1</a:t>
            </a:r>
            <a:r>
              <a:rPr lang="ko-KR" altLang="en-US" sz="2500"/>
              <a:t>절 국제수지의 구성</a:t>
            </a:r>
            <a:r>
              <a:rPr lang="en-US" altLang="ko-KR" sz="2500"/>
              <a:t>: </a:t>
            </a:r>
            <a:r>
              <a:rPr lang="ko-KR" altLang="en-US" sz="2500"/>
              <a:t>구성 항목</a:t>
            </a:r>
          </a:p>
        </p:txBody>
      </p:sp>
      <p:sp>
        <p:nvSpPr>
          <p:cNvPr id="8196" name="내용 개체 틀 4"/>
          <p:cNvSpPr>
            <a:spLocks noGrp="1" noChangeArrowheads="1"/>
          </p:cNvSpPr>
          <p:nvPr>
            <p:ph idx="1"/>
          </p:nvPr>
        </p:nvSpPr>
        <p:spPr>
          <a:xfrm>
            <a:off x="457200" y="1600200"/>
            <a:ext cx="8229600" cy="5068888"/>
          </a:xfrm>
        </p:spPr>
        <p:txBody>
          <a:bodyPr/>
          <a:lstStyle/>
          <a:p>
            <a:pPr eaLnBrk="1" hangingPunct="1">
              <a:spcBef>
                <a:spcPct val="30000"/>
              </a:spcBef>
              <a:buClr>
                <a:srgbClr val="FF9900"/>
              </a:buClr>
              <a:defRPr/>
            </a:pPr>
            <a:r>
              <a:rPr lang="ko-KR" altLang="en-US" sz="1700" dirty="0">
                <a:latin typeface="바탕체" panose="02030609000101010101" pitchFamily="17" charset="-127"/>
                <a:ea typeface="바탕체" panose="02030609000101010101" pitchFamily="17" charset="-127"/>
              </a:rPr>
              <a:t>국제수지표의 구성</a:t>
            </a:r>
          </a:p>
          <a:p>
            <a:pPr eaLnBrk="1" hangingPunct="1">
              <a:spcBef>
                <a:spcPts val="1200"/>
              </a:spcBef>
              <a:buFont typeface="바탕체" panose="02030609000101010101" pitchFamily="17" charset="-127"/>
              <a:buChar char="—"/>
              <a:defRPr/>
            </a:pPr>
            <a:r>
              <a:rPr lang="ko-KR" altLang="en-US" sz="1500" dirty="0">
                <a:latin typeface="바탕체" panose="02030609000101010101" pitchFamily="17" charset="-127"/>
                <a:ea typeface="바탕체" panose="02030609000101010101" pitchFamily="17" charset="-127"/>
              </a:rPr>
              <a:t>크게 경상계정</a:t>
            </a:r>
            <a:r>
              <a:rPr lang="en-US" altLang="ko-KR" sz="1500" dirty="0">
                <a:latin typeface="바탕체" panose="02030609000101010101" pitchFamily="17" charset="-127"/>
                <a:ea typeface="바탕체" panose="02030609000101010101" pitchFamily="17" charset="-127"/>
              </a:rPr>
              <a:t>(Current account), </a:t>
            </a:r>
            <a:r>
              <a:rPr lang="ko-KR" altLang="en-US" sz="1500" dirty="0">
                <a:latin typeface="바탕체" panose="02030609000101010101" pitchFamily="17" charset="-127"/>
                <a:ea typeface="바탕체" panose="02030609000101010101" pitchFamily="17" charset="-127"/>
              </a:rPr>
              <a:t>금융계정</a:t>
            </a:r>
            <a:r>
              <a:rPr lang="en-US" altLang="ko-KR" sz="1500" dirty="0">
                <a:latin typeface="바탕체" panose="02030609000101010101" pitchFamily="17" charset="-127"/>
                <a:ea typeface="바탕체" panose="02030609000101010101" pitchFamily="17" charset="-127"/>
              </a:rPr>
              <a:t>(Financial account), </a:t>
            </a:r>
            <a:r>
              <a:rPr lang="ko-KR" altLang="en-US" sz="1500" dirty="0">
                <a:latin typeface="바탕체" panose="02030609000101010101" pitchFamily="17" charset="-127"/>
                <a:ea typeface="바탕체" panose="02030609000101010101" pitchFamily="17" charset="-127"/>
              </a:rPr>
              <a:t>자본계정</a:t>
            </a:r>
            <a:r>
              <a:rPr lang="en-US" altLang="ko-KR" sz="1500" dirty="0">
                <a:latin typeface="바탕체" panose="02030609000101010101" pitchFamily="17" charset="-127"/>
                <a:ea typeface="바탕체" panose="02030609000101010101" pitchFamily="17" charset="-127"/>
              </a:rPr>
              <a:t>(Capital account)</a:t>
            </a:r>
            <a:r>
              <a:rPr lang="ko-KR" altLang="en-US" sz="1500" dirty="0">
                <a:latin typeface="바탕체" panose="02030609000101010101" pitchFamily="17" charset="-127"/>
                <a:ea typeface="바탕체" panose="02030609000101010101" pitchFamily="17" charset="-127"/>
              </a:rPr>
              <a:t>으로 분류</a:t>
            </a:r>
            <a:endParaRPr lang="en-US" altLang="ko-KR" sz="1500" dirty="0">
              <a:latin typeface="바탕체" panose="02030609000101010101" pitchFamily="17" charset="-127"/>
              <a:ea typeface="바탕체" panose="02030609000101010101" pitchFamily="17" charset="-127"/>
            </a:endParaRPr>
          </a:p>
          <a:p>
            <a:pPr lvl="1" eaLnBrk="1" hangingPunct="1">
              <a:spcBef>
                <a:spcPct val="30000"/>
              </a:spcBef>
              <a:buFont typeface="Arial" panose="020B0604020202020204" pitchFamily="34" charset="0"/>
              <a:buChar char="•"/>
              <a:defRPr/>
            </a:pPr>
            <a:r>
              <a:rPr lang="ko-KR" altLang="en-US" sz="1400" dirty="0">
                <a:latin typeface="바탕체" panose="02030609000101010101" pitchFamily="17" charset="-127"/>
                <a:ea typeface="바탕체" panose="02030609000101010101" pitchFamily="17" charset="-127"/>
              </a:rPr>
              <a:t>참고</a:t>
            </a:r>
            <a:r>
              <a:rPr lang="en-US" altLang="ko-KR" sz="1400" dirty="0">
                <a:latin typeface="바탕체" panose="02030609000101010101" pitchFamily="17" charset="-127"/>
                <a:ea typeface="바탕체" panose="02030609000101010101" pitchFamily="17" charset="-127"/>
              </a:rPr>
              <a:t>: 2010</a:t>
            </a:r>
            <a:r>
              <a:rPr lang="ko-KR" altLang="en-US" sz="1400" dirty="0">
                <a:latin typeface="바탕체" panose="02030609000101010101" pitchFamily="17" charset="-127"/>
                <a:ea typeface="바탕체" panose="02030609000101010101" pitchFamily="17" charset="-127"/>
              </a:rPr>
              <a:t>년 확정 공표한 새로운 국제수지통계 매뉴얼에 기초한 것임</a:t>
            </a:r>
            <a:r>
              <a:rPr lang="en-US" altLang="ko-KR" sz="1400" dirty="0">
                <a:latin typeface="바탕체" panose="02030609000101010101" pitchFamily="17" charset="-127"/>
                <a:ea typeface="바탕체" panose="02030609000101010101" pitchFamily="17" charset="-127"/>
              </a:rPr>
              <a:t>. </a:t>
            </a:r>
          </a:p>
          <a:p>
            <a:pPr marL="457200" lvl="1" indent="0" eaLnBrk="1" hangingPunct="1">
              <a:spcBef>
                <a:spcPct val="30000"/>
              </a:spcBef>
              <a:buFontTx/>
              <a:buNone/>
              <a:defRPr/>
            </a:pPr>
            <a:r>
              <a:rPr lang="en-US" altLang="ko-KR" sz="1400" dirty="0">
                <a:latin typeface="바탕체" panose="02030609000101010101" pitchFamily="17" charset="-127"/>
                <a:ea typeface="바탕체" panose="02030609000101010101" pitchFamily="17" charset="-127"/>
              </a:rPr>
              <a:t>   </a:t>
            </a:r>
            <a:r>
              <a:rPr lang="ko-KR" altLang="en-US" sz="1400" dirty="0">
                <a:latin typeface="바탕체" panose="02030609000101010101" pitchFamily="17" charset="-127"/>
                <a:ea typeface="바탕체" panose="02030609000101010101" pitchFamily="17" charset="-127"/>
              </a:rPr>
              <a:t>그 이전에는 자본계정이 현재의 금융계정 및 자본계정을 포괄</a:t>
            </a:r>
            <a:r>
              <a:rPr lang="en-US" altLang="ko-KR" sz="1400" dirty="0">
                <a:latin typeface="바탕체" panose="02030609000101010101" pitchFamily="17" charset="-127"/>
                <a:ea typeface="바탕체" panose="02030609000101010101" pitchFamily="17" charset="-127"/>
              </a:rPr>
              <a:t>.</a:t>
            </a:r>
            <a:endParaRPr lang="ko-KR" altLang="en-US" sz="1400" dirty="0">
              <a:latin typeface="바탕체" panose="02030609000101010101" pitchFamily="17" charset="-127"/>
              <a:ea typeface="바탕체" panose="02030609000101010101" pitchFamily="17" charset="-127"/>
            </a:endParaRPr>
          </a:p>
          <a:p>
            <a:pPr eaLnBrk="1" hangingPunct="1">
              <a:spcBef>
                <a:spcPct val="30000"/>
              </a:spcBef>
              <a:buClr>
                <a:srgbClr val="FF9900"/>
              </a:buClr>
              <a:defRPr/>
            </a:pPr>
            <a:endParaRPr lang="ko-KR" altLang="en-US" sz="2000" dirty="0">
              <a:latin typeface="바탕체" panose="02030609000101010101" pitchFamily="17" charset="-127"/>
              <a:ea typeface="바탕체" panose="02030609000101010101" pitchFamily="17" charset="-127"/>
            </a:endParaRPr>
          </a:p>
          <a:p>
            <a:pPr eaLnBrk="1" hangingPunct="1">
              <a:spcBef>
                <a:spcPct val="30000"/>
              </a:spcBef>
              <a:buClr>
                <a:srgbClr val="FF9900"/>
              </a:buClr>
              <a:buFont typeface="+mj-lt"/>
              <a:buAutoNum type="arabicParenR"/>
              <a:defRPr/>
            </a:pPr>
            <a:r>
              <a:rPr lang="ko-KR" altLang="en-US" sz="1600" dirty="0">
                <a:latin typeface="바탕체" panose="02030609000101010101" pitchFamily="17" charset="-127"/>
                <a:ea typeface="바탕체" panose="02030609000101010101" pitchFamily="17" charset="-127"/>
              </a:rPr>
              <a:t>경상계정</a:t>
            </a:r>
            <a:r>
              <a:rPr lang="en-US" altLang="ko-KR" sz="1600" dirty="0">
                <a:latin typeface="바탕체" panose="02030609000101010101" pitchFamily="17" charset="-127"/>
                <a:ea typeface="바탕체" panose="02030609000101010101" pitchFamily="17" charset="-127"/>
              </a:rPr>
              <a:t>(Current account): </a:t>
            </a:r>
            <a:r>
              <a:rPr lang="ko-KR" altLang="en-US" sz="1600" dirty="0">
                <a:latin typeface="바탕체" panose="02030609000101010101" pitchFamily="17" charset="-127"/>
                <a:ea typeface="바탕체" panose="02030609000101010101" pitchFamily="17" charset="-127"/>
              </a:rPr>
              <a:t>재화 및 용역 등 실물거래 기록</a:t>
            </a:r>
          </a:p>
          <a:p>
            <a:pPr eaLnBrk="1" hangingPunct="1">
              <a:spcBef>
                <a:spcPts val="1200"/>
              </a:spcBef>
              <a:buFont typeface="바탕체" panose="02030609000101010101" pitchFamily="17" charset="-127"/>
              <a:buChar char="—"/>
              <a:defRPr/>
            </a:pPr>
            <a:r>
              <a:rPr lang="ko-KR" altLang="en-US" sz="1400" dirty="0">
                <a:latin typeface="바탕체" panose="02030609000101010101" pitchFamily="17" charset="-127"/>
                <a:ea typeface="바탕체" panose="02030609000101010101" pitchFamily="17" charset="-127"/>
              </a:rPr>
              <a:t>상품수지</a:t>
            </a:r>
            <a:r>
              <a:rPr lang="en-US" altLang="ko-KR" sz="1400" dirty="0">
                <a:latin typeface="바탕체" panose="02030609000101010101" pitchFamily="17" charset="-127"/>
                <a:ea typeface="바탕체" panose="02030609000101010101" pitchFamily="17" charset="-127"/>
              </a:rPr>
              <a:t>(Trade balance): </a:t>
            </a:r>
            <a:r>
              <a:rPr lang="ko-KR" altLang="en-US" sz="1400" dirty="0">
                <a:latin typeface="바탕체" panose="02030609000101010101" pitchFamily="17" charset="-127"/>
                <a:ea typeface="바탕체" panose="02030609000101010101" pitchFamily="17" charset="-127"/>
              </a:rPr>
              <a:t>재화의 수출입</a:t>
            </a:r>
            <a:r>
              <a:rPr lang="en-US" altLang="ko-KR" sz="1400" dirty="0">
                <a:latin typeface="바탕체" panose="02030609000101010101" pitchFamily="17" charset="-127"/>
                <a:ea typeface="바탕체" panose="02030609000101010101" pitchFamily="17" charset="-127"/>
              </a:rPr>
              <a:t>, net trade in merchandise goods</a:t>
            </a:r>
            <a:endParaRPr lang="ko-KR" altLang="en-US" sz="1400" dirty="0">
              <a:latin typeface="바탕체" panose="02030609000101010101" pitchFamily="17" charset="-127"/>
              <a:ea typeface="바탕체" panose="02030609000101010101" pitchFamily="17" charset="-127"/>
            </a:endParaRPr>
          </a:p>
          <a:p>
            <a:pPr eaLnBrk="1" hangingPunct="1">
              <a:spcBef>
                <a:spcPct val="30000"/>
              </a:spcBef>
              <a:buFont typeface="바탕체" panose="02030609000101010101" pitchFamily="17" charset="-127"/>
              <a:buChar char="—"/>
              <a:defRPr/>
            </a:pPr>
            <a:r>
              <a:rPr lang="ko-KR" altLang="en-US" sz="1400" dirty="0">
                <a:latin typeface="바탕체" panose="02030609000101010101" pitchFamily="17" charset="-127"/>
                <a:ea typeface="바탕체" panose="02030609000101010101" pitchFamily="17" charset="-127"/>
              </a:rPr>
              <a:t>서비스수지</a:t>
            </a:r>
            <a:r>
              <a:rPr lang="en-US" altLang="ko-KR" sz="1400" dirty="0">
                <a:latin typeface="바탕체" panose="02030609000101010101" pitchFamily="17" charset="-127"/>
                <a:ea typeface="바탕체" panose="02030609000101010101" pitchFamily="17" charset="-127"/>
              </a:rPr>
              <a:t>(Balance on services): </a:t>
            </a:r>
            <a:r>
              <a:rPr lang="ko-KR" altLang="en-US" sz="1400" dirty="0">
                <a:latin typeface="바탕체" panose="02030609000101010101" pitchFamily="17" charset="-127"/>
                <a:ea typeface="바탕체" panose="02030609000101010101" pitchFamily="17" charset="-127"/>
              </a:rPr>
              <a:t>서비스의 수출입</a:t>
            </a:r>
            <a:r>
              <a:rPr lang="en-US" altLang="ko-KR" sz="1400" dirty="0">
                <a:latin typeface="바탕체" panose="02030609000101010101" pitchFamily="17" charset="-127"/>
                <a:ea typeface="바탕체" panose="02030609000101010101" pitchFamily="17" charset="-127"/>
              </a:rPr>
              <a:t>. </a:t>
            </a:r>
            <a:r>
              <a:rPr lang="ko-KR" altLang="en-US" sz="1400" dirty="0">
                <a:latin typeface="바탕체" panose="02030609000101010101" pitchFamily="17" charset="-127"/>
                <a:ea typeface="바탕체" panose="02030609000101010101" pitchFamily="17" charset="-127"/>
              </a:rPr>
              <a:t>운수</a:t>
            </a:r>
            <a:r>
              <a:rPr lang="en-US" altLang="ko-KR" sz="1400" dirty="0">
                <a:latin typeface="바탕체" panose="02030609000101010101" pitchFamily="17" charset="-127"/>
                <a:ea typeface="바탕체" panose="02030609000101010101" pitchFamily="17" charset="-127"/>
              </a:rPr>
              <a:t>, </a:t>
            </a:r>
            <a:r>
              <a:rPr lang="ko-KR" altLang="en-US" sz="1400" dirty="0">
                <a:latin typeface="바탕체" panose="02030609000101010101" pitchFamily="17" charset="-127"/>
                <a:ea typeface="바탕체" panose="02030609000101010101" pitchFamily="17" charset="-127"/>
              </a:rPr>
              <a:t>여행</a:t>
            </a:r>
            <a:r>
              <a:rPr lang="en-US" altLang="ko-KR" sz="1400" dirty="0">
                <a:latin typeface="바탕체" panose="02030609000101010101" pitchFamily="17" charset="-127"/>
                <a:ea typeface="바탕체" panose="02030609000101010101" pitchFamily="17" charset="-127"/>
              </a:rPr>
              <a:t>, </a:t>
            </a:r>
            <a:r>
              <a:rPr lang="ko-KR" altLang="en-US" sz="1400" dirty="0">
                <a:latin typeface="바탕체" panose="02030609000101010101" pitchFamily="17" charset="-127"/>
                <a:ea typeface="바탕체" panose="02030609000101010101" pitchFamily="17" charset="-127"/>
              </a:rPr>
              <a:t>로열티 등 포함</a:t>
            </a:r>
          </a:p>
          <a:p>
            <a:pPr eaLnBrk="1" hangingPunct="1">
              <a:spcBef>
                <a:spcPct val="30000"/>
              </a:spcBef>
              <a:buFont typeface="바탕체" panose="02030609000101010101" pitchFamily="17" charset="-127"/>
              <a:buChar char="—"/>
              <a:defRPr/>
            </a:pPr>
            <a:r>
              <a:rPr lang="ko-KR" altLang="en-US" sz="1400" dirty="0">
                <a:latin typeface="바탕체" panose="02030609000101010101" pitchFamily="17" charset="-127"/>
                <a:ea typeface="바탕체" panose="02030609000101010101" pitchFamily="17" charset="-127"/>
              </a:rPr>
              <a:t>본원소득수지</a:t>
            </a:r>
            <a:r>
              <a:rPr lang="en-US" altLang="ko-KR" sz="1400" dirty="0">
                <a:latin typeface="바탕체" panose="02030609000101010101" pitchFamily="17" charset="-127"/>
                <a:ea typeface="바탕체" panose="02030609000101010101" pitchFamily="17" charset="-127"/>
              </a:rPr>
              <a:t>(Balance on investment income or</a:t>
            </a:r>
            <a:r>
              <a:rPr lang="ko-KR" altLang="en-US" sz="1400" dirty="0">
                <a:latin typeface="바탕체" panose="02030609000101010101" pitchFamily="17" charset="-127"/>
                <a:ea typeface="바탕체" panose="02030609000101010101" pitchFamily="17" charset="-127"/>
              </a:rPr>
              <a:t> </a:t>
            </a:r>
            <a:r>
              <a:rPr lang="en-US" altLang="ko-KR" sz="1400" dirty="0">
                <a:latin typeface="바탕체" panose="02030609000101010101" pitchFamily="17" charset="-127"/>
                <a:ea typeface="바탕체" panose="02030609000101010101" pitchFamily="17" charset="-127"/>
              </a:rPr>
              <a:t>primary income): </a:t>
            </a:r>
            <a:r>
              <a:rPr lang="ko-KR" altLang="en-US" sz="1400" dirty="0">
                <a:latin typeface="바탕체" panose="02030609000101010101" pitchFamily="17" charset="-127"/>
                <a:ea typeface="바탕체" panose="02030609000101010101" pitchFamily="17" charset="-127"/>
              </a:rPr>
              <a:t>임금송금</a:t>
            </a:r>
            <a:r>
              <a:rPr lang="en-US" altLang="ko-KR" sz="1400" dirty="0">
                <a:latin typeface="바탕체" panose="02030609000101010101" pitchFamily="17" charset="-127"/>
                <a:ea typeface="바탕체" panose="02030609000101010101" pitchFamily="17" charset="-127"/>
              </a:rPr>
              <a:t>, </a:t>
            </a:r>
            <a:r>
              <a:rPr lang="ko-KR" altLang="en-US" sz="1400" dirty="0">
                <a:latin typeface="바탕체" panose="02030609000101010101" pitchFamily="17" charset="-127"/>
                <a:ea typeface="바탕체" panose="02030609000101010101" pitchFamily="17" charset="-127"/>
              </a:rPr>
              <a:t>배당 및 이자 등 </a:t>
            </a:r>
            <a:endParaRPr lang="en-US" altLang="ko-KR" sz="1400" dirty="0">
              <a:latin typeface="바탕체" panose="02030609000101010101" pitchFamily="17" charset="-127"/>
              <a:ea typeface="바탕체" panose="02030609000101010101" pitchFamily="17" charset="-127"/>
            </a:endParaRPr>
          </a:p>
          <a:p>
            <a:pPr marL="0" indent="0" eaLnBrk="1" hangingPunct="1">
              <a:spcBef>
                <a:spcPct val="30000"/>
              </a:spcBef>
              <a:buFontTx/>
              <a:buNone/>
              <a:defRPr/>
            </a:pPr>
            <a:r>
              <a:rPr lang="en-US" altLang="ko-KR" sz="1600" dirty="0">
                <a:latin typeface="바탕체" panose="02030609000101010101" pitchFamily="17" charset="-127"/>
                <a:ea typeface="바탕체" panose="02030609000101010101" pitchFamily="17" charset="-127"/>
              </a:rPr>
              <a:t>   ex)</a:t>
            </a:r>
            <a:r>
              <a:rPr lang="ko-KR" altLang="en-US" sz="1600" dirty="0">
                <a:latin typeface="바탕체" panose="02030609000101010101" pitchFamily="17" charset="-127"/>
                <a:ea typeface="바탕체" panose="02030609000101010101" pitchFamily="17" charset="-127"/>
              </a:rPr>
              <a:t> </a:t>
            </a:r>
            <a:r>
              <a:rPr lang="en-US" altLang="ko-KR" sz="1400" dirty="0">
                <a:latin typeface="바탕체" panose="02030609000101010101" pitchFamily="17" charset="-127"/>
                <a:ea typeface="바탕체" panose="02030609000101010101" pitchFamily="17" charset="-127"/>
              </a:rPr>
              <a:t>income receipts from Korea-owned assets abroad(including all factors of production)                         </a:t>
            </a:r>
          </a:p>
          <a:p>
            <a:pPr marL="0" indent="0" eaLnBrk="1" hangingPunct="1">
              <a:spcBef>
                <a:spcPct val="30000"/>
              </a:spcBef>
              <a:buFontTx/>
              <a:buNone/>
              <a:defRPr/>
            </a:pPr>
            <a:r>
              <a:rPr lang="en-US" altLang="ko-KR" sz="1400" dirty="0">
                <a:latin typeface="바탕체" panose="02030609000101010101" pitchFamily="17" charset="-127"/>
                <a:ea typeface="바탕체" panose="02030609000101010101" pitchFamily="17" charset="-127"/>
              </a:rPr>
              <a:t>       -income payment on foreign owned assets in Korea</a:t>
            </a:r>
            <a:endParaRPr lang="ko-KR" altLang="en-US" sz="1400" dirty="0">
              <a:latin typeface="바탕체" panose="02030609000101010101" pitchFamily="17" charset="-127"/>
              <a:ea typeface="바탕체" panose="02030609000101010101" pitchFamily="17" charset="-127"/>
            </a:endParaRPr>
          </a:p>
          <a:p>
            <a:pPr eaLnBrk="1" hangingPunct="1">
              <a:spcBef>
                <a:spcPts val="1200"/>
              </a:spcBef>
              <a:buFont typeface="바탕체" panose="02030609000101010101" pitchFamily="17" charset="-127"/>
              <a:buChar char="—"/>
              <a:defRPr/>
            </a:pPr>
            <a:r>
              <a:rPr lang="ko-KR" altLang="en-US" sz="1400" dirty="0">
                <a:latin typeface="바탕체" panose="02030609000101010101" pitchFamily="17" charset="-127"/>
                <a:ea typeface="바탕체" panose="02030609000101010101" pitchFamily="17" charset="-127"/>
              </a:rPr>
              <a:t>이전소득수지</a:t>
            </a:r>
            <a:r>
              <a:rPr lang="en-US" altLang="ko-KR" sz="1400" dirty="0">
                <a:latin typeface="바탕체" panose="02030609000101010101" pitchFamily="17" charset="-127"/>
                <a:ea typeface="바탕체" panose="02030609000101010101" pitchFamily="17" charset="-127"/>
              </a:rPr>
              <a:t>(Balance on net unilateral transfers or secondary income): </a:t>
            </a:r>
            <a:r>
              <a:rPr lang="ko-KR" altLang="en-US" sz="1400" dirty="0">
                <a:latin typeface="바탕체" panose="02030609000101010101" pitchFamily="17" charset="-127"/>
                <a:ea typeface="바탕체" panose="02030609000101010101" pitchFamily="17" charset="-127"/>
              </a:rPr>
              <a:t>아무런 대가 없이 제공되는 것으로 원조</a:t>
            </a:r>
            <a:r>
              <a:rPr lang="en-US" altLang="ko-KR" sz="1400" dirty="0">
                <a:latin typeface="바탕체" panose="02030609000101010101" pitchFamily="17" charset="-127"/>
                <a:ea typeface="바탕체" panose="02030609000101010101" pitchFamily="17" charset="-127"/>
              </a:rPr>
              <a:t>, </a:t>
            </a:r>
            <a:r>
              <a:rPr lang="ko-KR" altLang="en-US" sz="1400" dirty="0">
                <a:latin typeface="바탕체" panose="02030609000101010101" pitchFamily="17" charset="-127"/>
                <a:ea typeface="바탕체" panose="02030609000101010101" pitchFamily="17" charset="-127"/>
              </a:rPr>
              <a:t>국제기구출연금 등 포함</a:t>
            </a:r>
            <a:endParaRPr lang="ko-KR" alt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 name="내용 개체 틀 4"/>
          <p:cNvSpPr>
            <a:spLocks noGrp="1" noChangeArrowheads="1"/>
          </p:cNvSpPr>
          <p:nvPr>
            <p:ph idx="1"/>
          </p:nvPr>
        </p:nvSpPr>
        <p:spPr>
          <a:xfrm>
            <a:off x="455613" y="1125538"/>
            <a:ext cx="8229600" cy="5472112"/>
          </a:xfrm>
        </p:spPr>
        <p:txBody>
          <a:bodyPr/>
          <a:lstStyle/>
          <a:p>
            <a:pPr eaLnBrk="1" hangingPunct="1">
              <a:spcBef>
                <a:spcPct val="30000"/>
              </a:spcBef>
              <a:buClr>
                <a:srgbClr val="FF9900"/>
              </a:buClr>
              <a:buFont typeface="+mj-lt"/>
              <a:buAutoNum type="arabicParenR" startAt="2"/>
            </a:pPr>
            <a:r>
              <a:rPr lang="ko-KR" altLang="en-US" sz="1600" dirty="0">
                <a:latin typeface="바탕체" panose="02030609000101010101" pitchFamily="17" charset="-127"/>
                <a:ea typeface="바탕체" panose="02030609000101010101" pitchFamily="17" charset="-127"/>
              </a:rPr>
              <a:t>금융계정</a:t>
            </a:r>
            <a:r>
              <a:rPr lang="en-US" altLang="ko-KR" sz="1600" dirty="0">
                <a:latin typeface="바탕체" panose="02030609000101010101" pitchFamily="17" charset="-127"/>
                <a:ea typeface="바탕체" panose="02030609000101010101" pitchFamily="17" charset="-127"/>
              </a:rPr>
              <a:t>(Financial account): </a:t>
            </a:r>
            <a:r>
              <a:rPr lang="ko-KR" altLang="en-US" sz="1600" dirty="0">
                <a:latin typeface="바탕체" panose="02030609000101010101" pitchFamily="17" charset="-127"/>
                <a:ea typeface="바탕체" panose="02030609000101010101" pitchFamily="17" charset="-127"/>
              </a:rPr>
              <a:t>자산 및 부채의</a:t>
            </a:r>
            <a:r>
              <a:rPr lang="en-US" altLang="ko-KR" sz="1600" dirty="0">
                <a:latin typeface="바탕체" panose="02030609000101010101" pitchFamily="17" charset="-127"/>
                <a:ea typeface="바탕체" panose="02030609000101010101" pitchFamily="17" charset="-127"/>
              </a:rPr>
              <a:t> </a:t>
            </a:r>
            <a:r>
              <a:rPr lang="ko-KR" altLang="en-US" sz="1600" dirty="0">
                <a:latin typeface="바탕체" panose="02030609000101010101" pitchFamily="17" charset="-127"/>
                <a:ea typeface="바탕체" panose="02030609000101010101" pitchFamily="17" charset="-127"/>
              </a:rPr>
              <a:t>소유권 변동과 관련된 거래 </a:t>
            </a:r>
            <a:endParaRPr lang="en-US" altLang="ko-KR" sz="1600" dirty="0">
              <a:latin typeface="바탕체" panose="02030609000101010101" pitchFamily="17" charset="-127"/>
              <a:ea typeface="바탕체" panose="02030609000101010101" pitchFamily="17" charset="-127"/>
            </a:endParaRPr>
          </a:p>
          <a:p>
            <a:pPr eaLnBrk="1" hangingPunct="1">
              <a:spcBef>
                <a:spcPts val="2400"/>
              </a:spcBef>
              <a:buFont typeface="바탕체" panose="02030609000101010101" pitchFamily="17" charset="-127"/>
              <a:buChar char="—"/>
            </a:pPr>
            <a:r>
              <a:rPr lang="ko-KR" altLang="en-US" sz="1400" dirty="0">
                <a:latin typeface="바탕체" panose="02030609000101010101" pitchFamily="17" charset="-127"/>
                <a:ea typeface="바탕체" panose="02030609000101010101" pitchFamily="17" charset="-127"/>
              </a:rPr>
              <a:t>직접투자</a:t>
            </a:r>
            <a:r>
              <a:rPr lang="en-US" altLang="ko-KR" sz="1400" dirty="0">
                <a:latin typeface="바탕체" panose="02030609000101010101" pitchFamily="17" charset="-127"/>
                <a:ea typeface="바탕체" panose="02030609000101010101" pitchFamily="17" charset="-127"/>
              </a:rPr>
              <a:t>(direct investment): </a:t>
            </a:r>
            <a:r>
              <a:rPr lang="ko-KR" altLang="en-US" sz="1400" dirty="0">
                <a:latin typeface="바탕체" panose="02030609000101010101" pitchFamily="17" charset="-127"/>
                <a:ea typeface="바탕체" panose="02030609000101010101" pitchFamily="17" charset="-127"/>
              </a:rPr>
              <a:t>외국기업에 자금을 투입하여 경영에 참가하기 위해 행하는 투자</a:t>
            </a:r>
            <a:endParaRPr lang="en-US" altLang="ko-KR" sz="1400" dirty="0">
              <a:latin typeface="바탕체" panose="02030609000101010101" pitchFamily="17" charset="-127"/>
              <a:ea typeface="바탕체" panose="02030609000101010101" pitchFamily="17" charset="-127"/>
            </a:endParaRPr>
          </a:p>
          <a:p>
            <a:pPr eaLnBrk="1" hangingPunct="1">
              <a:spcBef>
                <a:spcPts val="1200"/>
              </a:spcBef>
              <a:spcAft>
                <a:spcPts val="1200"/>
              </a:spcAft>
              <a:buFont typeface="바탕체" panose="02030609000101010101" pitchFamily="17" charset="-127"/>
              <a:buChar char="—"/>
            </a:pPr>
            <a:r>
              <a:rPr lang="ko-KR" altLang="en-US" sz="1400" dirty="0">
                <a:latin typeface="바탕체" panose="02030609000101010101" pitchFamily="17" charset="-127"/>
                <a:ea typeface="바탕체" panose="02030609000101010101" pitchFamily="17" charset="-127"/>
              </a:rPr>
              <a:t>증권투자</a:t>
            </a:r>
            <a:r>
              <a:rPr lang="en-US" altLang="ko-KR" sz="1400" dirty="0">
                <a:latin typeface="바탕체" panose="02030609000101010101" pitchFamily="17" charset="-127"/>
                <a:ea typeface="바탕체" panose="02030609000101010101" pitchFamily="17" charset="-127"/>
              </a:rPr>
              <a:t>(portfolio investment): </a:t>
            </a:r>
            <a:r>
              <a:rPr lang="ko-KR" altLang="en-US" sz="1400" dirty="0">
                <a:latin typeface="바탕체" panose="02030609000101010101" pitchFamily="17" charset="-127"/>
                <a:ea typeface="바탕체" panose="02030609000101010101" pitchFamily="17" charset="-127"/>
              </a:rPr>
              <a:t>투자자본의 가치증가를 목적으로 한 투자로 주식과 채권으로 구분</a:t>
            </a:r>
            <a:endParaRPr lang="en-US" altLang="ko-KR" sz="1400" dirty="0">
              <a:latin typeface="바탕체" panose="02030609000101010101" pitchFamily="17" charset="-127"/>
              <a:ea typeface="바탕체" panose="02030609000101010101" pitchFamily="17" charset="-127"/>
            </a:endParaRPr>
          </a:p>
          <a:p>
            <a:pPr eaLnBrk="1" hangingPunct="1">
              <a:spcBef>
                <a:spcPct val="30000"/>
              </a:spcBef>
              <a:buFont typeface="바탕체" panose="02030609000101010101" pitchFamily="17" charset="-127"/>
              <a:buChar char="—"/>
            </a:pPr>
            <a:r>
              <a:rPr lang="ko-KR" altLang="en-US" sz="1400" dirty="0">
                <a:latin typeface="바탕체" panose="02030609000101010101" pitchFamily="17" charset="-127"/>
                <a:ea typeface="바탕체" panose="02030609000101010101" pitchFamily="17" charset="-127"/>
              </a:rPr>
              <a:t>파생금융상품</a:t>
            </a:r>
            <a:r>
              <a:rPr lang="en-US" altLang="ko-KR" sz="1400" dirty="0">
                <a:latin typeface="바탕체" panose="02030609000101010101" pitchFamily="17" charset="-127"/>
                <a:ea typeface="바탕체" panose="02030609000101010101" pitchFamily="17" charset="-127"/>
              </a:rPr>
              <a:t>(derivatives): </a:t>
            </a:r>
            <a:r>
              <a:rPr lang="ko-KR" altLang="en-US" sz="1400" dirty="0">
                <a:latin typeface="바탕체" panose="02030609000101010101" pitchFamily="17" charset="-127"/>
                <a:ea typeface="바탕체" panose="02030609000101010101" pitchFamily="17" charset="-127"/>
              </a:rPr>
              <a:t>파생금융상품거래를 기록</a:t>
            </a:r>
            <a:endParaRPr lang="en-US" altLang="ko-KR" sz="1400" dirty="0">
              <a:latin typeface="바탕체" panose="02030609000101010101" pitchFamily="17" charset="-127"/>
              <a:ea typeface="바탕체" panose="02030609000101010101" pitchFamily="17" charset="-127"/>
            </a:endParaRPr>
          </a:p>
          <a:p>
            <a:pPr eaLnBrk="1" hangingPunct="1">
              <a:spcBef>
                <a:spcPts val="1200"/>
              </a:spcBef>
              <a:spcAft>
                <a:spcPts val="1200"/>
              </a:spcAft>
              <a:buFont typeface="바탕체" panose="02030609000101010101" pitchFamily="17" charset="-127"/>
              <a:buChar char="—"/>
            </a:pPr>
            <a:r>
              <a:rPr lang="ko-KR" altLang="en-US" sz="1400" dirty="0">
                <a:latin typeface="바탕체" panose="02030609000101010101" pitchFamily="17" charset="-127"/>
                <a:ea typeface="바탕체" panose="02030609000101010101" pitchFamily="17" charset="-127"/>
              </a:rPr>
              <a:t>기타투자</a:t>
            </a:r>
            <a:r>
              <a:rPr lang="en-US" altLang="ko-KR" sz="1400" dirty="0">
                <a:latin typeface="바탕체" panose="02030609000101010101" pitchFamily="17" charset="-127"/>
                <a:ea typeface="바탕체" panose="02030609000101010101" pitchFamily="17" charset="-127"/>
              </a:rPr>
              <a:t>(other investment): </a:t>
            </a:r>
            <a:r>
              <a:rPr lang="ko-KR" altLang="en-US" sz="1400" dirty="0">
                <a:latin typeface="바탕체" panose="02030609000101010101" pitchFamily="17" charset="-127"/>
                <a:ea typeface="바탕체" panose="02030609000101010101" pitchFamily="17" charset="-127"/>
              </a:rPr>
              <a:t>대출</a:t>
            </a:r>
            <a:r>
              <a:rPr lang="en-US" altLang="ko-KR" sz="1400" dirty="0">
                <a:latin typeface="바탕체" panose="02030609000101010101" pitchFamily="17" charset="-127"/>
                <a:ea typeface="바탕체" panose="02030609000101010101" pitchFamily="17" charset="-127"/>
              </a:rPr>
              <a:t>, </a:t>
            </a:r>
            <a:r>
              <a:rPr lang="ko-KR" altLang="en-US" sz="1400" dirty="0">
                <a:latin typeface="바탕체" panose="02030609000101010101" pitchFamily="17" charset="-127"/>
                <a:ea typeface="바탕체" panose="02030609000101010101" pitchFamily="17" charset="-127"/>
              </a:rPr>
              <a:t>차입</a:t>
            </a:r>
            <a:r>
              <a:rPr lang="en-US" altLang="ko-KR" sz="1400" dirty="0">
                <a:latin typeface="바탕체" panose="02030609000101010101" pitchFamily="17" charset="-127"/>
                <a:ea typeface="바탕체" panose="02030609000101010101" pitchFamily="17" charset="-127"/>
              </a:rPr>
              <a:t>, </a:t>
            </a:r>
            <a:r>
              <a:rPr lang="ko-KR" altLang="en-US" sz="1400" dirty="0">
                <a:latin typeface="바탕체" panose="02030609000101010101" pitchFamily="17" charset="-127"/>
                <a:ea typeface="바탕체" panose="02030609000101010101" pitchFamily="17" charset="-127"/>
              </a:rPr>
              <a:t>무역신용</a:t>
            </a:r>
            <a:r>
              <a:rPr lang="en-US" altLang="ko-KR" sz="1400" dirty="0">
                <a:latin typeface="바탕체" panose="02030609000101010101" pitchFamily="17" charset="-127"/>
                <a:ea typeface="바탕체" panose="02030609000101010101" pitchFamily="17" charset="-127"/>
              </a:rPr>
              <a:t>, </a:t>
            </a:r>
            <a:r>
              <a:rPr lang="ko-KR" altLang="en-US" sz="1400" dirty="0">
                <a:latin typeface="바탕체" panose="02030609000101010101" pitchFamily="17" charset="-127"/>
                <a:ea typeface="바탕체" panose="02030609000101010101" pitchFamily="17" charset="-127"/>
              </a:rPr>
              <a:t>현금 및 예금 등의 금융거래</a:t>
            </a:r>
          </a:p>
          <a:p>
            <a:pPr eaLnBrk="1" hangingPunct="1">
              <a:spcBef>
                <a:spcPct val="30000"/>
              </a:spcBef>
              <a:buFont typeface="바탕체" panose="02030609000101010101" pitchFamily="17" charset="-127"/>
              <a:buChar char="—"/>
            </a:pPr>
            <a:r>
              <a:rPr lang="ko-KR" altLang="en-US" sz="1400" dirty="0" err="1">
                <a:latin typeface="바탕체" panose="02030609000101010101" pitchFamily="17" charset="-127"/>
                <a:ea typeface="바탕체" panose="02030609000101010101" pitchFamily="17" charset="-127"/>
              </a:rPr>
              <a:t>준비자산증감</a:t>
            </a:r>
            <a:r>
              <a:rPr lang="en-US" altLang="ko-KR" sz="1400" dirty="0">
                <a:latin typeface="바탕체" panose="02030609000101010101" pitchFamily="17" charset="-127"/>
                <a:ea typeface="바탕체" panose="02030609000101010101" pitchFamily="17" charset="-127"/>
              </a:rPr>
              <a:t>(changes in reserve assets): </a:t>
            </a:r>
            <a:r>
              <a:rPr lang="ko-KR" altLang="en-US" sz="1400" dirty="0">
                <a:latin typeface="바탕체" panose="02030609000101010101" pitchFamily="17" charset="-127"/>
                <a:ea typeface="바탕체" panose="02030609000101010101" pitchFamily="17" charset="-127"/>
              </a:rPr>
              <a:t>통화당국</a:t>
            </a:r>
            <a:r>
              <a:rPr lang="en-US" altLang="ko-KR" sz="1400" dirty="0">
                <a:latin typeface="바탕체" panose="02030609000101010101" pitchFamily="17" charset="-127"/>
                <a:ea typeface="바탕체" panose="02030609000101010101" pitchFamily="17" charset="-127"/>
              </a:rPr>
              <a:t>(</a:t>
            </a:r>
            <a:r>
              <a:rPr lang="ko-KR" altLang="en-US" sz="1400" dirty="0">
                <a:latin typeface="바탕체" panose="02030609000101010101" pitchFamily="17" charset="-127"/>
                <a:ea typeface="바탕체" panose="02030609000101010101" pitchFamily="17" charset="-127"/>
              </a:rPr>
              <a:t>중앙은행</a:t>
            </a:r>
            <a:r>
              <a:rPr lang="en-US" altLang="ko-KR" sz="1400" dirty="0">
                <a:latin typeface="바탕체" panose="02030609000101010101" pitchFamily="17" charset="-127"/>
                <a:ea typeface="바탕체" panose="02030609000101010101" pitchFamily="17" charset="-127"/>
              </a:rPr>
              <a:t>)</a:t>
            </a:r>
            <a:r>
              <a:rPr lang="ko-KR" altLang="en-US" sz="1400" dirty="0">
                <a:latin typeface="바탕체" panose="02030609000101010101" pitchFamily="17" charset="-127"/>
                <a:ea typeface="바탕체" panose="02030609000101010101" pitchFamily="17" charset="-127"/>
              </a:rPr>
              <a:t>이 일정시점에 있어서 </a:t>
            </a:r>
            <a:r>
              <a:rPr lang="ko-KR" altLang="en-US" sz="1400" dirty="0" err="1">
                <a:latin typeface="바탕체" panose="02030609000101010101" pitchFamily="17" charset="-127"/>
                <a:ea typeface="바탕체" panose="02030609000101010101" pitchFamily="17" charset="-127"/>
              </a:rPr>
              <a:t>국제유동성</a:t>
            </a:r>
            <a:r>
              <a:rPr lang="ko-KR" altLang="en-US" sz="1400" dirty="0">
                <a:latin typeface="바탕체" panose="02030609000101010101" pitchFamily="17" charset="-127"/>
                <a:ea typeface="바탕체" panose="02030609000101010101" pitchFamily="17" charset="-127"/>
              </a:rPr>
              <a:t> 수단으로 보유하고 있는 대외지급준비자산</a:t>
            </a:r>
            <a:r>
              <a:rPr lang="en-US" altLang="ko-KR" sz="1400" dirty="0">
                <a:latin typeface="바탕체" panose="02030609000101010101" pitchFamily="17" charset="-127"/>
                <a:ea typeface="바탕체" panose="02030609000101010101" pitchFamily="17" charset="-127"/>
              </a:rPr>
              <a:t>(international reserves: IR)</a:t>
            </a:r>
            <a:r>
              <a:rPr lang="ko-KR" altLang="en-US" sz="1400" dirty="0">
                <a:latin typeface="바탕체" panose="02030609000101010101" pitchFamily="17" charset="-127"/>
                <a:ea typeface="바탕체" panose="02030609000101010101" pitchFamily="17" charset="-127"/>
              </a:rPr>
              <a:t>의 증감을 말함</a:t>
            </a:r>
            <a:endParaRPr lang="en-US" altLang="ko-KR" sz="1400" dirty="0">
              <a:latin typeface="바탕체" panose="02030609000101010101" pitchFamily="17" charset="-127"/>
              <a:ea typeface="바탕체" panose="02030609000101010101" pitchFamily="17" charset="-127"/>
            </a:endParaRPr>
          </a:p>
          <a:p>
            <a:pPr lvl="1" eaLnBrk="1" hangingPunct="1">
              <a:spcBef>
                <a:spcPts val="1200"/>
              </a:spcBef>
              <a:buFont typeface="Arial" panose="020B0604020202020204" pitchFamily="34" charset="0"/>
              <a:buChar char="•"/>
            </a:pPr>
            <a:r>
              <a:rPr lang="ko-KR" altLang="en-US" sz="1400" dirty="0">
                <a:latin typeface="바탕체" panose="02030609000101010101" pitchFamily="17" charset="-127"/>
                <a:ea typeface="바탕체" panose="02030609000101010101" pitchFamily="17" charset="-127"/>
              </a:rPr>
              <a:t>대외지급준비자산에는 </a:t>
            </a:r>
            <a:r>
              <a:rPr lang="ko-KR" altLang="en-US" sz="1400" dirty="0" err="1">
                <a:latin typeface="바탕체" panose="02030609000101010101" pitchFamily="17" charset="-127"/>
                <a:ea typeface="바탕체" panose="02030609000101010101" pitchFamily="17" charset="-127"/>
              </a:rPr>
              <a:t>화폐용</a:t>
            </a:r>
            <a:r>
              <a:rPr lang="ko-KR" altLang="en-US" sz="1400" dirty="0">
                <a:latin typeface="바탕체" panose="02030609000101010101" pitchFamily="17" charset="-127"/>
                <a:ea typeface="바탕체" panose="02030609000101010101" pitchFamily="17" charset="-127"/>
              </a:rPr>
              <a:t> </a:t>
            </a:r>
            <a:r>
              <a:rPr lang="en-US" altLang="ko-KR" sz="1400" dirty="0">
                <a:latin typeface="바탕체" panose="02030609000101010101" pitchFamily="17" charset="-127"/>
                <a:ea typeface="바탕체" panose="02030609000101010101" pitchFamily="17" charset="-127"/>
              </a:rPr>
              <a:t>Gold, SDR, IMF</a:t>
            </a:r>
            <a:r>
              <a:rPr lang="ko-KR" altLang="en-US" sz="1400" dirty="0">
                <a:latin typeface="바탕체" panose="02030609000101010101" pitchFamily="17" charset="-127"/>
                <a:ea typeface="바탕체" panose="02030609000101010101" pitchFamily="17" charset="-127"/>
              </a:rPr>
              <a:t>포지션</a:t>
            </a:r>
            <a:r>
              <a:rPr lang="en-US" altLang="ko-KR" sz="1400" dirty="0">
                <a:latin typeface="바탕체" panose="02030609000101010101" pitchFamily="17" charset="-127"/>
                <a:ea typeface="바탕체" panose="02030609000101010101" pitchFamily="17" charset="-127"/>
              </a:rPr>
              <a:t>, </a:t>
            </a:r>
            <a:r>
              <a:rPr lang="ko-KR" altLang="en-US" sz="1400" dirty="0">
                <a:latin typeface="바탕체" panose="02030609000101010101" pitchFamily="17" charset="-127"/>
                <a:ea typeface="바탕체" panose="02030609000101010101" pitchFamily="17" charset="-127"/>
              </a:rPr>
              <a:t>외화자산 등이 포함</a:t>
            </a:r>
            <a:endParaRPr lang="en-US" altLang="ko-KR" sz="1400" dirty="0">
              <a:latin typeface="바탕체" panose="02030609000101010101" pitchFamily="17" charset="-127"/>
              <a:ea typeface="바탕체" panose="02030609000101010101" pitchFamily="17" charset="-127"/>
            </a:endParaRPr>
          </a:p>
          <a:p>
            <a:pPr lvl="1" eaLnBrk="1" hangingPunct="1">
              <a:spcBef>
                <a:spcPct val="30000"/>
              </a:spcBef>
              <a:buFont typeface="Arial" panose="020B0604020202020204" pitchFamily="34" charset="0"/>
              <a:buChar char="•"/>
            </a:pPr>
            <a:r>
              <a:rPr lang="ko-KR" altLang="en-US" sz="1400" dirty="0">
                <a:latin typeface="바탕체" panose="02030609000101010101" pitchFamily="17" charset="-127"/>
                <a:ea typeface="바탕체" panose="02030609000101010101" pitchFamily="17" charset="-127"/>
              </a:rPr>
              <a:t>국제수지의 불균형을 직접 보전하거나 외환시장개입을 통해 간접적으로 불균형을 조정하기 위해 사용함</a:t>
            </a:r>
            <a:endParaRPr lang="en-US" altLang="ko-KR" sz="1400" dirty="0">
              <a:latin typeface="바탕체" panose="02030609000101010101" pitchFamily="17" charset="-127"/>
              <a:ea typeface="바탕체" panose="02030609000101010101" pitchFamily="17" charset="-127"/>
            </a:endParaRPr>
          </a:p>
          <a:p>
            <a:pPr eaLnBrk="1" hangingPunct="1">
              <a:spcBef>
                <a:spcPts val="1800"/>
              </a:spcBef>
              <a:buFont typeface="바탕체" panose="02030609000101010101" pitchFamily="17" charset="-127"/>
              <a:buChar char="—"/>
            </a:pPr>
            <a:r>
              <a:rPr lang="ko-KR" altLang="en-US" sz="1400" dirty="0">
                <a:latin typeface="바탕체" panose="02030609000101010101" pitchFamily="17" charset="-127"/>
                <a:ea typeface="바탕체" panose="02030609000101010101" pitchFamily="17" charset="-127"/>
              </a:rPr>
              <a:t>오차 및 누락계정은 실제로 국제수지표를 작성하는데 있어서 통계상의 불일치를 조정해 주기 위해서 사후적으로 기장해주는 항목임</a:t>
            </a:r>
          </a:p>
          <a:p>
            <a:pPr eaLnBrk="1" hangingPunct="1">
              <a:spcBef>
                <a:spcPct val="30000"/>
              </a:spcBef>
              <a:buFont typeface="바탕체" panose="02030609000101010101" pitchFamily="17" charset="-127"/>
              <a:buChar char="—"/>
            </a:pPr>
            <a:endParaRPr lang="en-US" altLang="ko-KR" sz="1600" dirty="0">
              <a:latin typeface="바탕체" panose="02030609000101010101" pitchFamily="17" charset="-127"/>
              <a:ea typeface="바탕체" panose="02030609000101010101" pitchFamily="17" charset="-127"/>
            </a:endParaRPr>
          </a:p>
          <a:p>
            <a:pPr eaLnBrk="1" hangingPunct="1">
              <a:spcBef>
                <a:spcPct val="30000"/>
              </a:spcBef>
              <a:buFont typeface="바탕체" panose="02030609000101010101" pitchFamily="17" charset="-127"/>
              <a:buChar char="—"/>
            </a:pPr>
            <a:endParaRPr lang="ko-KR" altLang="en-US" sz="1500" dirty="0">
              <a:latin typeface="바탕체" panose="02030609000101010101" pitchFamily="17" charset="-127"/>
              <a:ea typeface="바탕체" panose="02030609000101010101" pitchFamily="17" charset="-127"/>
            </a:endParaRPr>
          </a:p>
          <a:p>
            <a:pPr eaLnBrk="1" hangingPunct="1">
              <a:spcBef>
                <a:spcPct val="30000"/>
              </a:spcBef>
              <a:buFont typeface="바탕체" panose="02030609000101010101" pitchFamily="17" charset="-127"/>
              <a:buChar char="—"/>
            </a:pPr>
            <a:endParaRPr lang="en-US" altLang="ko-KR" sz="2000" dirty="0">
              <a:latin typeface="바탕체" panose="02030609000101010101" pitchFamily="17" charset="-127"/>
              <a:ea typeface="바탕체" panose="02030609000101010101" pitchFamily="17" charset="-127"/>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내용 개체 틀 2"/>
          <p:cNvSpPr>
            <a:spLocks noGrp="1" noChangeArrowheads="1"/>
          </p:cNvSpPr>
          <p:nvPr>
            <p:ph idx="1"/>
          </p:nvPr>
        </p:nvSpPr>
        <p:spPr>
          <a:xfrm>
            <a:off x="457200" y="1125538"/>
            <a:ext cx="8229600" cy="5000625"/>
          </a:xfrm>
        </p:spPr>
        <p:txBody>
          <a:bodyPr/>
          <a:lstStyle/>
          <a:p>
            <a:pPr eaLnBrk="1" hangingPunct="1">
              <a:spcBef>
                <a:spcPct val="30000"/>
              </a:spcBef>
              <a:buClr>
                <a:srgbClr val="FF9900"/>
              </a:buClr>
              <a:buFont typeface="+mj-lt"/>
              <a:buAutoNum type="arabicParenR" startAt="3"/>
            </a:pPr>
            <a:r>
              <a:rPr lang="ko-KR" altLang="en-US" sz="1600" dirty="0">
                <a:latin typeface="바탕체" panose="02030609000101010101" pitchFamily="17" charset="-127"/>
                <a:ea typeface="바탕체" panose="02030609000101010101" pitchFamily="17" charset="-127"/>
              </a:rPr>
              <a:t>자본계정</a:t>
            </a:r>
            <a:r>
              <a:rPr lang="en-US" altLang="ko-KR" sz="1600" dirty="0">
                <a:latin typeface="바탕체" panose="02030609000101010101" pitchFamily="17" charset="-127"/>
                <a:ea typeface="바탕체" panose="02030609000101010101" pitchFamily="17" charset="-127"/>
              </a:rPr>
              <a:t>(Capital account): </a:t>
            </a:r>
            <a:r>
              <a:rPr lang="ko-KR" altLang="en-US" sz="1600" dirty="0">
                <a:latin typeface="바탕체" panose="02030609000101010101" pitchFamily="17" charset="-127"/>
                <a:ea typeface="바탕체" panose="02030609000101010101" pitchFamily="17" charset="-127"/>
              </a:rPr>
              <a:t>그 외 자산 및 부채의</a:t>
            </a:r>
            <a:r>
              <a:rPr lang="en-US" altLang="ko-KR" sz="1600" dirty="0">
                <a:latin typeface="바탕체" panose="02030609000101010101" pitchFamily="17" charset="-127"/>
                <a:ea typeface="바탕체" panose="02030609000101010101" pitchFamily="17" charset="-127"/>
              </a:rPr>
              <a:t> </a:t>
            </a:r>
            <a:r>
              <a:rPr lang="ko-KR" altLang="en-US" sz="1600" dirty="0">
                <a:latin typeface="바탕체" panose="02030609000101010101" pitchFamily="17" charset="-127"/>
                <a:ea typeface="바탕체" panose="02030609000101010101" pitchFamily="17" charset="-127"/>
              </a:rPr>
              <a:t>금융거래 기록</a:t>
            </a:r>
            <a:r>
              <a:rPr lang="en-US" altLang="ko-KR" sz="1600" dirty="0">
                <a:latin typeface="바탕체" panose="02030609000101010101" pitchFamily="17" charset="-127"/>
                <a:ea typeface="바탕체" panose="02030609000101010101" pitchFamily="17" charset="-127"/>
              </a:rPr>
              <a:t>, </a:t>
            </a:r>
          </a:p>
          <a:p>
            <a:pPr marL="0" indent="0" eaLnBrk="1" hangingPunct="1">
              <a:spcBef>
                <a:spcPct val="30000"/>
              </a:spcBef>
              <a:buClr>
                <a:srgbClr val="FF9900"/>
              </a:buClr>
              <a:buNone/>
            </a:pPr>
            <a:r>
              <a:rPr lang="en-US" altLang="ko-KR" sz="1600" dirty="0">
                <a:latin typeface="바탕체" panose="02030609000101010101" pitchFamily="17" charset="-127"/>
                <a:ea typeface="바탕체" panose="02030609000101010101" pitchFamily="17" charset="-127"/>
              </a:rPr>
              <a:t>    transactions of fixed or nonfinancial assets (very small)</a:t>
            </a:r>
            <a:endParaRPr lang="ko-KR" altLang="en-US" sz="1600" dirty="0">
              <a:latin typeface="바탕체" panose="02030609000101010101" pitchFamily="17" charset="-127"/>
              <a:ea typeface="바탕체" panose="02030609000101010101" pitchFamily="17" charset="-127"/>
            </a:endParaRPr>
          </a:p>
          <a:p>
            <a:pPr eaLnBrk="1" hangingPunct="1">
              <a:spcBef>
                <a:spcPts val="2400"/>
              </a:spcBef>
              <a:buFont typeface="바탕체" panose="02030609000101010101" pitchFamily="17" charset="-127"/>
              <a:buChar char="—"/>
            </a:pPr>
            <a:r>
              <a:rPr lang="ko-KR" altLang="en-US" sz="1500" dirty="0">
                <a:latin typeface="바탕체" panose="02030609000101010101" pitchFamily="17" charset="-127"/>
                <a:ea typeface="바탕체" panose="02030609000101010101" pitchFamily="17" charset="-127"/>
              </a:rPr>
              <a:t>국가 간 부의 이전을 초래하는 그 외의 다른 거래들이 포함됨</a:t>
            </a:r>
            <a:endParaRPr lang="en-US" altLang="ko-KR" sz="1500" dirty="0">
              <a:latin typeface="바탕체" panose="02030609000101010101" pitchFamily="17" charset="-127"/>
              <a:ea typeface="바탕체" panose="02030609000101010101" pitchFamily="17" charset="-127"/>
            </a:endParaRPr>
          </a:p>
          <a:p>
            <a:pPr eaLnBrk="1" hangingPunct="1">
              <a:spcBef>
                <a:spcPts val="1200"/>
              </a:spcBef>
              <a:buFont typeface="바탕체" panose="02030609000101010101" pitchFamily="17" charset="-127"/>
              <a:buChar char="—"/>
            </a:pPr>
            <a:r>
              <a:rPr lang="ko-KR" altLang="en-US" sz="1500" dirty="0">
                <a:latin typeface="바탕체" panose="02030609000101010101" pitchFamily="17" charset="-127"/>
                <a:ea typeface="바탕체" panose="02030609000101010101" pitchFamily="17" charset="-127"/>
              </a:rPr>
              <a:t>시장거래와 상관없는 자본이전으로 발생하거나 비생산자산</a:t>
            </a:r>
            <a:r>
              <a:rPr lang="en-US" altLang="ko-KR" sz="1500" dirty="0">
                <a:latin typeface="바탕체" panose="02030609000101010101" pitchFamily="17" charset="-127"/>
                <a:ea typeface="바탕체" panose="02030609000101010101" pitchFamily="17" charset="-127"/>
              </a:rPr>
              <a:t>, </a:t>
            </a:r>
            <a:r>
              <a:rPr lang="ko-KR" altLang="en-US" sz="1500" dirty="0">
                <a:latin typeface="바탕체" panose="02030609000101010101" pitchFamily="17" charset="-127"/>
                <a:ea typeface="바탕체" panose="02030609000101010101" pitchFamily="17" charset="-127"/>
              </a:rPr>
              <a:t>비금융자산 또는 무형자산의 취득 및 처분을 나타내는 거래가 대부분</a:t>
            </a:r>
            <a:endParaRPr lang="en-US" altLang="ko-KR" sz="1500" dirty="0">
              <a:latin typeface="바탕체" panose="02030609000101010101" pitchFamily="17" charset="-127"/>
              <a:ea typeface="바탕체" panose="02030609000101010101" pitchFamily="17" charset="-127"/>
            </a:endParaRPr>
          </a:p>
          <a:p>
            <a:pPr lvl="1" eaLnBrk="1" hangingPunct="1">
              <a:spcBef>
                <a:spcPts val="1800"/>
              </a:spcBef>
              <a:spcAft>
                <a:spcPts val="1200"/>
              </a:spcAft>
              <a:buFont typeface="Arial" panose="020B0604020202020204" pitchFamily="34" charset="0"/>
              <a:buChar char="•"/>
            </a:pPr>
            <a:r>
              <a:rPr lang="ko-KR" altLang="en-US" sz="1400" dirty="0">
                <a:latin typeface="바탕체" panose="02030609000101010101" pitchFamily="17" charset="-127"/>
                <a:ea typeface="바탕체" panose="02030609000101010101" pitchFamily="17" charset="-127"/>
              </a:rPr>
              <a:t>자본이전의 예</a:t>
            </a:r>
            <a:r>
              <a:rPr lang="en-US" altLang="ko-KR" sz="1400" dirty="0">
                <a:latin typeface="바탕체" panose="02030609000101010101" pitchFamily="17" charset="-127"/>
                <a:ea typeface="바탕체" panose="02030609000101010101" pitchFamily="17" charset="-127"/>
              </a:rPr>
              <a:t>: </a:t>
            </a:r>
            <a:r>
              <a:rPr lang="ko-KR" altLang="en-US" sz="1400" dirty="0">
                <a:latin typeface="바탕체" panose="02030609000101010101" pitchFamily="17" charset="-127"/>
                <a:ea typeface="바탕체" panose="02030609000101010101" pitchFamily="17" charset="-127"/>
              </a:rPr>
              <a:t>이민</a:t>
            </a:r>
            <a:r>
              <a:rPr lang="en-US" altLang="ko-KR" sz="1400" dirty="0">
                <a:latin typeface="바탕체" panose="02030609000101010101" pitchFamily="17" charset="-127"/>
                <a:ea typeface="바탕체" panose="02030609000101010101" pitchFamily="17" charset="-127"/>
              </a:rPr>
              <a:t>, </a:t>
            </a:r>
            <a:r>
              <a:rPr lang="ko-KR" altLang="en-US" sz="1400" dirty="0">
                <a:latin typeface="바탕체" panose="02030609000101010101" pitchFamily="17" charset="-127"/>
                <a:ea typeface="바탕체" panose="02030609000101010101" pitchFamily="17" charset="-127"/>
              </a:rPr>
              <a:t>투자보조금</a:t>
            </a:r>
            <a:r>
              <a:rPr lang="en-US" altLang="ko-KR" sz="1400" dirty="0">
                <a:latin typeface="바탕체" panose="02030609000101010101" pitchFamily="17" charset="-127"/>
                <a:ea typeface="바탕체" panose="02030609000101010101" pitchFamily="17" charset="-127"/>
              </a:rPr>
              <a:t>, </a:t>
            </a:r>
            <a:r>
              <a:rPr lang="ko-KR" altLang="en-US" sz="1400" dirty="0">
                <a:latin typeface="바탕체" panose="02030609000101010101" pitchFamily="17" charset="-127"/>
                <a:ea typeface="바탕체" panose="02030609000101010101" pitchFamily="17" charset="-127"/>
              </a:rPr>
              <a:t>채무면제 등</a:t>
            </a:r>
            <a:endParaRPr lang="en-US" altLang="ko-KR" sz="1400" dirty="0">
              <a:latin typeface="바탕체" panose="02030609000101010101" pitchFamily="17" charset="-127"/>
              <a:ea typeface="바탕체" panose="02030609000101010101" pitchFamily="17" charset="-127"/>
            </a:endParaRPr>
          </a:p>
          <a:p>
            <a:pPr lvl="1" eaLnBrk="1" hangingPunct="1">
              <a:spcBef>
                <a:spcPts val="600"/>
              </a:spcBef>
              <a:spcAft>
                <a:spcPts val="1200"/>
              </a:spcAft>
              <a:buFont typeface="Arial" panose="020B0604020202020204" pitchFamily="34" charset="0"/>
              <a:buChar char="•"/>
            </a:pPr>
            <a:r>
              <a:rPr lang="ko-KR" altLang="en-US" sz="1400" dirty="0">
                <a:latin typeface="바탕체" panose="02030609000101010101" pitchFamily="17" charset="-127"/>
                <a:ea typeface="바탕체" panose="02030609000101010101" pitchFamily="17" charset="-127"/>
              </a:rPr>
              <a:t>비생산자산 또는 비금융자산의 거래의 예</a:t>
            </a:r>
            <a:r>
              <a:rPr lang="en-US" altLang="ko-KR" sz="1400" dirty="0">
                <a:latin typeface="바탕체" panose="02030609000101010101" pitchFamily="17" charset="-127"/>
                <a:ea typeface="바탕체" panose="02030609000101010101" pitchFamily="17" charset="-127"/>
              </a:rPr>
              <a:t>: </a:t>
            </a:r>
            <a:r>
              <a:rPr lang="ko-KR" altLang="en-US" sz="1400" dirty="0">
                <a:latin typeface="바탕체" panose="02030609000101010101" pitchFamily="17" charset="-127"/>
                <a:ea typeface="바탕체" panose="02030609000101010101" pitchFamily="17" charset="-127"/>
              </a:rPr>
              <a:t>토지</a:t>
            </a:r>
            <a:r>
              <a:rPr lang="en-US" altLang="ko-KR" sz="1400" dirty="0">
                <a:latin typeface="바탕체" panose="02030609000101010101" pitchFamily="17" charset="-127"/>
                <a:ea typeface="바탕체" panose="02030609000101010101" pitchFamily="17" charset="-127"/>
              </a:rPr>
              <a:t>(</a:t>
            </a:r>
            <a:r>
              <a:rPr lang="ko-KR" altLang="en-US" sz="1400" dirty="0">
                <a:latin typeface="바탕체" panose="02030609000101010101" pitchFamily="17" charset="-127"/>
                <a:ea typeface="바탕체" panose="02030609000101010101" pitchFamily="17" charset="-127"/>
              </a:rPr>
              <a:t>외국대사관</a:t>
            </a:r>
            <a:r>
              <a:rPr lang="en-US" altLang="ko-KR" sz="1400" dirty="0">
                <a:latin typeface="바탕체" panose="02030609000101010101" pitchFamily="17" charset="-127"/>
                <a:ea typeface="바탕체" panose="02030609000101010101" pitchFamily="17" charset="-127"/>
              </a:rPr>
              <a:t>), </a:t>
            </a:r>
            <a:r>
              <a:rPr lang="ko-KR" altLang="en-US" sz="1400" dirty="0">
                <a:latin typeface="바탕체" panose="02030609000101010101" pitchFamily="17" charset="-127"/>
                <a:ea typeface="바탕체" panose="02030609000101010101" pitchFamily="17" charset="-127"/>
              </a:rPr>
              <a:t>지하자원 등의 거래</a:t>
            </a:r>
            <a:endParaRPr lang="en-US" altLang="ko-KR" sz="1400" dirty="0">
              <a:latin typeface="바탕체" panose="02030609000101010101" pitchFamily="17" charset="-127"/>
              <a:ea typeface="바탕체" panose="02030609000101010101" pitchFamily="17" charset="-127"/>
            </a:endParaRPr>
          </a:p>
          <a:p>
            <a:pPr eaLnBrk="1" hangingPunct="1"/>
            <a:endParaRPr lang="ko-KR"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제목 1"/>
          <p:cNvSpPr>
            <a:spLocks noGrp="1"/>
          </p:cNvSpPr>
          <p:nvPr>
            <p:ph idx="1"/>
          </p:nvPr>
        </p:nvSpPr>
        <p:spPr>
          <a:xfrm>
            <a:off x="457200" y="836613"/>
            <a:ext cx="8229600" cy="5289550"/>
          </a:xfrm>
        </p:spPr>
        <p:txBody>
          <a:bodyPr/>
          <a:lstStyle/>
          <a:p>
            <a:pPr eaLnBrk="1" hangingPunct="1">
              <a:spcBef>
                <a:spcPct val="30000"/>
              </a:spcBef>
              <a:buClr>
                <a:srgbClr val="FF9900"/>
              </a:buClr>
              <a:defRPr/>
            </a:pPr>
            <a:r>
              <a:rPr lang="ko-KR" altLang="en-US" sz="2000" dirty="0">
                <a:latin typeface="바탕체" panose="02030609000101010101" pitchFamily="17" charset="-127"/>
                <a:ea typeface="바탕체" panose="02030609000101010101" pitchFamily="17" charset="-127"/>
              </a:rPr>
              <a:t>우리나라의 국제수지표</a:t>
            </a:r>
            <a:endParaRPr lang="en-US" altLang="ko-KR" sz="2000" dirty="0">
              <a:latin typeface="바탕체" panose="02030609000101010101" pitchFamily="17" charset="-127"/>
              <a:ea typeface="바탕체" panose="02030609000101010101" pitchFamily="17" charset="-127"/>
            </a:endParaRPr>
          </a:p>
          <a:p>
            <a:pPr marL="0" indent="0" eaLnBrk="1" hangingPunct="1">
              <a:spcBef>
                <a:spcPct val="30000"/>
              </a:spcBef>
              <a:buClr>
                <a:srgbClr val="FF9900"/>
              </a:buClr>
              <a:buFontTx/>
              <a:buNone/>
              <a:defRPr/>
            </a:pPr>
            <a:endParaRPr lang="en-US" altLang="ko-KR" sz="2000" dirty="0">
              <a:latin typeface="바탕체" panose="02030609000101010101" pitchFamily="17" charset="-127"/>
              <a:ea typeface="바탕체" panose="02030609000101010101" pitchFamily="17" charset="-127"/>
            </a:endParaRPr>
          </a:p>
          <a:p>
            <a:pPr eaLnBrk="1" hangingPunct="1">
              <a:spcBef>
                <a:spcPct val="30000"/>
              </a:spcBef>
              <a:buFont typeface="바탕체" panose="02030609000101010101" pitchFamily="17" charset="-127"/>
              <a:buChar char="—"/>
              <a:defRPr/>
            </a:pPr>
            <a:r>
              <a:rPr lang="ko-KR" altLang="en-US" sz="1700" dirty="0">
                <a:latin typeface="바탕체" panose="02030609000101010101" pitchFamily="17" charset="-127"/>
                <a:ea typeface="바탕체" panose="02030609000101010101" pitchFamily="17" charset="-127"/>
              </a:rPr>
              <a:t>최근 매뉴얼 기준</a:t>
            </a:r>
            <a:endParaRPr lang="en-US" altLang="ko-KR" sz="1700" dirty="0">
              <a:latin typeface="바탕체" panose="02030609000101010101" pitchFamily="17" charset="-127"/>
              <a:ea typeface="바탕체" panose="02030609000101010101" pitchFamily="17" charset="-127"/>
            </a:endParaRPr>
          </a:p>
          <a:p>
            <a:pPr lvl="1" eaLnBrk="1" hangingPunct="1">
              <a:spcBef>
                <a:spcPts val="2400"/>
              </a:spcBef>
              <a:buFont typeface="Arial" panose="020B0604020202020204" pitchFamily="34" charset="0"/>
              <a:buChar char="•"/>
              <a:defRPr/>
            </a:pPr>
            <a:r>
              <a:rPr lang="ko-KR" altLang="en-US" sz="1600" dirty="0">
                <a:latin typeface="바탕체" panose="02030609000101010101" pitchFamily="17" charset="-127"/>
                <a:ea typeface="바탕체" panose="02030609000101010101" pitchFamily="17" charset="-127"/>
              </a:rPr>
              <a:t>새로운 매뉴얼에서는 </a:t>
            </a:r>
            <a:r>
              <a:rPr lang="ko-KR" altLang="en-US" sz="1600" b="1" dirty="0">
                <a:latin typeface="바탕체" panose="02030609000101010101" pitchFamily="17" charset="-127"/>
                <a:ea typeface="바탕체" panose="02030609000101010101" pitchFamily="17" charset="-127"/>
              </a:rPr>
              <a:t>금융계정</a:t>
            </a:r>
            <a:r>
              <a:rPr lang="ko-KR" altLang="en-US" sz="1600" dirty="0">
                <a:latin typeface="바탕체" panose="02030609000101010101" pitchFamily="17" charset="-127"/>
                <a:ea typeface="바탕체" panose="02030609000101010101" pitchFamily="17" charset="-127"/>
              </a:rPr>
              <a:t> 부호표기 방식을</a:t>
            </a:r>
            <a:r>
              <a:rPr lang="en-US" altLang="ko-KR" sz="1600" dirty="0">
                <a:latin typeface="바탕체" panose="02030609000101010101" pitchFamily="17" charset="-127"/>
                <a:ea typeface="바탕체" panose="02030609000101010101" pitchFamily="17" charset="-127"/>
              </a:rPr>
              <a:t>‘</a:t>
            </a:r>
            <a:r>
              <a:rPr lang="ko-KR" altLang="en-US" sz="1600" dirty="0">
                <a:latin typeface="바탕체" panose="02030609000101010101" pitchFamily="17" charset="-127"/>
                <a:ea typeface="바탕체" panose="02030609000101010101" pitchFamily="17" charset="-127"/>
              </a:rPr>
              <a:t>자산</a:t>
            </a:r>
            <a:r>
              <a:rPr lang="en-US" altLang="ko-KR" sz="1600" dirty="0">
                <a:latin typeface="바탕체" panose="02030609000101010101" pitchFamily="17" charset="-127"/>
                <a:ea typeface="바탕체" panose="02030609000101010101" pitchFamily="17" charset="-127"/>
              </a:rPr>
              <a:t>·</a:t>
            </a:r>
            <a:r>
              <a:rPr lang="ko-KR" altLang="en-US" sz="1600" dirty="0">
                <a:latin typeface="바탕체" panose="02030609000101010101" pitchFamily="17" charset="-127"/>
                <a:ea typeface="바탕체" panose="02030609000101010101" pitchFamily="17" charset="-127"/>
              </a:rPr>
              <a:t>부채의 증감 기준</a:t>
            </a:r>
            <a:r>
              <a:rPr lang="en-US" altLang="ko-KR" sz="1600" dirty="0">
                <a:latin typeface="바탕체" panose="02030609000101010101" pitchFamily="17" charset="-127"/>
                <a:ea typeface="바탕체" panose="02030609000101010101" pitchFamily="17" charset="-127"/>
              </a:rPr>
              <a:t>’</a:t>
            </a:r>
            <a:r>
              <a:rPr lang="ko-KR" altLang="en-US" sz="1600" dirty="0">
                <a:latin typeface="바탕체" panose="02030609000101010101" pitchFamily="17" charset="-127"/>
                <a:ea typeface="바탕체" panose="02030609000101010101" pitchFamily="17" charset="-127"/>
              </a:rPr>
              <a:t>으로 변경</a:t>
            </a:r>
            <a:endParaRPr lang="en-US" altLang="ko-KR" sz="1600" dirty="0">
              <a:latin typeface="바탕체" panose="02030609000101010101" pitchFamily="17" charset="-127"/>
              <a:ea typeface="바탕체" panose="02030609000101010101" pitchFamily="17" charset="-127"/>
            </a:endParaRPr>
          </a:p>
          <a:p>
            <a:pPr lvl="1" eaLnBrk="1" hangingPunct="1">
              <a:spcBef>
                <a:spcPct val="30000"/>
              </a:spcBef>
              <a:buFont typeface="Arial" panose="020B0604020202020204" pitchFamily="34" charset="0"/>
              <a:buChar char="•"/>
              <a:defRPr/>
            </a:pPr>
            <a:r>
              <a:rPr lang="ko-KR" altLang="en-US" sz="1600" dirty="0">
                <a:latin typeface="바탕체" panose="02030609000101010101" pitchFamily="17" charset="-127"/>
                <a:ea typeface="바탕체" panose="02030609000101010101" pitchFamily="17" charset="-127"/>
              </a:rPr>
              <a:t>이에 따라 금융계정 부채 항목의 부호는 종전과 동일하나 자산 항목의 부호는 반대 방향으로 바뀜</a:t>
            </a:r>
            <a:endParaRPr lang="en-US" altLang="ko-KR" sz="1600" dirty="0">
              <a:latin typeface="바탕체" panose="02030609000101010101" pitchFamily="17" charset="-127"/>
              <a:ea typeface="바탕체" panose="02030609000101010101" pitchFamily="17" charset="-127"/>
            </a:endParaRPr>
          </a:p>
          <a:p>
            <a:pPr lvl="1" eaLnBrk="1" hangingPunct="1">
              <a:spcBef>
                <a:spcPct val="30000"/>
              </a:spcBef>
              <a:buFont typeface="Arial" panose="020B0604020202020204" pitchFamily="34" charset="0"/>
              <a:buChar char="•"/>
              <a:defRPr/>
            </a:pPr>
            <a:r>
              <a:rPr lang="ko-KR" altLang="en-US" sz="1600" dirty="0">
                <a:latin typeface="바탕체" panose="02030609000101010101" pitchFamily="17" charset="-127"/>
                <a:ea typeface="바탕체" panose="02030609000101010101" pitchFamily="17" charset="-127"/>
              </a:rPr>
              <a:t>금융계정에는 증감만을 기록하므로 각 숫자가 </a:t>
            </a:r>
            <a:r>
              <a:rPr lang="ko-KR" altLang="en-US" sz="1600" b="1" dirty="0">
                <a:latin typeface="바탕체" panose="02030609000101010101" pitchFamily="17" charset="-127"/>
                <a:ea typeface="바탕체" panose="02030609000101010101" pitchFamily="17" charset="-127"/>
              </a:rPr>
              <a:t>이전과 반대 부호</a:t>
            </a:r>
            <a:r>
              <a:rPr lang="ko-KR" altLang="en-US" sz="1600" dirty="0">
                <a:latin typeface="바탕체" panose="02030609000101010101" pitchFamily="17" charset="-127"/>
                <a:ea typeface="바탕체" panose="02030609000101010101" pitchFamily="17" charset="-127"/>
              </a:rPr>
              <a:t>로 나타남</a:t>
            </a:r>
            <a:endParaRPr lang="en-US" altLang="ko-KR" sz="1600" dirty="0">
              <a:latin typeface="바탕체" panose="02030609000101010101" pitchFamily="17" charset="-127"/>
              <a:ea typeface="바탕체" panose="02030609000101010101" pitchFamily="17" charset="-127"/>
            </a:endParaRPr>
          </a:p>
          <a:p>
            <a:pPr lvl="1" eaLnBrk="1" hangingPunct="1">
              <a:spcBef>
                <a:spcPct val="30000"/>
              </a:spcBef>
              <a:buFont typeface="Arial" panose="020B0604020202020204" pitchFamily="34" charset="0"/>
              <a:buChar char="•"/>
              <a:defRPr/>
            </a:pPr>
            <a:endParaRPr lang="en-US" altLang="ko-KR" sz="1700" dirty="0">
              <a:latin typeface="바탕체" panose="02030609000101010101" pitchFamily="17" charset="-127"/>
              <a:ea typeface="바탕체" panose="02030609000101010101" pitchFamily="17" charset="-127"/>
            </a:endParaRPr>
          </a:p>
          <a:p>
            <a:pPr eaLnBrk="1" hangingPunct="1">
              <a:spcBef>
                <a:spcPct val="30000"/>
              </a:spcBef>
              <a:buFont typeface="바탕체" panose="02030609000101010101" pitchFamily="17" charset="-127"/>
              <a:buChar char="—"/>
              <a:defRPr/>
            </a:pPr>
            <a:r>
              <a:rPr lang="ko-KR" altLang="en-US" sz="1700" dirty="0">
                <a:latin typeface="바탕체" panose="02030609000101010101" pitchFamily="17" charset="-127"/>
                <a:ea typeface="바탕체" panose="02030609000101010101" pitchFamily="17" charset="-127"/>
              </a:rPr>
              <a:t>이전 매뉴얼 기준</a:t>
            </a:r>
            <a:endParaRPr lang="en-US" altLang="ko-KR" sz="1700" dirty="0">
              <a:latin typeface="바탕체" panose="02030609000101010101" pitchFamily="17" charset="-127"/>
              <a:ea typeface="바탕체" panose="02030609000101010101" pitchFamily="17" charset="-127"/>
            </a:endParaRPr>
          </a:p>
          <a:p>
            <a:pPr lvl="1" eaLnBrk="1" hangingPunct="1">
              <a:spcBef>
                <a:spcPts val="2400"/>
              </a:spcBef>
              <a:buFont typeface="Arial" panose="020B0604020202020204" pitchFamily="34" charset="0"/>
              <a:buChar char="•"/>
              <a:defRPr/>
            </a:pPr>
            <a:r>
              <a:rPr lang="ko-KR" altLang="en-US" sz="1600" dirty="0">
                <a:latin typeface="바탕체" panose="02030609000101010101" pitchFamily="17" charset="-127"/>
                <a:ea typeface="바탕체" panose="02030609000101010101" pitchFamily="17" charset="-127"/>
              </a:rPr>
              <a:t>이전 매뉴얼에서는 금융계정 부호표기 방식을</a:t>
            </a:r>
            <a:r>
              <a:rPr lang="en-US" altLang="ko-KR" sz="1600" dirty="0">
                <a:latin typeface="바탕체" panose="02030609000101010101" pitchFamily="17" charset="-127"/>
                <a:ea typeface="바탕체" panose="02030609000101010101" pitchFamily="17" charset="-127"/>
              </a:rPr>
              <a:t>‘</a:t>
            </a:r>
            <a:r>
              <a:rPr lang="ko-KR" altLang="en-US" sz="1600" dirty="0" err="1">
                <a:latin typeface="바탕체" panose="02030609000101010101" pitchFamily="17" charset="-127"/>
                <a:ea typeface="바탕체" panose="02030609000101010101" pitchFamily="17" charset="-127"/>
              </a:rPr>
              <a:t>순유출입액</a:t>
            </a:r>
            <a:r>
              <a:rPr lang="ko-KR" altLang="en-US" sz="1600" dirty="0">
                <a:latin typeface="바탕체" panose="02030609000101010101" pitchFamily="17" charset="-127"/>
                <a:ea typeface="바탕체" panose="02030609000101010101" pitchFamily="17" charset="-127"/>
              </a:rPr>
              <a:t> 기준</a:t>
            </a:r>
            <a:r>
              <a:rPr lang="en-US" altLang="ko-KR" sz="1600" dirty="0">
                <a:latin typeface="바탕체" panose="02030609000101010101" pitchFamily="17" charset="-127"/>
                <a:ea typeface="바탕체" panose="02030609000101010101" pitchFamily="17" charset="-127"/>
              </a:rPr>
              <a:t>’</a:t>
            </a:r>
            <a:r>
              <a:rPr lang="ko-KR" altLang="en-US" sz="1600" dirty="0">
                <a:latin typeface="바탕체" panose="02030609000101010101" pitchFamily="17" charset="-127"/>
                <a:ea typeface="바탕체" panose="02030609000101010101" pitchFamily="17" charset="-127"/>
              </a:rPr>
              <a:t>으로 함</a:t>
            </a:r>
            <a:endParaRPr lang="en-US" altLang="ko-KR" sz="1600" dirty="0">
              <a:latin typeface="바탕체" panose="02030609000101010101" pitchFamily="17" charset="-127"/>
              <a:ea typeface="바탕체" panose="02030609000101010101" pitchFamily="17" charset="-127"/>
            </a:endParaRPr>
          </a:p>
          <a:p>
            <a:pPr eaLnBrk="1" hangingPunct="1">
              <a:defRPr/>
            </a:pPr>
            <a:endParaRPr lang="ko-KR"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제목 1"/>
          <p:cNvSpPr>
            <a:spLocks noGrp="1" noChangeArrowheads="1"/>
          </p:cNvSpPr>
          <p:nvPr>
            <p:ph type="title"/>
          </p:nvPr>
        </p:nvSpPr>
        <p:spPr>
          <a:xfrm>
            <a:off x="620713" y="1012825"/>
            <a:ext cx="7886700" cy="668338"/>
          </a:xfrm>
        </p:spPr>
        <p:txBody>
          <a:bodyPr/>
          <a:lstStyle/>
          <a:p>
            <a:pPr eaLnBrk="1" hangingPunct="1"/>
            <a:r>
              <a:rPr lang="ko-KR" altLang="en-US" sz="3000">
                <a:solidFill>
                  <a:schemeClr val="tx1"/>
                </a:solidFill>
                <a:latin typeface="HY동녘B" pitchFamily="18" charset="-127"/>
                <a:ea typeface="HY동녘B" pitchFamily="18" charset="-127"/>
              </a:rPr>
              <a:t>우리나라의 국제수지표 </a:t>
            </a:r>
            <a:r>
              <a:rPr lang="en-US" altLang="ko-KR" sz="3000">
                <a:solidFill>
                  <a:schemeClr val="tx1"/>
                </a:solidFill>
                <a:latin typeface="HY동녘B" pitchFamily="18" charset="-127"/>
                <a:ea typeface="HY동녘B" pitchFamily="18" charset="-127"/>
              </a:rPr>
              <a:t>(2017</a:t>
            </a:r>
            <a:r>
              <a:rPr lang="ko-KR" altLang="en-US" sz="3000">
                <a:solidFill>
                  <a:schemeClr val="tx1"/>
                </a:solidFill>
                <a:latin typeface="HY동녘B" pitchFamily="18" charset="-127"/>
                <a:ea typeface="HY동녘B" pitchFamily="18" charset="-127"/>
              </a:rPr>
              <a:t>년</a:t>
            </a:r>
            <a:r>
              <a:rPr lang="en-US" altLang="ko-KR" sz="3000">
                <a:solidFill>
                  <a:schemeClr val="tx1"/>
                </a:solidFill>
                <a:latin typeface="HY동녘B" pitchFamily="18" charset="-127"/>
                <a:ea typeface="HY동녘B" pitchFamily="18" charset="-127"/>
              </a:rPr>
              <a:t>)</a:t>
            </a:r>
            <a:br>
              <a:rPr lang="en-US" altLang="ko-KR" b="1">
                <a:solidFill>
                  <a:srgbClr val="6666FF"/>
                </a:solidFill>
                <a:latin typeface="HY동녘B" pitchFamily="18" charset="-127"/>
                <a:ea typeface="HY동녘B" pitchFamily="18" charset="-127"/>
              </a:rPr>
            </a:br>
            <a:endParaRPr lang="ko-KR" altLang="en-US"/>
          </a:p>
        </p:txBody>
      </p:sp>
      <p:sp>
        <p:nvSpPr>
          <p:cNvPr id="12292" name="텍스트 개체 틀 2"/>
          <p:cNvSpPr>
            <a:spLocks noGrp="1" noChangeArrowheads="1"/>
          </p:cNvSpPr>
          <p:nvPr>
            <p:ph type="body" idx="1"/>
          </p:nvPr>
        </p:nvSpPr>
        <p:spPr>
          <a:xfrm>
            <a:off x="636588" y="1431925"/>
            <a:ext cx="3868737" cy="498475"/>
          </a:xfrm>
        </p:spPr>
        <p:txBody>
          <a:bodyPr/>
          <a:lstStyle/>
          <a:p>
            <a:pPr algn="ctr" eaLnBrk="1" hangingPunct="1"/>
            <a:r>
              <a:rPr lang="ko-KR" altLang="en-US" sz="2000"/>
              <a:t>최근 매뉴얼 기준</a:t>
            </a:r>
          </a:p>
        </p:txBody>
      </p:sp>
      <p:sp>
        <p:nvSpPr>
          <p:cNvPr id="12293" name="텍스트 개체 틀 5"/>
          <p:cNvSpPr>
            <a:spLocks noGrp="1" noChangeArrowheads="1"/>
          </p:cNvSpPr>
          <p:nvPr>
            <p:ph type="body" sz="quarter" idx="3"/>
          </p:nvPr>
        </p:nvSpPr>
        <p:spPr>
          <a:xfrm>
            <a:off x="4654550" y="1431925"/>
            <a:ext cx="3887788" cy="498475"/>
          </a:xfrm>
        </p:spPr>
        <p:txBody>
          <a:bodyPr/>
          <a:lstStyle/>
          <a:p>
            <a:pPr algn="ctr" eaLnBrk="1" hangingPunct="1"/>
            <a:r>
              <a:rPr lang="ko-KR" altLang="en-US" sz="2000"/>
              <a:t>이전 매뉴얼 기준</a:t>
            </a:r>
          </a:p>
        </p:txBody>
      </p:sp>
      <p:sp>
        <p:nvSpPr>
          <p:cNvPr id="12294" name="직사각형 9"/>
          <p:cNvSpPr>
            <a:spLocks noChangeArrowheads="1"/>
          </p:cNvSpPr>
          <p:nvPr/>
        </p:nvSpPr>
        <p:spPr bwMode="auto">
          <a:xfrm>
            <a:off x="612775" y="6508750"/>
            <a:ext cx="1787525"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algn="just" eaLnBrk="1" hangingPunct="1">
              <a:spcBef>
                <a:spcPct val="0"/>
              </a:spcBef>
              <a:buFontTx/>
              <a:buNone/>
            </a:pPr>
            <a:r>
              <a:rPr lang="ko-KR" altLang="en-US" sz="900">
                <a:solidFill>
                  <a:srgbClr val="000000"/>
                </a:solidFill>
                <a:latin typeface="맑은 고딕" panose="020B0503020000020004" pitchFamily="50" charset="-127"/>
                <a:ea typeface="맑은 고딕" panose="020B0503020000020004" pitchFamily="50" charset="-127"/>
              </a:rPr>
              <a:t>자료</a:t>
            </a:r>
            <a:r>
              <a:rPr lang="en-US" altLang="ko-KR" sz="900">
                <a:solidFill>
                  <a:srgbClr val="000000"/>
                </a:solidFill>
                <a:latin typeface="맑은 고딕" panose="020B0503020000020004" pitchFamily="50" charset="-127"/>
                <a:ea typeface="맑은 고딕" panose="020B0503020000020004" pitchFamily="50" charset="-127"/>
              </a:rPr>
              <a:t>: </a:t>
            </a:r>
            <a:r>
              <a:rPr lang="ko-KR" altLang="en-US" sz="900">
                <a:solidFill>
                  <a:srgbClr val="000000"/>
                </a:solidFill>
                <a:latin typeface="맑은 고딕" panose="020B0503020000020004" pitchFamily="50" charset="-127"/>
                <a:ea typeface="맑은 고딕" panose="020B0503020000020004" pitchFamily="50" charset="-127"/>
              </a:rPr>
              <a:t>한국은행 </a:t>
            </a:r>
            <a:r>
              <a:rPr lang="en-US" altLang="ko-KR" sz="900">
                <a:solidFill>
                  <a:srgbClr val="000000"/>
                </a:solidFill>
                <a:latin typeface="맑은 고딕" panose="020B0503020000020004" pitchFamily="50" charset="-127"/>
                <a:ea typeface="맑은 고딕" panose="020B0503020000020004" pitchFamily="50" charset="-127"/>
              </a:rPr>
              <a:t>(www.bok.or.kr)</a:t>
            </a:r>
            <a:endParaRPr lang="en-US" altLang="ko-KR" sz="900">
              <a:latin typeface="맑은 고딕" panose="020B0503020000020004" pitchFamily="50" charset="-127"/>
              <a:ea typeface="맑은 고딕" panose="020B0503020000020004" pitchFamily="50" charset="-127"/>
            </a:endParaRPr>
          </a:p>
        </p:txBody>
      </p:sp>
      <p:sp>
        <p:nvSpPr>
          <p:cNvPr id="12295" name="직사각형 11"/>
          <p:cNvSpPr>
            <a:spLocks noChangeArrowheads="1"/>
          </p:cNvSpPr>
          <p:nvPr/>
        </p:nvSpPr>
        <p:spPr bwMode="auto">
          <a:xfrm>
            <a:off x="7566025" y="1835150"/>
            <a:ext cx="94297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har char="•"/>
              <a:defRPr kumimoji="1" sz="32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buChar char="–"/>
              <a:defRPr kumimoji="1" sz="28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buChar char="•"/>
              <a:defRPr kumimoji="1" sz="24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buChar char="–"/>
              <a:defRPr kumimoji="1" sz="2000">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buChar char="»"/>
              <a:defRPr kumimoji="1" sz="20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2000">
                <a:solidFill>
                  <a:schemeClr val="tx1"/>
                </a:solidFill>
                <a:latin typeface="굴림" panose="020B0600000101010101" pitchFamily="50" charset="-127"/>
                <a:ea typeface="굴림" panose="020B0600000101010101" pitchFamily="50" charset="-127"/>
              </a:defRPr>
            </a:lvl9pPr>
          </a:lstStyle>
          <a:p>
            <a:pPr algn="just" eaLnBrk="1" hangingPunct="1">
              <a:spcBef>
                <a:spcPct val="0"/>
              </a:spcBef>
              <a:buFontTx/>
              <a:buNone/>
            </a:pPr>
            <a:r>
              <a:rPr lang="ko-KR" altLang="en-US" sz="900">
                <a:solidFill>
                  <a:srgbClr val="000000"/>
                </a:solidFill>
                <a:latin typeface="맑은 고딕" panose="020B0503020000020004" pitchFamily="50" charset="-127"/>
                <a:ea typeface="맑은 고딕" panose="020B0503020000020004" pitchFamily="50" charset="-127"/>
              </a:rPr>
              <a:t>단위</a:t>
            </a:r>
            <a:r>
              <a:rPr lang="en-US" altLang="ko-KR" sz="900">
                <a:solidFill>
                  <a:srgbClr val="000000"/>
                </a:solidFill>
                <a:latin typeface="맑은 고딕" panose="020B0503020000020004" pitchFamily="50" charset="-127"/>
                <a:ea typeface="맑은 고딕" panose="020B0503020000020004" pitchFamily="50" charset="-127"/>
              </a:rPr>
              <a:t>: </a:t>
            </a:r>
            <a:r>
              <a:rPr lang="ko-KR" altLang="en-US" sz="900">
                <a:solidFill>
                  <a:srgbClr val="000000"/>
                </a:solidFill>
                <a:latin typeface="맑은 고딕" panose="020B0503020000020004" pitchFamily="50" charset="-127"/>
                <a:ea typeface="맑은 고딕" panose="020B0503020000020004" pitchFamily="50" charset="-127"/>
              </a:rPr>
              <a:t>백만달러</a:t>
            </a:r>
            <a:endParaRPr lang="en-US" altLang="ko-KR" sz="900">
              <a:latin typeface="맑은 고딕" panose="020B0503020000020004" pitchFamily="50" charset="-127"/>
              <a:ea typeface="맑은 고딕" panose="020B0503020000020004" pitchFamily="50" charset="-127"/>
            </a:endParaRPr>
          </a:p>
        </p:txBody>
      </p:sp>
      <p:graphicFrame>
        <p:nvGraphicFramePr>
          <p:cNvPr id="11" name="표 11"/>
          <p:cNvGraphicFramePr>
            <a:graphicFrameLocks noGrp="1"/>
          </p:cNvGraphicFramePr>
          <p:nvPr>
            <p:ph sz="quarter" idx="4"/>
          </p:nvPr>
        </p:nvGraphicFramePr>
        <p:xfrm>
          <a:off x="4629150" y="2066925"/>
          <a:ext cx="3887788" cy="4391025"/>
        </p:xfrm>
        <a:graphic>
          <a:graphicData uri="http://schemas.openxmlformats.org/drawingml/2006/table">
            <a:tbl>
              <a:tblPr firstRow="1" bandRow="1">
                <a:tableStyleId>{5C22544A-7EE6-4342-B048-85BDC9FD1C3A}</a:tableStyleId>
              </a:tblPr>
              <a:tblGrid>
                <a:gridCol w="1943894">
                  <a:extLst>
                    <a:ext uri="{9D8B030D-6E8A-4147-A177-3AD203B41FA5}">
                      <a16:colId xmlns:a16="http://schemas.microsoft.com/office/drawing/2014/main" val="20000"/>
                    </a:ext>
                  </a:extLst>
                </a:gridCol>
                <a:gridCol w="1943894">
                  <a:extLst>
                    <a:ext uri="{9D8B030D-6E8A-4147-A177-3AD203B41FA5}">
                      <a16:colId xmlns:a16="http://schemas.microsoft.com/office/drawing/2014/main" val="20001"/>
                    </a:ext>
                  </a:extLst>
                </a:gridCol>
              </a:tblGrid>
              <a:tr h="412011">
                <a:tc>
                  <a:txBody>
                    <a:bodyPr/>
                    <a:lstStyle/>
                    <a:p>
                      <a:pPr algn="ctr" latinLnBrk="1"/>
                      <a:r>
                        <a:rPr lang="ko-KR" altLang="en-US" sz="1500" dirty="0">
                          <a:solidFill>
                            <a:schemeClr val="tx1"/>
                          </a:solidFill>
                        </a:rPr>
                        <a:t>항목</a:t>
                      </a:r>
                    </a:p>
                  </a:txBody>
                  <a:tcPr marT="45727" marB="4572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latinLnBrk="1"/>
                      <a:r>
                        <a:rPr lang="ko-KR" altLang="en-US" sz="1500" dirty="0">
                          <a:solidFill>
                            <a:schemeClr val="tx1"/>
                          </a:solidFill>
                        </a:rPr>
                        <a:t>금액</a:t>
                      </a:r>
                    </a:p>
                  </a:txBody>
                  <a:tcPr marT="45727" marB="4572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10000"/>
                  </a:ext>
                </a:extLst>
              </a:tr>
              <a:tr h="412011">
                <a:tc>
                  <a:txBody>
                    <a:bodyPr/>
                    <a:lstStyle/>
                    <a:p>
                      <a:pPr latinLnBrk="1"/>
                      <a:r>
                        <a:rPr lang="ko-KR" altLang="en-US" sz="1500" b="1" dirty="0"/>
                        <a:t>경상수지</a:t>
                      </a:r>
                    </a:p>
                  </a:txBody>
                  <a:tcPr marT="45727" marB="4572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latinLnBrk="1"/>
                      <a:r>
                        <a:rPr lang="en-US" altLang="ko-KR" sz="1500" dirty="0"/>
                        <a:t>78,460</a:t>
                      </a:r>
                      <a:endParaRPr lang="ko-KR" altLang="en-US" sz="1500" dirty="0"/>
                    </a:p>
                  </a:txBody>
                  <a:tcPr marT="45727" marB="4572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117511">
                <a:tc>
                  <a:txBody>
                    <a:bodyPr/>
                    <a:lstStyle/>
                    <a:p>
                      <a:pPr marL="342900" indent="-342900" latinLnBrk="1">
                        <a:buAutoNum type="arabicPeriod"/>
                      </a:pPr>
                      <a:r>
                        <a:rPr lang="ko-KR" altLang="en-US" sz="1500" dirty="0"/>
                        <a:t>상품수지</a:t>
                      </a:r>
                      <a:endParaRPr lang="en-US" altLang="ko-KR" sz="1500" dirty="0"/>
                    </a:p>
                    <a:p>
                      <a:pPr marL="342900" indent="-342900" latinLnBrk="1">
                        <a:buAutoNum type="arabicPeriod"/>
                      </a:pPr>
                      <a:r>
                        <a:rPr lang="ko-KR" altLang="en-US" sz="1500" dirty="0"/>
                        <a:t>서비스수지</a:t>
                      </a:r>
                      <a:endParaRPr lang="en-US" altLang="ko-KR" sz="1500" dirty="0"/>
                    </a:p>
                    <a:p>
                      <a:pPr marL="342900" indent="-342900" latinLnBrk="1">
                        <a:buAutoNum type="arabicPeriod"/>
                      </a:pPr>
                      <a:r>
                        <a:rPr lang="ko-KR" altLang="en-US" sz="1500" dirty="0"/>
                        <a:t>본원소득수지</a:t>
                      </a:r>
                      <a:endParaRPr lang="en-US" altLang="ko-KR" sz="1500" dirty="0"/>
                    </a:p>
                    <a:p>
                      <a:pPr marL="342900" indent="-342900" latinLnBrk="1">
                        <a:buAutoNum type="arabicPeriod"/>
                      </a:pPr>
                      <a:r>
                        <a:rPr lang="ko-KR" altLang="en-US" sz="1500" dirty="0"/>
                        <a:t>이전소득수지</a:t>
                      </a:r>
                    </a:p>
                  </a:txBody>
                  <a:tcPr marT="45727" marB="4572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latinLnBrk="1"/>
                      <a:r>
                        <a:rPr lang="en-US" altLang="ko-KR" sz="1500" dirty="0"/>
                        <a:t>119,889</a:t>
                      </a:r>
                    </a:p>
                    <a:p>
                      <a:pPr latinLnBrk="1"/>
                      <a:r>
                        <a:rPr lang="en-US" altLang="ko-KR" sz="1500" dirty="0"/>
                        <a:t>-34,472</a:t>
                      </a:r>
                    </a:p>
                    <a:p>
                      <a:pPr latinLnBrk="1"/>
                      <a:r>
                        <a:rPr lang="en-US" altLang="ko-KR" sz="1500" dirty="0"/>
                        <a:t>122</a:t>
                      </a:r>
                    </a:p>
                    <a:p>
                      <a:pPr latinLnBrk="1"/>
                      <a:r>
                        <a:rPr lang="en-US" altLang="ko-KR" sz="1500" dirty="0"/>
                        <a:t>-7,078</a:t>
                      </a:r>
                      <a:endParaRPr lang="ko-KR" altLang="en-US" sz="1500" dirty="0"/>
                    </a:p>
                  </a:txBody>
                  <a:tcPr marT="45727" marB="4572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12011">
                <a:tc>
                  <a:txBody>
                    <a:bodyPr/>
                    <a:lstStyle/>
                    <a:p>
                      <a:pPr latinLnBrk="1"/>
                      <a:r>
                        <a:rPr lang="ko-KR" altLang="en-US" sz="1500" b="1" dirty="0"/>
                        <a:t>자본수지</a:t>
                      </a:r>
                    </a:p>
                  </a:txBody>
                  <a:tcPr marT="45727" marB="4572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latinLnBrk="1"/>
                      <a:r>
                        <a:rPr lang="en-US" altLang="ko-KR" sz="1500" dirty="0"/>
                        <a:t>-31</a:t>
                      </a:r>
                      <a:endParaRPr lang="ko-KR" altLang="en-US" sz="1500" dirty="0"/>
                    </a:p>
                  </a:txBody>
                  <a:tcPr marT="45727" marB="4572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625470">
                <a:tc>
                  <a:txBody>
                    <a:bodyPr/>
                    <a:lstStyle/>
                    <a:p>
                      <a:pPr latinLnBrk="1"/>
                      <a:r>
                        <a:rPr lang="ko-KR" altLang="en-US" sz="1500" dirty="0"/>
                        <a:t>금융수지</a:t>
                      </a:r>
                      <a:endParaRPr lang="en-US" altLang="ko-KR" sz="1500" dirty="0"/>
                    </a:p>
                    <a:p>
                      <a:pPr marL="342900" indent="-342900" latinLnBrk="1">
                        <a:buAutoNum type="arabicPeriod"/>
                      </a:pPr>
                      <a:r>
                        <a:rPr lang="ko-KR" altLang="en-US" sz="1500" dirty="0"/>
                        <a:t>직접투자</a:t>
                      </a:r>
                      <a:endParaRPr lang="en-US" altLang="ko-KR" sz="1500" dirty="0"/>
                    </a:p>
                    <a:p>
                      <a:pPr marL="342900" indent="-342900" latinLnBrk="1">
                        <a:buAutoNum type="arabicPeriod"/>
                      </a:pPr>
                      <a:r>
                        <a:rPr lang="ko-KR" altLang="en-US" sz="1500" dirty="0"/>
                        <a:t>증권투자</a:t>
                      </a:r>
                      <a:endParaRPr lang="en-US" altLang="ko-KR" sz="1500" dirty="0"/>
                    </a:p>
                    <a:p>
                      <a:pPr marL="342900" indent="-342900" latinLnBrk="1">
                        <a:buAutoNum type="arabicPeriod"/>
                      </a:pPr>
                      <a:r>
                        <a:rPr lang="ko-KR" altLang="en-US" sz="1500" dirty="0"/>
                        <a:t>파생금융상품</a:t>
                      </a:r>
                      <a:endParaRPr lang="en-US" altLang="ko-KR" sz="1500" dirty="0"/>
                    </a:p>
                    <a:p>
                      <a:pPr marL="342900" indent="-342900" latinLnBrk="1">
                        <a:buAutoNum type="arabicPeriod"/>
                      </a:pPr>
                      <a:r>
                        <a:rPr lang="ko-KR" altLang="en-US" sz="1500" dirty="0"/>
                        <a:t>기타투자</a:t>
                      </a:r>
                      <a:endParaRPr lang="en-US" altLang="ko-KR" sz="1500" dirty="0"/>
                    </a:p>
                    <a:p>
                      <a:pPr marL="342900" indent="-342900" latinLnBrk="1">
                        <a:buAutoNum type="arabicPeriod"/>
                      </a:pPr>
                      <a:r>
                        <a:rPr lang="ko-KR" altLang="en-US" sz="1500" dirty="0"/>
                        <a:t>준비자산</a:t>
                      </a:r>
                    </a:p>
                  </a:txBody>
                  <a:tcPr marT="45727" marB="4572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latinLnBrk="1"/>
                      <a:r>
                        <a:rPr lang="en-US" altLang="ko-KR" sz="1500" dirty="0"/>
                        <a:t>-87,110</a:t>
                      </a:r>
                    </a:p>
                    <a:p>
                      <a:pPr latinLnBrk="1"/>
                      <a:r>
                        <a:rPr lang="en-US" altLang="ko-KR" sz="1500" dirty="0"/>
                        <a:t>-14,628</a:t>
                      </a:r>
                    </a:p>
                    <a:p>
                      <a:pPr latinLnBrk="1"/>
                      <a:r>
                        <a:rPr lang="en-US" altLang="ko-KR" sz="1500" dirty="0"/>
                        <a:t>-57,847</a:t>
                      </a:r>
                    </a:p>
                    <a:p>
                      <a:pPr latinLnBrk="1"/>
                      <a:r>
                        <a:rPr lang="en-US" altLang="ko-KR" sz="1500" dirty="0"/>
                        <a:t>8,253</a:t>
                      </a:r>
                    </a:p>
                    <a:p>
                      <a:pPr latinLnBrk="1"/>
                      <a:r>
                        <a:rPr lang="en-US" altLang="ko-KR" sz="1500" dirty="0"/>
                        <a:t>-18,523</a:t>
                      </a:r>
                    </a:p>
                    <a:p>
                      <a:pPr latinLnBrk="1"/>
                      <a:r>
                        <a:rPr lang="en-US" altLang="ko-KR" sz="1500" dirty="0"/>
                        <a:t>-4,360</a:t>
                      </a:r>
                      <a:endParaRPr lang="ko-KR" altLang="en-US" sz="1500" dirty="0"/>
                    </a:p>
                  </a:txBody>
                  <a:tcPr marT="45727" marB="4572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12011">
                <a:tc>
                  <a:txBody>
                    <a:bodyPr/>
                    <a:lstStyle/>
                    <a:p>
                      <a:pPr latinLnBrk="1"/>
                      <a:r>
                        <a:rPr lang="ko-KR" altLang="en-US" sz="1500" b="1" dirty="0"/>
                        <a:t>오차 및 누락</a:t>
                      </a:r>
                    </a:p>
                  </a:txBody>
                  <a:tcPr marT="45727" marB="4572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latinLnBrk="1"/>
                      <a:r>
                        <a:rPr lang="en-US" altLang="ko-KR" sz="1500" dirty="0"/>
                        <a:t>8,672</a:t>
                      </a:r>
                      <a:endParaRPr lang="ko-KR" altLang="en-US" sz="1500" dirty="0"/>
                    </a:p>
                  </a:txBody>
                  <a:tcPr marT="45727" marB="4572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aphicFrame>
        <p:nvGraphicFramePr>
          <p:cNvPr id="14" name="표 14"/>
          <p:cNvGraphicFramePr>
            <a:graphicFrameLocks noGrp="1"/>
          </p:cNvGraphicFramePr>
          <p:nvPr>
            <p:ph sz="half" idx="2"/>
          </p:nvPr>
        </p:nvGraphicFramePr>
        <p:xfrm>
          <a:off x="630238" y="2066925"/>
          <a:ext cx="3868738" cy="4391025"/>
        </p:xfrm>
        <a:graphic>
          <a:graphicData uri="http://schemas.openxmlformats.org/drawingml/2006/table">
            <a:tbl>
              <a:tblPr firstRow="1" bandRow="1">
                <a:tableStyleId>{5C22544A-7EE6-4342-B048-85BDC9FD1C3A}</a:tableStyleId>
              </a:tblPr>
              <a:tblGrid>
                <a:gridCol w="1934369">
                  <a:extLst>
                    <a:ext uri="{9D8B030D-6E8A-4147-A177-3AD203B41FA5}">
                      <a16:colId xmlns:a16="http://schemas.microsoft.com/office/drawing/2014/main" val="20000"/>
                    </a:ext>
                  </a:extLst>
                </a:gridCol>
                <a:gridCol w="1934369">
                  <a:extLst>
                    <a:ext uri="{9D8B030D-6E8A-4147-A177-3AD203B41FA5}">
                      <a16:colId xmlns:a16="http://schemas.microsoft.com/office/drawing/2014/main" val="20001"/>
                    </a:ext>
                  </a:extLst>
                </a:gridCol>
              </a:tblGrid>
              <a:tr h="412011">
                <a:tc>
                  <a:txBody>
                    <a:bodyPr/>
                    <a:lstStyle/>
                    <a:p>
                      <a:pPr algn="ctr" latinLnBrk="1"/>
                      <a:r>
                        <a:rPr lang="ko-KR" altLang="en-US" sz="1500" dirty="0">
                          <a:solidFill>
                            <a:schemeClr val="tx1"/>
                          </a:solidFill>
                        </a:rPr>
                        <a:t>항목</a:t>
                      </a:r>
                    </a:p>
                  </a:txBody>
                  <a:tcPr marT="45727" marB="4572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latinLnBrk="1"/>
                      <a:r>
                        <a:rPr lang="ko-KR" altLang="en-US" sz="1500" dirty="0">
                          <a:solidFill>
                            <a:schemeClr val="tx1"/>
                          </a:solidFill>
                        </a:rPr>
                        <a:t>금액</a:t>
                      </a:r>
                    </a:p>
                  </a:txBody>
                  <a:tcPr marT="45727" marB="4572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10000"/>
                  </a:ext>
                </a:extLst>
              </a:tr>
              <a:tr h="412011">
                <a:tc>
                  <a:txBody>
                    <a:bodyPr/>
                    <a:lstStyle/>
                    <a:p>
                      <a:pPr algn="l" latinLnBrk="1"/>
                      <a:r>
                        <a:rPr lang="ko-KR" altLang="en-US" sz="1500" b="1" dirty="0"/>
                        <a:t>경상수지</a:t>
                      </a:r>
                    </a:p>
                  </a:txBody>
                  <a:tcPr marT="45727" marB="4572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latinLnBrk="1"/>
                      <a:r>
                        <a:rPr lang="en-US" altLang="ko-KR" sz="1500" dirty="0"/>
                        <a:t>78,460</a:t>
                      </a:r>
                      <a:endParaRPr lang="ko-KR" altLang="en-US" sz="1500" dirty="0"/>
                    </a:p>
                  </a:txBody>
                  <a:tcPr marT="45727" marB="4572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117511">
                <a:tc>
                  <a:txBody>
                    <a:bodyPr/>
                    <a:lstStyle/>
                    <a:p>
                      <a:pPr marL="342900" indent="-342900" algn="l" latinLnBrk="1">
                        <a:buAutoNum type="arabicPeriod"/>
                      </a:pPr>
                      <a:r>
                        <a:rPr lang="ko-KR" altLang="en-US" sz="1500" dirty="0"/>
                        <a:t>상품수지</a:t>
                      </a:r>
                      <a:endParaRPr lang="en-US" altLang="ko-KR" sz="1500" dirty="0"/>
                    </a:p>
                    <a:p>
                      <a:pPr marL="342900" indent="-342900" algn="l" latinLnBrk="1">
                        <a:buAutoNum type="arabicPeriod"/>
                      </a:pPr>
                      <a:r>
                        <a:rPr lang="ko-KR" altLang="en-US" sz="1500" dirty="0"/>
                        <a:t>서비스수지</a:t>
                      </a:r>
                      <a:endParaRPr lang="en-US" altLang="ko-KR" sz="1500" dirty="0"/>
                    </a:p>
                    <a:p>
                      <a:pPr marL="342900" indent="-342900" algn="l" latinLnBrk="1">
                        <a:buAutoNum type="arabicPeriod"/>
                      </a:pPr>
                      <a:r>
                        <a:rPr lang="ko-KR" altLang="en-US" sz="1500" dirty="0"/>
                        <a:t>본원소득수지</a:t>
                      </a:r>
                      <a:endParaRPr lang="en-US" altLang="ko-KR" sz="1500" dirty="0"/>
                    </a:p>
                    <a:p>
                      <a:pPr marL="342900" indent="-342900" algn="l" latinLnBrk="1">
                        <a:buAutoNum type="arabicPeriod"/>
                      </a:pPr>
                      <a:r>
                        <a:rPr lang="ko-KR" altLang="en-US" sz="1500" dirty="0"/>
                        <a:t>이전소득수지</a:t>
                      </a:r>
                    </a:p>
                  </a:txBody>
                  <a:tcPr marT="45727" marB="4572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latinLnBrk="1"/>
                      <a:r>
                        <a:rPr lang="en-US" altLang="ko-KR" sz="1500" dirty="0"/>
                        <a:t>119,889</a:t>
                      </a:r>
                    </a:p>
                    <a:p>
                      <a:pPr algn="l" latinLnBrk="1"/>
                      <a:r>
                        <a:rPr lang="en-US" altLang="ko-KR" sz="1500" dirty="0"/>
                        <a:t>-34,472</a:t>
                      </a:r>
                    </a:p>
                    <a:p>
                      <a:pPr algn="l" latinLnBrk="1"/>
                      <a:r>
                        <a:rPr lang="en-US" altLang="ko-KR" sz="1500" dirty="0"/>
                        <a:t>122</a:t>
                      </a:r>
                    </a:p>
                    <a:p>
                      <a:pPr algn="l" latinLnBrk="1"/>
                      <a:r>
                        <a:rPr lang="en-US" altLang="ko-KR" sz="1500" dirty="0"/>
                        <a:t>-7,078</a:t>
                      </a:r>
                      <a:endParaRPr lang="ko-KR" altLang="en-US" sz="1500" dirty="0"/>
                    </a:p>
                  </a:txBody>
                  <a:tcPr marT="45727" marB="4572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12011">
                <a:tc>
                  <a:txBody>
                    <a:bodyPr/>
                    <a:lstStyle/>
                    <a:p>
                      <a:pPr algn="l" latinLnBrk="1"/>
                      <a:r>
                        <a:rPr lang="ko-KR" altLang="en-US" sz="1500" b="1" dirty="0"/>
                        <a:t>자본수지</a:t>
                      </a:r>
                    </a:p>
                  </a:txBody>
                  <a:tcPr marT="45727" marB="4572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latinLnBrk="1"/>
                      <a:r>
                        <a:rPr lang="en-US" altLang="ko-KR" sz="1500" dirty="0"/>
                        <a:t>-31</a:t>
                      </a:r>
                      <a:endParaRPr lang="ko-KR" altLang="en-US" sz="1500" dirty="0"/>
                    </a:p>
                  </a:txBody>
                  <a:tcPr marT="45727" marB="4572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625470">
                <a:tc>
                  <a:txBody>
                    <a:bodyPr/>
                    <a:lstStyle/>
                    <a:p>
                      <a:pPr algn="l" latinLnBrk="1"/>
                      <a:r>
                        <a:rPr lang="ko-KR" altLang="en-US" sz="1500" b="1" dirty="0"/>
                        <a:t>금융수지</a:t>
                      </a:r>
                      <a:endParaRPr lang="en-US" altLang="ko-KR" sz="1500" b="1" dirty="0"/>
                    </a:p>
                    <a:p>
                      <a:pPr marL="342900" indent="-342900" algn="l" latinLnBrk="1">
                        <a:buAutoNum type="arabicPeriod"/>
                      </a:pPr>
                      <a:r>
                        <a:rPr lang="ko-KR" altLang="en-US" sz="1500" dirty="0"/>
                        <a:t>직접투자</a:t>
                      </a:r>
                      <a:endParaRPr lang="en-US" altLang="ko-KR" sz="1500" dirty="0"/>
                    </a:p>
                    <a:p>
                      <a:pPr marL="342900" indent="-342900" algn="l" latinLnBrk="1">
                        <a:buAutoNum type="arabicPeriod"/>
                      </a:pPr>
                      <a:r>
                        <a:rPr lang="ko-KR" altLang="en-US" sz="1500" dirty="0"/>
                        <a:t>증권투자</a:t>
                      </a:r>
                      <a:endParaRPr lang="en-US" altLang="ko-KR" sz="1500" dirty="0"/>
                    </a:p>
                    <a:p>
                      <a:pPr marL="342900" indent="-342900" algn="l" latinLnBrk="1">
                        <a:buAutoNum type="arabicPeriod"/>
                      </a:pPr>
                      <a:r>
                        <a:rPr lang="ko-KR" altLang="en-US" sz="1500" dirty="0"/>
                        <a:t>파생금융상품</a:t>
                      </a:r>
                      <a:endParaRPr lang="en-US" altLang="ko-KR" sz="1500" dirty="0"/>
                    </a:p>
                    <a:p>
                      <a:pPr marL="342900" indent="-342900" algn="l" latinLnBrk="1">
                        <a:buAutoNum type="arabicPeriod"/>
                      </a:pPr>
                      <a:r>
                        <a:rPr lang="ko-KR" altLang="en-US" sz="1500" dirty="0"/>
                        <a:t>기타투자</a:t>
                      </a:r>
                      <a:endParaRPr lang="en-US" altLang="ko-KR" sz="1500" dirty="0"/>
                    </a:p>
                    <a:p>
                      <a:pPr marL="342900" indent="-342900" algn="l" latinLnBrk="1">
                        <a:buAutoNum type="arabicPeriod"/>
                      </a:pPr>
                      <a:r>
                        <a:rPr lang="ko-KR" altLang="en-US" sz="1500" dirty="0"/>
                        <a:t>준비자산</a:t>
                      </a:r>
                    </a:p>
                  </a:txBody>
                  <a:tcPr marT="45727" marB="4572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latinLnBrk="1"/>
                      <a:r>
                        <a:rPr lang="en-US" altLang="ko-KR" sz="1500" dirty="0"/>
                        <a:t>87,110</a:t>
                      </a:r>
                    </a:p>
                    <a:p>
                      <a:pPr algn="l" latinLnBrk="1"/>
                      <a:r>
                        <a:rPr lang="en-US" altLang="ko-KR" sz="1500" dirty="0"/>
                        <a:t>14,628</a:t>
                      </a:r>
                    </a:p>
                    <a:p>
                      <a:pPr algn="l" latinLnBrk="1"/>
                      <a:r>
                        <a:rPr lang="en-US" altLang="ko-KR" sz="1500" dirty="0"/>
                        <a:t>57,847</a:t>
                      </a:r>
                    </a:p>
                    <a:p>
                      <a:pPr algn="l" latinLnBrk="1"/>
                      <a:r>
                        <a:rPr lang="en-US" altLang="ko-KR" sz="1500" dirty="0"/>
                        <a:t>-8,253</a:t>
                      </a:r>
                    </a:p>
                    <a:p>
                      <a:pPr algn="l" latinLnBrk="1"/>
                      <a:r>
                        <a:rPr lang="en-US" altLang="ko-KR" sz="1500" dirty="0"/>
                        <a:t>18,523</a:t>
                      </a:r>
                    </a:p>
                    <a:p>
                      <a:pPr algn="l" latinLnBrk="1"/>
                      <a:r>
                        <a:rPr lang="en-US" altLang="ko-KR" sz="1500" dirty="0"/>
                        <a:t>4,360</a:t>
                      </a:r>
                      <a:endParaRPr lang="ko-KR" altLang="en-US" sz="1500" dirty="0"/>
                    </a:p>
                  </a:txBody>
                  <a:tcPr marT="45727" marB="4572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12011">
                <a:tc>
                  <a:txBody>
                    <a:bodyPr/>
                    <a:lstStyle/>
                    <a:p>
                      <a:pPr algn="l" latinLnBrk="1"/>
                      <a:r>
                        <a:rPr lang="ko-KR" altLang="en-US" sz="1500" b="1" dirty="0"/>
                        <a:t>오차 및 누락</a:t>
                      </a:r>
                    </a:p>
                  </a:txBody>
                  <a:tcPr marT="45727" marB="4572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latinLnBrk="1"/>
                      <a:r>
                        <a:rPr lang="en-US" altLang="ko-KR" sz="1500" dirty="0"/>
                        <a:t>8,672</a:t>
                      </a:r>
                      <a:endParaRPr lang="ko-KR" altLang="en-US" sz="1500" dirty="0"/>
                    </a:p>
                  </a:txBody>
                  <a:tcPr marT="45727" marB="4572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 name="제목 1"/>
          <p:cNvSpPr>
            <a:spLocks noGrp="1" noChangeArrowheads="1"/>
          </p:cNvSpPr>
          <p:nvPr>
            <p:ph type="title"/>
          </p:nvPr>
        </p:nvSpPr>
        <p:spPr>
          <a:xfrm>
            <a:off x="457200" y="868363"/>
            <a:ext cx="8229600" cy="549275"/>
          </a:xfrm>
        </p:spPr>
        <p:txBody>
          <a:bodyPr/>
          <a:lstStyle/>
          <a:p>
            <a:pPr algn="l" eaLnBrk="1" hangingPunct="1"/>
            <a:r>
              <a:rPr lang="ko-KR" altLang="en-US" sz="2700"/>
              <a:t>제</a:t>
            </a:r>
            <a:r>
              <a:rPr lang="en-US" altLang="ko-KR" sz="2700"/>
              <a:t>2</a:t>
            </a:r>
            <a:r>
              <a:rPr lang="ko-KR" altLang="en-US" sz="2700"/>
              <a:t>절 국제수지의 종류</a:t>
            </a:r>
            <a:r>
              <a:rPr lang="en-US" altLang="ko-KR" sz="2700"/>
              <a:t>: </a:t>
            </a:r>
            <a:r>
              <a:rPr lang="ko-KR" altLang="en-US" sz="2700"/>
              <a:t>경상수지</a:t>
            </a:r>
          </a:p>
        </p:txBody>
      </p:sp>
      <p:sp>
        <p:nvSpPr>
          <p:cNvPr id="3" name="내용 개체 틀 2"/>
          <p:cNvSpPr>
            <a:spLocks noGrp="1"/>
          </p:cNvSpPr>
          <p:nvPr>
            <p:ph idx="1"/>
          </p:nvPr>
        </p:nvSpPr>
        <p:spPr>
          <a:xfrm>
            <a:off x="457200" y="1600200"/>
            <a:ext cx="8229600" cy="5068888"/>
          </a:xfrm>
        </p:spPr>
        <p:txBody>
          <a:bodyPr/>
          <a:lstStyle/>
          <a:p>
            <a:pPr marL="273600" indent="-273600" eaLnBrk="1" hangingPunct="1">
              <a:lnSpc>
                <a:spcPct val="90000"/>
              </a:lnSpc>
              <a:spcBef>
                <a:spcPct val="30000"/>
              </a:spcBef>
              <a:buClr>
                <a:srgbClr val="FF9900"/>
              </a:buClr>
              <a:defRPr/>
            </a:pPr>
            <a:r>
              <a:rPr lang="ko-KR" altLang="en-US" sz="1700" dirty="0">
                <a:latin typeface="바탕체" panose="02030609000101010101" pitchFamily="17" charset="-127"/>
                <a:ea typeface="바탕체" panose="02030609000101010101" pitchFamily="17" charset="-127"/>
              </a:rPr>
              <a:t>경상수지</a:t>
            </a:r>
            <a:r>
              <a:rPr lang="en-US" altLang="ko-KR" sz="1700" dirty="0">
                <a:latin typeface="바탕체" panose="02030609000101010101" pitchFamily="17" charset="-127"/>
                <a:ea typeface="바탕체" panose="02030609000101010101" pitchFamily="17" charset="-127"/>
              </a:rPr>
              <a:t>(Current account)</a:t>
            </a:r>
            <a:r>
              <a:rPr lang="ko-KR" altLang="en-US" sz="1700" dirty="0">
                <a:latin typeface="바탕체" panose="02030609000101010101" pitchFamily="17" charset="-127"/>
                <a:ea typeface="바탕체" panose="02030609000101010101" pitchFamily="17" charset="-127"/>
              </a:rPr>
              <a:t> 개념</a:t>
            </a:r>
            <a:endParaRPr lang="en-US" altLang="ko-KR" sz="1700" dirty="0">
              <a:latin typeface="바탕체" panose="02030609000101010101" pitchFamily="17" charset="-127"/>
              <a:ea typeface="바탕체" panose="02030609000101010101" pitchFamily="17" charset="-127"/>
            </a:endParaRPr>
          </a:p>
          <a:p>
            <a:pPr eaLnBrk="1" hangingPunct="1">
              <a:lnSpc>
                <a:spcPct val="90000"/>
              </a:lnSpc>
              <a:spcBef>
                <a:spcPts val="1800"/>
              </a:spcBef>
              <a:buFont typeface="바탕체" panose="02030609000101010101" pitchFamily="17" charset="-127"/>
              <a:buChar char="-"/>
              <a:defRPr/>
            </a:pPr>
            <a:r>
              <a:rPr lang="ko-KR" altLang="en-US" sz="1500" dirty="0">
                <a:latin typeface="바탕체" panose="02030609000101010101" pitchFamily="17" charset="-127"/>
                <a:ea typeface="바탕체" panose="02030609000101010101" pitchFamily="17" charset="-127"/>
              </a:rPr>
              <a:t>경상거래만을 자율적 거래로 간주</a:t>
            </a:r>
            <a:endParaRPr lang="en-US" altLang="ko-KR" sz="1500" dirty="0">
              <a:latin typeface="바탕체" panose="02030609000101010101" pitchFamily="17" charset="-127"/>
              <a:ea typeface="바탕체" panose="02030609000101010101" pitchFamily="17" charset="-127"/>
            </a:endParaRPr>
          </a:p>
          <a:p>
            <a:pPr lvl="1" eaLnBrk="1" hangingPunct="1">
              <a:lnSpc>
                <a:spcPct val="90000"/>
              </a:lnSpc>
              <a:spcBef>
                <a:spcPct val="30000"/>
              </a:spcBef>
              <a:buFont typeface="Arial" panose="020B0604020202020204" pitchFamily="34" charset="0"/>
              <a:buChar char="•"/>
              <a:defRPr/>
            </a:pPr>
            <a:r>
              <a:rPr lang="ko-KR" altLang="en-US" sz="1500" dirty="0">
                <a:latin typeface="바탕체" panose="02030609000101010101" pitchFamily="17" charset="-127"/>
                <a:ea typeface="바탕체" panose="02030609000101010101" pitchFamily="17" charset="-127"/>
              </a:rPr>
              <a:t>금융거래</a:t>
            </a:r>
            <a:r>
              <a:rPr lang="en-US" altLang="ko-KR" sz="1500" dirty="0">
                <a:latin typeface="바탕체" panose="02030609000101010101" pitchFamily="17" charset="-127"/>
                <a:ea typeface="바탕체" panose="02030609000101010101" pitchFamily="17" charset="-127"/>
              </a:rPr>
              <a:t>(</a:t>
            </a:r>
            <a:r>
              <a:rPr lang="ko-KR" altLang="en-US" sz="1500" dirty="0">
                <a:latin typeface="바탕체" panose="02030609000101010101" pitchFamily="17" charset="-127"/>
                <a:ea typeface="바탕체" panose="02030609000101010101" pitchFamily="17" charset="-127"/>
              </a:rPr>
              <a:t>예를 들어 무역관련 신용 등</a:t>
            </a:r>
            <a:r>
              <a:rPr lang="en-US" altLang="ko-KR" sz="1500" dirty="0">
                <a:latin typeface="바탕체" panose="02030609000101010101" pitchFamily="17" charset="-127"/>
                <a:ea typeface="바탕체" panose="02030609000101010101" pitchFamily="17" charset="-127"/>
              </a:rPr>
              <a:t>)</a:t>
            </a:r>
            <a:r>
              <a:rPr lang="ko-KR" altLang="en-US" sz="1500" dirty="0">
                <a:latin typeface="바탕체" panose="02030609000101010101" pitchFamily="17" charset="-127"/>
                <a:ea typeface="바탕체" panose="02030609000101010101" pitchFamily="17" charset="-127"/>
              </a:rPr>
              <a:t>는 경상거래를 보조하기 위한 보정적 거래로 간주</a:t>
            </a:r>
            <a:endParaRPr lang="en-US" altLang="ko-KR" sz="1500" dirty="0">
              <a:latin typeface="바탕체" panose="02030609000101010101" pitchFamily="17" charset="-127"/>
              <a:ea typeface="바탕체" panose="02030609000101010101" pitchFamily="17" charset="-127"/>
            </a:endParaRPr>
          </a:p>
          <a:p>
            <a:pPr eaLnBrk="1" hangingPunct="1">
              <a:lnSpc>
                <a:spcPct val="90000"/>
              </a:lnSpc>
              <a:spcBef>
                <a:spcPts val="2400"/>
              </a:spcBef>
              <a:buFontTx/>
              <a:buChar char="-"/>
              <a:defRPr/>
            </a:pPr>
            <a:r>
              <a:rPr lang="ko-KR" altLang="en-US" sz="1500" dirty="0">
                <a:latin typeface="바탕체" panose="02030609000101010101" pitchFamily="17" charset="-127"/>
                <a:ea typeface="바탕체" panose="02030609000101010101" pitchFamily="17" charset="-127"/>
              </a:rPr>
              <a:t>경상수지 균형은 한 경제의 생산능력만큼 지출하고 있음을 의미</a:t>
            </a:r>
            <a:endParaRPr lang="en-US" altLang="ko-KR" sz="1500" dirty="0">
              <a:latin typeface="바탕체" panose="02030609000101010101" pitchFamily="17" charset="-127"/>
              <a:ea typeface="바탕체" panose="02030609000101010101" pitchFamily="17" charset="-127"/>
            </a:endParaRPr>
          </a:p>
          <a:p>
            <a:pPr lvl="1" eaLnBrk="1" hangingPunct="1">
              <a:lnSpc>
                <a:spcPct val="90000"/>
              </a:lnSpc>
              <a:spcBef>
                <a:spcPct val="30000"/>
              </a:spcBef>
              <a:buFont typeface="Arial" panose="020B0604020202020204" pitchFamily="34" charset="0"/>
              <a:buChar char="•"/>
              <a:defRPr/>
            </a:pPr>
            <a:r>
              <a:rPr lang="ko-KR" altLang="en-US" sz="1500" dirty="0">
                <a:latin typeface="바탕체" panose="02030609000101010101" pitchFamily="17" charset="-127"/>
                <a:ea typeface="바탕체" panose="02030609000101010101" pitchFamily="17" charset="-127"/>
              </a:rPr>
              <a:t>흑자</a:t>
            </a:r>
            <a:r>
              <a:rPr lang="en-US" altLang="ko-KR" sz="1500" dirty="0">
                <a:latin typeface="바탕체" panose="02030609000101010101" pitchFamily="17" charset="-127"/>
                <a:ea typeface="바탕체" panose="02030609000101010101" pitchFamily="17" charset="-127"/>
              </a:rPr>
              <a:t>(surplus)</a:t>
            </a:r>
            <a:r>
              <a:rPr lang="ko-KR" altLang="en-US" sz="1500" dirty="0">
                <a:latin typeface="바탕체" panose="02030609000101010101" pitchFamily="17" charset="-127"/>
                <a:ea typeface="바탕체" panose="02030609000101010101" pitchFamily="17" charset="-127"/>
              </a:rPr>
              <a:t>는 생산량이 일부 남아 외국에 잉여생산량을 수출한 것</a:t>
            </a:r>
            <a:endParaRPr lang="en-US" altLang="ko-KR" sz="1500" dirty="0">
              <a:latin typeface="바탕체" panose="02030609000101010101" pitchFamily="17" charset="-127"/>
              <a:ea typeface="바탕체" panose="02030609000101010101" pitchFamily="17" charset="-127"/>
            </a:endParaRPr>
          </a:p>
          <a:p>
            <a:pPr lvl="1" eaLnBrk="1" hangingPunct="1">
              <a:lnSpc>
                <a:spcPct val="90000"/>
              </a:lnSpc>
              <a:spcBef>
                <a:spcPct val="30000"/>
              </a:spcBef>
              <a:buFont typeface="Arial" panose="020B0604020202020204" pitchFamily="34" charset="0"/>
              <a:buChar char="•"/>
              <a:defRPr/>
            </a:pPr>
            <a:r>
              <a:rPr lang="ko-KR" altLang="en-US" sz="1500" dirty="0">
                <a:latin typeface="바탕체" panose="02030609000101010101" pitchFamily="17" charset="-127"/>
                <a:ea typeface="바탕체" panose="02030609000101010101" pitchFamily="17" charset="-127"/>
              </a:rPr>
              <a:t>적자</a:t>
            </a:r>
            <a:r>
              <a:rPr lang="en-US" altLang="ko-KR" sz="1500" dirty="0">
                <a:latin typeface="바탕체" panose="02030609000101010101" pitchFamily="17" charset="-127"/>
                <a:ea typeface="바탕체" panose="02030609000101010101" pitchFamily="17" charset="-127"/>
              </a:rPr>
              <a:t>(deficit)</a:t>
            </a:r>
            <a:r>
              <a:rPr lang="ko-KR" altLang="en-US" sz="1500" dirty="0">
                <a:latin typeface="바탕체" panose="02030609000101010101" pitchFamily="17" charset="-127"/>
                <a:ea typeface="바탕체" panose="02030609000101010101" pitchFamily="17" charset="-127"/>
              </a:rPr>
              <a:t>는 생산능력 이상으로 지출하기 때문에 모자라는 부분을 외국에서 수입해 지출했음을 의미</a:t>
            </a:r>
            <a:endParaRPr lang="en-US" altLang="ko-KR" sz="1500" dirty="0">
              <a:latin typeface="바탕체" panose="02030609000101010101" pitchFamily="17" charset="-127"/>
              <a:ea typeface="바탕체" panose="02030609000101010101" pitchFamily="17" charset="-127"/>
            </a:endParaRPr>
          </a:p>
          <a:p>
            <a:pPr eaLnBrk="1" hangingPunct="1">
              <a:lnSpc>
                <a:spcPct val="90000"/>
              </a:lnSpc>
              <a:spcBef>
                <a:spcPts val="2400"/>
              </a:spcBef>
              <a:buFontTx/>
              <a:buChar char="-"/>
              <a:defRPr/>
            </a:pPr>
            <a:r>
              <a:rPr lang="ko-KR" altLang="en-US" sz="1500" dirty="0">
                <a:latin typeface="바탕체" panose="02030609000101010101" pitchFamily="17" charset="-127"/>
                <a:ea typeface="바탕체" panose="02030609000101010101" pitchFamily="17" charset="-127"/>
              </a:rPr>
              <a:t>아직까지도 가장 중요한 국제수지 개념</a:t>
            </a:r>
            <a:endParaRPr lang="en-US" altLang="ko-KR" sz="1500" dirty="0">
              <a:latin typeface="바탕체" panose="02030609000101010101" pitchFamily="17" charset="-127"/>
              <a:ea typeface="바탕체" panose="02030609000101010101" pitchFamily="17" charset="-127"/>
            </a:endParaRPr>
          </a:p>
          <a:p>
            <a:pPr lvl="1" eaLnBrk="1" hangingPunct="1">
              <a:lnSpc>
                <a:spcPct val="90000"/>
              </a:lnSpc>
              <a:spcBef>
                <a:spcPct val="30000"/>
              </a:spcBef>
              <a:buFont typeface="Arial" panose="020B0604020202020204" pitchFamily="34" charset="0"/>
              <a:buChar char="•"/>
              <a:defRPr/>
            </a:pPr>
            <a:r>
              <a:rPr lang="ko-KR" altLang="en-US" sz="1500" dirty="0">
                <a:latin typeface="바탕체" panose="02030609000101010101" pitchFamily="17" charset="-127"/>
                <a:ea typeface="바탕체" panose="02030609000101010101" pitchFamily="17" charset="-127"/>
              </a:rPr>
              <a:t>대부분의 국가가 국제수지 불균형 해소정책의 초점을 경상수지에 맞추고 있음</a:t>
            </a:r>
            <a:endParaRPr lang="en-US" altLang="ko-KR" sz="1500" dirty="0">
              <a:latin typeface="바탕체" panose="02030609000101010101" pitchFamily="17" charset="-127"/>
              <a:ea typeface="바탕체" panose="02030609000101010101" pitchFamily="17" charset="-127"/>
            </a:endParaRPr>
          </a:p>
          <a:p>
            <a:pPr lvl="1" eaLnBrk="1" hangingPunct="1">
              <a:lnSpc>
                <a:spcPct val="90000"/>
              </a:lnSpc>
              <a:spcBef>
                <a:spcPct val="30000"/>
              </a:spcBef>
              <a:buFont typeface="Arial" panose="020B0604020202020204" pitchFamily="34" charset="0"/>
              <a:buChar char="•"/>
              <a:defRPr/>
            </a:pPr>
            <a:r>
              <a:rPr lang="ko-KR" altLang="en-US" sz="1500" dirty="0">
                <a:latin typeface="바탕체" panose="02030609000101010101" pitchFamily="17" charset="-127"/>
                <a:ea typeface="바탕체" panose="02030609000101010101" pitchFamily="17" charset="-127"/>
              </a:rPr>
              <a:t>그러나 자본거래의 급증으로 과거에 비해 상대적인 중요성 다소 감소</a:t>
            </a:r>
            <a:endParaRPr lang="en-US" altLang="ko-KR" sz="1500" dirty="0">
              <a:latin typeface="바탕체" panose="02030609000101010101" pitchFamily="17" charset="-127"/>
              <a:ea typeface="바탕체" panose="02030609000101010101" pitchFamily="17" charset="-127"/>
            </a:endParaRPr>
          </a:p>
          <a:p>
            <a:pPr lvl="1" eaLnBrk="1" hangingPunct="1">
              <a:lnSpc>
                <a:spcPct val="90000"/>
              </a:lnSpc>
              <a:spcBef>
                <a:spcPct val="30000"/>
              </a:spcBef>
              <a:buFont typeface="Arial" panose="020B0604020202020204" pitchFamily="34" charset="0"/>
              <a:buChar char="•"/>
              <a:defRPr/>
            </a:pPr>
            <a:r>
              <a:rPr lang="ko-KR" altLang="en-US" sz="1500" dirty="0">
                <a:latin typeface="바탕체" panose="02030609000101010101" pitchFamily="17" charset="-127"/>
                <a:ea typeface="바탕체" panose="02030609000101010101" pitchFamily="17" charset="-127"/>
              </a:rPr>
              <a:t>또한 경제발전을 위해 자본재를 도입하는 경우 국제수지 적자가 발생한다고 해도 장기적인 관점에서 볼 때는 당장 해소해야 할 불균형 문제는 아니라고 할 수 있음</a:t>
            </a:r>
          </a:p>
          <a:p>
            <a:pPr eaLnBrk="1" hangingPunct="1">
              <a:defRPr/>
            </a:pPr>
            <a:endParaRPr lang="ko-KR" altLang="en-US" dirty="0"/>
          </a:p>
          <a:p>
            <a:pPr eaLnBrk="1" hangingPunct="1">
              <a:defRPr/>
            </a:pPr>
            <a:endParaRPr lang="ko-KR" alt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9" name="제목 1"/>
          <p:cNvSpPr>
            <a:spLocks noGrp="1" noChangeArrowheads="1"/>
          </p:cNvSpPr>
          <p:nvPr>
            <p:ph type="title"/>
          </p:nvPr>
        </p:nvSpPr>
        <p:spPr>
          <a:xfrm>
            <a:off x="457200" y="868363"/>
            <a:ext cx="8229600" cy="549275"/>
          </a:xfrm>
        </p:spPr>
        <p:txBody>
          <a:bodyPr/>
          <a:lstStyle/>
          <a:p>
            <a:pPr algn="l" eaLnBrk="1" hangingPunct="1"/>
            <a:r>
              <a:rPr lang="ko-KR" altLang="en-US" sz="2700"/>
              <a:t>제</a:t>
            </a:r>
            <a:r>
              <a:rPr lang="en-US" altLang="ko-KR" sz="2700"/>
              <a:t>2</a:t>
            </a:r>
            <a:r>
              <a:rPr lang="ko-KR" altLang="en-US" sz="2700"/>
              <a:t>절 국제수지의 종류</a:t>
            </a:r>
            <a:r>
              <a:rPr lang="en-US" altLang="ko-KR" sz="2700"/>
              <a:t>: </a:t>
            </a:r>
            <a:r>
              <a:rPr lang="ko-KR" altLang="en-US" sz="2700"/>
              <a:t>금융수지</a:t>
            </a:r>
          </a:p>
        </p:txBody>
      </p:sp>
      <p:sp>
        <p:nvSpPr>
          <p:cNvPr id="3" name="내용 개체 틀 2"/>
          <p:cNvSpPr>
            <a:spLocks noGrp="1"/>
          </p:cNvSpPr>
          <p:nvPr>
            <p:ph idx="1"/>
          </p:nvPr>
        </p:nvSpPr>
        <p:spPr>
          <a:xfrm>
            <a:off x="457200" y="1600200"/>
            <a:ext cx="8229600" cy="5068888"/>
          </a:xfrm>
        </p:spPr>
        <p:txBody>
          <a:bodyPr/>
          <a:lstStyle/>
          <a:p>
            <a:pPr marL="273600" indent="-273600" eaLnBrk="1" hangingPunct="1">
              <a:spcBef>
                <a:spcPct val="30000"/>
              </a:spcBef>
              <a:buClr>
                <a:srgbClr val="FF9900"/>
              </a:buClr>
              <a:defRPr/>
            </a:pPr>
            <a:r>
              <a:rPr lang="ko-KR" altLang="en-US" sz="1700" dirty="0">
                <a:latin typeface="바탕체" panose="02030609000101010101" pitchFamily="17" charset="-127"/>
                <a:ea typeface="바탕체" panose="02030609000101010101" pitchFamily="17" charset="-127"/>
              </a:rPr>
              <a:t>금융수지</a:t>
            </a:r>
            <a:r>
              <a:rPr lang="en-US" altLang="ko-KR" sz="1700" dirty="0">
                <a:latin typeface="바탕체" panose="02030609000101010101" pitchFamily="17" charset="-127"/>
                <a:ea typeface="바탕체" panose="02030609000101010101" pitchFamily="17" charset="-127"/>
              </a:rPr>
              <a:t>(Financial account)</a:t>
            </a:r>
            <a:r>
              <a:rPr lang="ko-KR" altLang="en-US" sz="1700" dirty="0">
                <a:latin typeface="바탕체" panose="02030609000101010101" pitchFamily="17" charset="-127"/>
                <a:ea typeface="바탕체" panose="02030609000101010101" pitchFamily="17" charset="-127"/>
              </a:rPr>
              <a:t> 개념</a:t>
            </a:r>
            <a:endParaRPr lang="en-US" altLang="ko-KR" sz="1700" dirty="0">
              <a:latin typeface="바탕체" panose="02030609000101010101" pitchFamily="17" charset="-127"/>
              <a:ea typeface="바탕체" panose="02030609000101010101" pitchFamily="17" charset="-127"/>
            </a:endParaRPr>
          </a:p>
          <a:p>
            <a:pPr eaLnBrk="1" hangingPunct="1">
              <a:spcBef>
                <a:spcPts val="1200"/>
              </a:spcBef>
              <a:buFontTx/>
              <a:buChar char="-"/>
              <a:defRPr/>
            </a:pPr>
            <a:r>
              <a:rPr lang="ko-KR" altLang="en-US" sz="1500" dirty="0">
                <a:latin typeface="바탕체" panose="02030609000101010101" pitchFamily="17" charset="-127"/>
                <a:ea typeface="바탕체" panose="02030609000101010101" pitchFamily="17" charset="-127"/>
              </a:rPr>
              <a:t>금융거래를 자율적 거래로 간주</a:t>
            </a:r>
            <a:endParaRPr lang="en-US" altLang="ko-KR" sz="1500" dirty="0">
              <a:latin typeface="바탕체" panose="02030609000101010101" pitchFamily="17" charset="-127"/>
              <a:ea typeface="바탕체" panose="02030609000101010101" pitchFamily="17" charset="-127"/>
            </a:endParaRPr>
          </a:p>
          <a:p>
            <a:pPr lvl="1" eaLnBrk="1" hangingPunct="1">
              <a:spcBef>
                <a:spcPct val="30000"/>
              </a:spcBef>
              <a:buFont typeface="Arial" panose="020B0604020202020204" pitchFamily="34" charset="0"/>
              <a:buChar char="•"/>
              <a:defRPr/>
            </a:pPr>
            <a:r>
              <a:rPr lang="ko-KR" altLang="en-US" sz="1500" dirty="0">
                <a:latin typeface="바탕체" panose="02030609000101010101" pitchFamily="17" charset="-127"/>
                <a:ea typeface="바탕체" panose="02030609000101010101" pitchFamily="17" charset="-127"/>
              </a:rPr>
              <a:t>금융글로벌화에 따라 단순히 경상거래를 보조하기 위한 금융거래보다 금융이익을 취득하기 위한 자율적 금융거래가 대규모로 발생</a:t>
            </a:r>
            <a:endParaRPr lang="en-US" altLang="ko-KR" sz="1500" dirty="0">
              <a:latin typeface="바탕체" panose="02030609000101010101" pitchFamily="17" charset="-127"/>
              <a:ea typeface="바탕체" panose="02030609000101010101" pitchFamily="17" charset="-127"/>
            </a:endParaRPr>
          </a:p>
          <a:p>
            <a:pPr lvl="1" eaLnBrk="1" hangingPunct="1">
              <a:spcBef>
                <a:spcPct val="30000"/>
              </a:spcBef>
              <a:buFont typeface="Arial" panose="020B0604020202020204" pitchFamily="34" charset="0"/>
              <a:buChar char="•"/>
              <a:defRPr/>
            </a:pPr>
            <a:r>
              <a:rPr lang="ko-KR" altLang="en-US" sz="1400" dirty="0">
                <a:latin typeface="바탕체" panose="02030609000101010101" pitchFamily="17" charset="-127"/>
                <a:ea typeface="바탕체" panose="02030609000101010101" pitchFamily="17" charset="-127"/>
              </a:rPr>
              <a:t>참고</a:t>
            </a:r>
            <a:r>
              <a:rPr lang="en-US" altLang="ko-KR" sz="1400" dirty="0">
                <a:latin typeface="바탕체" panose="02030609000101010101" pitchFamily="17" charset="-127"/>
                <a:ea typeface="바탕체" panose="02030609000101010101" pitchFamily="17" charset="-127"/>
              </a:rPr>
              <a:t>: </a:t>
            </a:r>
            <a:r>
              <a:rPr lang="ko-KR" altLang="en-US" sz="1400" dirty="0">
                <a:latin typeface="바탕체" panose="02030609000101010101" pitchFamily="17" charset="-127"/>
                <a:ea typeface="바탕체" panose="02030609000101010101" pitchFamily="17" charset="-127"/>
              </a:rPr>
              <a:t>한국은행은 ＇금융수지＇ 대신에 ＇</a:t>
            </a:r>
            <a:r>
              <a:rPr lang="ko-KR" altLang="en-US" sz="1400" dirty="0" err="1">
                <a:latin typeface="바탕체" panose="02030609000101010101" pitchFamily="17" charset="-127"/>
                <a:ea typeface="바탕체" panose="02030609000101010101" pitchFamily="17" charset="-127"/>
              </a:rPr>
              <a:t>금융계정＇이란</a:t>
            </a:r>
            <a:r>
              <a:rPr lang="ko-KR" altLang="en-US" sz="1400" dirty="0">
                <a:latin typeface="바탕체" panose="02030609000101010101" pitchFamily="17" charset="-127"/>
                <a:ea typeface="바탕체" panose="02030609000101010101" pitchFamily="17" charset="-127"/>
              </a:rPr>
              <a:t> 용어를 공식적으로 사용</a:t>
            </a:r>
          </a:p>
          <a:p>
            <a:pPr eaLnBrk="1" hangingPunct="1">
              <a:spcBef>
                <a:spcPts val="2400"/>
              </a:spcBef>
              <a:buFontTx/>
              <a:buChar char="-"/>
              <a:defRPr/>
            </a:pPr>
            <a:r>
              <a:rPr lang="ko-KR" altLang="en-US" sz="1500" dirty="0">
                <a:latin typeface="바탕체" panose="02030609000101010101" pitchFamily="17" charset="-127"/>
                <a:ea typeface="바탕체" panose="02030609000101010101" pitchFamily="17" charset="-127"/>
              </a:rPr>
              <a:t>금융수지</a:t>
            </a:r>
            <a:r>
              <a:rPr lang="en-US" altLang="ko-KR" sz="1500" dirty="0">
                <a:latin typeface="바탕체" panose="02030609000101010101" pitchFamily="17" charset="-127"/>
                <a:ea typeface="바탕체" panose="02030609000101010101" pitchFamily="17" charset="-127"/>
              </a:rPr>
              <a:t>(</a:t>
            </a:r>
            <a:r>
              <a:rPr lang="ko-KR" altLang="en-US" sz="1500" dirty="0">
                <a:latin typeface="바탕체" panose="02030609000101010101" pitchFamily="17" charset="-127"/>
                <a:ea typeface="바탕체" panose="02030609000101010101" pitchFamily="17" charset="-127"/>
              </a:rPr>
              <a:t>준비자산 제외</a:t>
            </a:r>
            <a:r>
              <a:rPr lang="en-US" altLang="ko-KR" sz="1500" dirty="0">
                <a:latin typeface="바탕체" panose="02030609000101010101" pitchFamily="17" charset="-127"/>
                <a:ea typeface="바탕체" panose="02030609000101010101" pitchFamily="17" charset="-127"/>
              </a:rPr>
              <a:t>)</a:t>
            </a:r>
            <a:r>
              <a:rPr lang="ko-KR" altLang="en-US" sz="1500" dirty="0">
                <a:latin typeface="바탕체" panose="02030609000101010101" pitchFamily="17" charset="-127"/>
                <a:ea typeface="바탕체" panose="02030609000101010101" pitchFamily="17" charset="-127"/>
              </a:rPr>
              <a:t>의 흑자</a:t>
            </a:r>
            <a:r>
              <a:rPr lang="en-US" altLang="ko-KR" sz="1500" dirty="0">
                <a:latin typeface="바탕체" panose="02030609000101010101" pitchFamily="17" charset="-127"/>
                <a:ea typeface="바탕체" panose="02030609000101010101" pitchFamily="17" charset="-127"/>
              </a:rPr>
              <a:t>(surplus)</a:t>
            </a:r>
            <a:r>
              <a:rPr lang="ko-KR" altLang="en-US" sz="1500" dirty="0">
                <a:latin typeface="바탕체" panose="02030609000101010101" pitchFamily="17" charset="-127"/>
                <a:ea typeface="바탕체" panose="02030609000101010101" pitchFamily="17" charset="-127"/>
              </a:rPr>
              <a:t>는 </a:t>
            </a:r>
            <a:r>
              <a:rPr lang="ko-KR" altLang="en-US" sz="1500" dirty="0" err="1">
                <a:latin typeface="바탕체" panose="02030609000101010101" pitchFamily="17" charset="-127"/>
                <a:ea typeface="바탕체" panose="02030609000101010101" pitchFamily="17" charset="-127"/>
              </a:rPr>
              <a:t>대외순자산</a:t>
            </a:r>
            <a:r>
              <a:rPr lang="en-US" altLang="ko-KR" sz="1500" dirty="0">
                <a:latin typeface="바탕체" panose="02030609000101010101" pitchFamily="17" charset="-127"/>
                <a:ea typeface="바탕체" panose="02030609000101010101" pitchFamily="17" charset="-127"/>
              </a:rPr>
              <a:t>(net external assets)</a:t>
            </a:r>
            <a:r>
              <a:rPr lang="ko-KR" altLang="en-US" sz="1500" dirty="0">
                <a:latin typeface="바탕체" panose="02030609000101010101" pitchFamily="17" charset="-127"/>
                <a:ea typeface="바탕체" panose="02030609000101010101" pitchFamily="17" charset="-127"/>
              </a:rPr>
              <a:t>이 증가했음을 의미</a:t>
            </a:r>
            <a:endParaRPr lang="en-US" altLang="ko-KR" sz="1500" dirty="0">
              <a:latin typeface="바탕체" panose="02030609000101010101" pitchFamily="17" charset="-127"/>
              <a:ea typeface="바탕체" panose="02030609000101010101" pitchFamily="17" charset="-127"/>
            </a:endParaRPr>
          </a:p>
          <a:p>
            <a:pPr lvl="1" eaLnBrk="1" hangingPunct="1">
              <a:spcBef>
                <a:spcPct val="30000"/>
              </a:spcBef>
              <a:buFont typeface="Arial" panose="020B0604020202020204" pitchFamily="34" charset="0"/>
              <a:buChar char="•"/>
              <a:defRPr/>
            </a:pPr>
            <a:r>
              <a:rPr lang="ko-KR" altLang="en-US" sz="1500" dirty="0">
                <a:latin typeface="바탕체" panose="02030609000101010101" pitchFamily="17" charset="-127"/>
                <a:ea typeface="바탕체" panose="02030609000101010101" pitchFamily="17" charset="-127"/>
              </a:rPr>
              <a:t>적자</a:t>
            </a:r>
            <a:r>
              <a:rPr lang="en-US" altLang="ko-KR" sz="1500" dirty="0">
                <a:latin typeface="바탕체" panose="02030609000101010101" pitchFamily="17" charset="-127"/>
                <a:ea typeface="바탕체" panose="02030609000101010101" pitchFamily="17" charset="-127"/>
              </a:rPr>
              <a:t>(deficit)</a:t>
            </a:r>
            <a:r>
              <a:rPr lang="ko-KR" altLang="en-US" sz="1500" dirty="0">
                <a:latin typeface="바탕체" panose="02030609000101010101" pitchFamily="17" charset="-127"/>
                <a:ea typeface="바탕체" panose="02030609000101010101" pitchFamily="17" charset="-127"/>
              </a:rPr>
              <a:t>는 순차입이 증가했음을 의미</a:t>
            </a:r>
          </a:p>
          <a:p>
            <a:pPr eaLnBrk="1" hangingPunct="1">
              <a:spcBef>
                <a:spcPts val="2400"/>
              </a:spcBef>
              <a:buFont typeface="바탕체" panose="02030609000101010101" pitchFamily="17" charset="-127"/>
              <a:buChar char="-"/>
              <a:defRPr/>
            </a:pPr>
            <a:r>
              <a:rPr lang="ko-KR" altLang="en-US" sz="1500" dirty="0">
                <a:latin typeface="바탕체" panose="02030609000101010101" pitchFamily="17" charset="-127"/>
                <a:ea typeface="바탕체" panose="02030609000101010101" pitchFamily="17" charset="-127"/>
              </a:rPr>
              <a:t>점차 중요성이 증대하고 있는 국제수지 개념</a:t>
            </a:r>
            <a:endParaRPr lang="en-US" altLang="ko-KR" sz="1500" dirty="0">
              <a:latin typeface="바탕체" panose="02030609000101010101" pitchFamily="17" charset="-127"/>
              <a:ea typeface="바탕체" panose="02030609000101010101" pitchFamily="17" charset="-127"/>
            </a:endParaRPr>
          </a:p>
          <a:p>
            <a:pPr lvl="1" eaLnBrk="1" hangingPunct="1">
              <a:spcBef>
                <a:spcPct val="30000"/>
              </a:spcBef>
              <a:buFont typeface="Arial" panose="020B0604020202020204" pitchFamily="34" charset="0"/>
              <a:buChar char="•"/>
              <a:defRPr/>
            </a:pPr>
            <a:r>
              <a:rPr lang="ko-KR" altLang="en-US" sz="1500" dirty="0">
                <a:latin typeface="바탕체" panose="02030609000101010101" pitchFamily="17" charset="-127"/>
                <a:ea typeface="바탕체" panose="02030609000101010101" pitchFamily="17" charset="-127"/>
              </a:rPr>
              <a:t>국제거래에서 압도적인 비중을 차지하고</a:t>
            </a:r>
            <a:r>
              <a:rPr lang="en-US" altLang="ko-KR" sz="1500" dirty="0">
                <a:latin typeface="바탕체" panose="02030609000101010101" pitchFamily="17" charset="-127"/>
                <a:ea typeface="바탕체" panose="02030609000101010101" pitchFamily="17" charset="-127"/>
              </a:rPr>
              <a:t>, </a:t>
            </a:r>
            <a:r>
              <a:rPr lang="ko-KR" altLang="en-US" sz="1500" dirty="0">
                <a:latin typeface="바탕체" panose="02030609000101010101" pitchFamily="17" charset="-127"/>
                <a:ea typeface="바탕체" panose="02030609000101010101" pitchFamily="17" charset="-127"/>
              </a:rPr>
              <a:t>많은 국가에서 대외경제활동이 자본이동과 직결</a:t>
            </a:r>
            <a:endParaRPr lang="en-US" altLang="ko-KR" sz="1500" dirty="0">
              <a:latin typeface="바탕체" panose="02030609000101010101" pitchFamily="17" charset="-127"/>
              <a:ea typeface="바탕체" panose="02030609000101010101" pitchFamily="17" charset="-127"/>
            </a:endParaRPr>
          </a:p>
          <a:p>
            <a:pPr lvl="1" eaLnBrk="1" hangingPunct="1">
              <a:spcBef>
                <a:spcPct val="30000"/>
              </a:spcBef>
              <a:buFont typeface="Arial" panose="020B0604020202020204" pitchFamily="34" charset="0"/>
              <a:buChar char="•"/>
              <a:defRPr/>
            </a:pPr>
            <a:r>
              <a:rPr lang="ko-KR" altLang="en-US" sz="1500" dirty="0">
                <a:latin typeface="바탕체" panose="02030609000101010101" pitchFamily="17" charset="-127"/>
                <a:ea typeface="바탕체" panose="02030609000101010101" pitchFamily="17" charset="-127"/>
              </a:rPr>
              <a:t>그러나 금융수지</a:t>
            </a:r>
            <a:r>
              <a:rPr lang="en-US" altLang="ko-KR" sz="1500" dirty="0">
                <a:latin typeface="바탕체" panose="02030609000101010101" pitchFamily="17" charset="-127"/>
                <a:ea typeface="바탕체" panose="02030609000101010101" pitchFamily="17" charset="-127"/>
              </a:rPr>
              <a:t>(</a:t>
            </a:r>
            <a:r>
              <a:rPr lang="ko-KR" altLang="en-US" sz="1500" dirty="0">
                <a:latin typeface="바탕체" panose="02030609000101010101" pitchFamily="17" charset="-127"/>
                <a:ea typeface="바탕체" panose="02030609000101010101" pitchFamily="17" charset="-127"/>
              </a:rPr>
              <a:t>준비자산 제외</a:t>
            </a:r>
            <a:r>
              <a:rPr lang="en-US" altLang="ko-KR" sz="1500" dirty="0">
                <a:latin typeface="바탕체" panose="02030609000101010101" pitchFamily="17" charset="-127"/>
                <a:ea typeface="바탕체" panose="02030609000101010101" pitchFamily="17" charset="-127"/>
              </a:rPr>
              <a:t>)</a:t>
            </a:r>
            <a:r>
              <a:rPr lang="ko-KR" altLang="en-US" sz="1500" dirty="0">
                <a:latin typeface="바탕체" panose="02030609000101010101" pitchFamily="17" charset="-127"/>
                <a:ea typeface="바탕체" panose="02030609000101010101" pitchFamily="17" charset="-127"/>
              </a:rPr>
              <a:t> 적자</a:t>
            </a:r>
            <a:r>
              <a:rPr lang="en-US" altLang="ko-KR" sz="1500" dirty="0">
                <a:latin typeface="바탕체" panose="02030609000101010101" pitchFamily="17" charset="-127"/>
                <a:ea typeface="바탕체" panose="02030609000101010101" pitchFamily="17" charset="-127"/>
              </a:rPr>
              <a:t>(</a:t>
            </a:r>
            <a:r>
              <a:rPr lang="ko-KR" altLang="en-US" sz="1500" dirty="0">
                <a:latin typeface="바탕체" panose="02030609000101010101" pitchFamily="17" charset="-127"/>
                <a:ea typeface="바탕체" panose="02030609000101010101" pitchFamily="17" charset="-127"/>
              </a:rPr>
              <a:t>자본의 지나친 유입</a:t>
            </a:r>
            <a:r>
              <a:rPr lang="en-US" altLang="ko-KR" sz="1500" dirty="0">
                <a:latin typeface="바탕체" panose="02030609000101010101" pitchFamily="17" charset="-127"/>
                <a:ea typeface="바탕체" panose="02030609000101010101" pitchFamily="17" charset="-127"/>
              </a:rPr>
              <a:t>)</a:t>
            </a:r>
            <a:r>
              <a:rPr lang="ko-KR" altLang="en-US" sz="1500" dirty="0">
                <a:latin typeface="바탕체" panose="02030609000101010101" pitchFamily="17" charset="-127"/>
                <a:ea typeface="바탕체" panose="02030609000101010101" pitchFamily="17" charset="-127"/>
              </a:rPr>
              <a:t>는 자산시장의 거품</a:t>
            </a:r>
            <a:r>
              <a:rPr lang="en-US" altLang="ko-KR" sz="1500" dirty="0">
                <a:latin typeface="바탕체" panose="02030609000101010101" pitchFamily="17" charset="-127"/>
                <a:ea typeface="바탕체" panose="02030609000101010101" pitchFamily="17" charset="-127"/>
              </a:rPr>
              <a:t>, </a:t>
            </a:r>
            <a:r>
              <a:rPr lang="ko-KR" altLang="en-US" sz="1500" dirty="0">
                <a:latin typeface="바탕체" panose="02030609000101010101" pitchFamily="17" charset="-127"/>
                <a:ea typeface="바탕체" panose="02030609000101010101" pitchFamily="17" charset="-127"/>
              </a:rPr>
              <a:t>물가상승 등 폐해를 가져올 수 있고 지나친 흑자</a:t>
            </a:r>
            <a:r>
              <a:rPr lang="en-US" altLang="ko-KR" sz="1500" dirty="0">
                <a:latin typeface="바탕체" panose="02030609000101010101" pitchFamily="17" charset="-127"/>
                <a:ea typeface="바탕체" panose="02030609000101010101" pitchFamily="17" charset="-127"/>
              </a:rPr>
              <a:t>(</a:t>
            </a:r>
            <a:r>
              <a:rPr lang="ko-KR" altLang="en-US" sz="1500" dirty="0">
                <a:latin typeface="바탕체" panose="02030609000101010101" pitchFamily="17" charset="-127"/>
                <a:ea typeface="바탕체" panose="02030609000101010101" pitchFamily="17" charset="-127"/>
              </a:rPr>
              <a:t>자본의 지나친 유출</a:t>
            </a:r>
            <a:r>
              <a:rPr lang="en-US" altLang="ko-KR" sz="1500" dirty="0">
                <a:latin typeface="바탕체" panose="02030609000101010101" pitchFamily="17" charset="-127"/>
                <a:ea typeface="바탕체" panose="02030609000101010101" pitchFamily="17" charset="-127"/>
              </a:rPr>
              <a:t>)</a:t>
            </a:r>
            <a:r>
              <a:rPr lang="ko-KR" altLang="en-US" sz="1500" dirty="0">
                <a:latin typeface="바탕체" panose="02030609000101010101" pitchFamily="17" charset="-127"/>
                <a:ea typeface="바탕체" panose="02030609000101010101" pitchFamily="17" charset="-127"/>
              </a:rPr>
              <a:t>는 자본이탈로 비추어질 수 있기 때문에 지나친 불균형은 흑자이건 적자이건 바람직하지 않음</a:t>
            </a:r>
            <a:endParaRPr lang="en-US" altLang="ko-KR" sz="1500" dirty="0">
              <a:latin typeface="바탕체" panose="02030609000101010101" pitchFamily="17" charset="-127"/>
              <a:ea typeface="바탕체" panose="02030609000101010101" pitchFamily="17" charset="-127"/>
            </a:endParaRPr>
          </a:p>
          <a:p>
            <a:pPr lvl="1" eaLnBrk="1" hangingPunct="1">
              <a:spcBef>
                <a:spcPct val="30000"/>
              </a:spcBef>
              <a:buFont typeface="Arial" panose="020B0604020202020204" pitchFamily="34" charset="0"/>
              <a:buChar char="•"/>
              <a:defRPr/>
            </a:pPr>
            <a:r>
              <a:rPr lang="ko-KR" altLang="en-US" sz="1500" dirty="0">
                <a:latin typeface="바탕체" panose="02030609000101010101" pitchFamily="17" charset="-127"/>
                <a:ea typeface="바탕체" panose="02030609000101010101" pitchFamily="17" charset="-127"/>
              </a:rPr>
              <a:t>금융거래는 경상거래에 비해 지나치게 가변적이기 때문에 장기적인 관점에서 국제수지 불균형을 논할 때 금융수지를 이용하기는 곤란한 측면도 있음</a:t>
            </a:r>
          </a:p>
          <a:p>
            <a:pPr eaLnBrk="1" hangingPunct="1">
              <a:defRPr/>
            </a:pPr>
            <a:endParaRPr lang="ko-KR" altLang="en-US" dirty="0"/>
          </a:p>
          <a:p>
            <a:pPr eaLnBrk="1" hangingPunct="1">
              <a:defRPr/>
            </a:pPr>
            <a:endParaRPr lang="ko-KR" alt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제목 1"/>
          <p:cNvSpPr>
            <a:spLocks noGrp="1" noChangeArrowheads="1"/>
          </p:cNvSpPr>
          <p:nvPr>
            <p:ph type="title"/>
          </p:nvPr>
        </p:nvSpPr>
        <p:spPr>
          <a:xfrm>
            <a:off x="457200" y="868363"/>
            <a:ext cx="8229600" cy="549275"/>
          </a:xfrm>
        </p:spPr>
        <p:txBody>
          <a:bodyPr/>
          <a:lstStyle/>
          <a:p>
            <a:pPr algn="l" eaLnBrk="1" hangingPunct="1"/>
            <a:r>
              <a:rPr lang="ko-KR" altLang="en-US" sz="2700"/>
              <a:t>제</a:t>
            </a:r>
            <a:r>
              <a:rPr lang="en-US" altLang="ko-KR" sz="2700"/>
              <a:t>2</a:t>
            </a:r>
            <a:r>
              <a:rPr lang="ko-KR" altLang="en-US" sz="2700"/>
              <a:t>절 국제수지의 종류</a:t>
            </a:r>
            <a:r>
              <a:rPr lang="en-US" altLang="ko-KR" sz="2700"/>
              <a:t>: </a:t>
            </a:r>
            <a:r>
              <a:rPr lang="ko-KR" altLang="en-US" sz="2700"/>
              <a:t>종합수지</a:t>
            </a:r>
          </a:p>
        </p:txBody>
      </p:sp>
      <p:sp>
        <p:nvSpPr>
          <p:cNvPr id="15364" name="내용 개체 틀 2"/>
          <p:cNvSpPr>
            <a:spLocks noGrp="1" noChangeArrowheads="1"/>
          </p:cNvSpPr>
          <p:nvPr>
            <p:ph idx="1"/>
          </p:nvPr>
        </p:nvSpPr>
        <p:spPr>
          <a:xfrm>
            <a:off x="457200" y="1557338"/>
            <a:ext cx="8229600" cy="5068887"/>
          </a:xfrm>
        </p:spPr>
        <p:txBody>
          <a:bodyPr/>
          <a:lstStyle/>
          <a:p>
            <a:pPr eaLnBrk="1" hangingPunct="1">
              <a:spcBef>
                <a:spcPct val="50000"/>
              </a:spcBef>
              <a:buClr>
                <a:srgbClr val="FF9900"/>
              </a:buClr>
            </a:pPr>
            <a:r>
              <a:rPr lang="ko-KR" altLang="en-US" sz="1700">
                <a:latin typeface="바탕체" panose="02030609000101010101" pitchFamily="17" charset="-127"/>
                <a:ea typeface="바탕체" panose="02030609000101010101" pitchFamily="17" charset="-127"/>
              </a:rPr>
              <a:t>종합수지</a:t>
            </a:r>
            <a:r>
              <a:rPr lang="en-US" altLang="ko-KR" sz="1700">
                <a:latin typeface="바탕체" panose="02030609000101010101" pitchFamily="17" charset="-127"/>
                <a:ea typeface="바탕체" panose="02030609000101010101" pitchFamily="17" charset="-127"/>
              </a:rPr>
              <a:t>(Overall balance of payment)</a:t>
            </a:r>
            <a:r>
              <a:rPr lang="ko-KR" altLang="en-US" sz="1700">
                <a:latin typeface="바탕체" panose="02030609000101010101" pitchFamily="17" charset="-127"/>
                <a:ea typeface="바탕체" panose="02030609000101010101" pitchFamily="17" charset="-127"/>
              </a:rPr>
              <a:t> 개념</a:t>
            </a:r>
            <a:endParaRPr lang="en-US" altLang="ko-KR" sz="1700">
              <a:latin typeface="바탕체" panose="02030609000101010101" pitchFamily="17" charset="-127"/>
              <a:ea typeface="바탕체" panose="02030609000101010101" pitchFamily="17" charset="-127"/>
            </a:endParaRPr>
          </a:p>
          <a:p>
            <a:pPr eaLnBrk="1" hangingPunct="1">
              <a:spcBef>
                <a:spcPts val="1200"/>
              </a:spcBef>
              <a:spcAft>
                <a:spcPts val="600"/>
              </a:spcAft>
              <a:buFont typeface="바탕체" panose="02030609000101010101" pitchFamily="17" charset="-127"/>
              <a:buChar char="-"/>
            </a:pPr>
            <a:r>
              <a:rPr lang="ko-KR" altLang="en-US" sz="1500">
                <a:latin typeface="바탕체" panose="02030609000101010101" pitchFamily="17" charset="-127"/>
                <a:ea typeface="바탕체" panose="02030609000101010101" pitchFamily="17" charset="-127"/>
              </a:rPr>
              <a:t>경상계정</a:t>
            </a:r>
            <a:r>
              <a:rPr lang="en-US" altLang="ko-KR" sz="1500">
                <a:latin typeface="바탕체" panose="02030609000101010101" pitchFamily="17" charset="-127"/>
                <a:ea typeface="바탕체" panose="02030609000101010101" pitchFamily="17" charset="-127"/>
              </a:rPr>
              <a:t>, </a:t>
            </a:r>
            <a:r>
              <a:rPr lang="ko-KR" altLang="en-US" sz="1500">
                <a:latin typeface="바탕체" panose="02030609000101010101" pitchFamily="17" charset="-127"/>
                <a:ea typeface="바탕체" panose="02030609000101010101" pitchFamily="17" charset="-127"/>
              </a:rPr>
              <a:t>금융계정</a:t>
            </a:r>
            <a:r>
              <a:rPr lang="en-US" altLang="ko-KR" sz="1500">
                <a:latin typeface="바탕체" panose="02030609000101010101" pitchFamily="17" charset="-127"/>
                <a:ea typeface="바탕체" panose="02030609000101010101" pitchFamily="17" charset="-127"/>
              </a:rPr>
              <a:t>(</a:t>
            </a:r>
            <a:r>
              <a:rPr lang="ko-KR" altLang="en-US" sz="1500">
                <a:latin typeface="바탕체" panose="02030609000101010101" pitchFamily="17" charset="-127"/>
                <a:ea typeface="바탕체" panose="02030609000101010101" pitchFamily="17" charset="-127"/>
              </a:rPr>
              <a:t>준비자산 제외</a:t>
            </a:r>
            <a:r>
              <a:rPr lang="en-US" altLang="ko-KR" sz="1500">
                <a:latin typeface="바탕체" panose="02030609000101010101" pitchFamily="17" charset="-127"/>
                <a:ea typeface="바탕체" panose="02030609000101010101" pitchFamily="17" charset="-127"/>
              </a:rPr>
              <a:t>)</a:t>
            </a:r>
            <a:r>
              <a:rPr lang="ko-KR" altLang="en-US" sz="1500">
                <a:latin typeface="바탕체" panose="02030609000101010101" pitchFamily="17" charset="-127"/>
                <a:ea typeface="바탕체" panose="02030609000101010101" pitchFamily="17" charset="-127"/>
              </a:rPr>
              <a:t> 및 자본계정 거래를 모두 자율적 거래로 간주</a:t>
            </a:r>
            <a:endParaRPr lang="en-US" altLang="ko-KR" sz="1500">
              <a:latin typeface="바탕체" panose="02030609000101010101" pitchFamily="17" charset="-127"/>
              <a:ea typeface="바탕체" panose="02030609000101010101" pitchFamily="17" charset="-127"/>
            </a:endParaRPr>
          </a:p>
          <a:p>
            <a:pPr lvl="1" eaLnBrk="1" hangingPunct="1">
              <a:spcBef>
                <a:spcPct val="50000"/>
              </a:spcBef>
              <a:buFont typeface="Arial" panose="020B0604020202020204" pitchFamily="34" charset="0"/>
              <a:buChar char="•"/>
            </a:pPr>
            <a:r>
              <a:rPr lang="en-US" altLang="ko-KR" sz="1500">
                <a:latin typeface="바탕체" panose="02030609000101010101" pitchFamily="17" charset="-127"/>
                <a:ea typeface="바탕체" panose="02030609000101010101" pitchFamily="17" charset="-127"/>
              </a:rPr>
              <a:t>‘</a:t>
            </a:r>
            <a:r>
              <a:rPr lang="ko-KR" altLang="en-US" sz="1500">
                <a:latin typeface="바탕체" panose="02030609000101010101" pitchFamily="17" charset="-127"/>
                <a:ea typeface="바탕체" panose="02030609000101010101" pitchFamily="17" charset="-127"/>
              </a:rPr>
              <a:t>공적결제수지</a:t>
            </a:r>
            <a:r>
              <a:rPr lang="en-US" altLang="ko-KR" sz="1500">
                <a:latin typeface="바탕체" panose="02030609000101010101" pitchFamily="17" charset="-127"/>
                <a:ea typeface="바탕체" panose="02030609000101010101" pitchFamily="17" charset="-127"/>
              </a:rPr>
              <a:t>(official settlement balance)’</a:t>
            </a:r>
            <a:r>
              <a:rPr lang="ko-KR" altLang="en-US" sz="1500">
                <a:latin typeface="바탕체" panose="02030609000101010101" pitchFamily="17" charset="-127"/>
                <a:ea typeface="바탕체" panose="02030609000101010101" pitchFamily="17" charset="-127"/>
              </a:rPr>
              <a:t>라고도 부름</a:t>
            </a:r>
            <a:endParaRPr lang="en-US" altLang="ko-KR" sz="1500">
              <a:latin typeface="바탕체" panose="02030609000101010101" pitchFamily="17" charset="-127"/>
              <a:ea typeface="바탕체" panose="02030609000101010101" pitchFamily="17" charset="-127"/>
            </a:endParaRPr>
          </a:p>
          <a:p>
            <a:pPr eaLnBrk="1" hangingPunct="1">
              <a:spcBef>
                <a:spcPts val="2400"/>
              </a:spcBef>
              <a:buFontTx/>
              <a:buChar char="-"/>
            </a:pPr>
            <a:r>
              <a:rPr lang="ko-KR" altLang="en-US" sz="1500">
                <a:latin typeface="바탕체" panose="02030609000101010101" pitchFamily="17" charset="-127"/>
                <a:ea typeface="바탕체" panose="02030609000101010101" pitchFamily="17" charset="-127"/>
              </a:rPr>
              <a:t>종합수지 균형</a:t>
            </a:r>
            <a:r>
              <a:rPr lang="en-US" altLang="ko-KR" sz="1500">
                <a:latin typeface="바탕체" panose="02030609000101010101" pitchFamily="17" charset="-127"/>
                <a:ea typeface="바탕체" panose="02030609000101010101" pitchFamily="17" charset="-127"/>
              </a:rPr>
              <a:t>(equilibrium)</a:t>
            </a:r>
            <a:r>
              <a:rPr lang="ko-KR" altLang="en-US" sz="1500">
                <a:latin typeface="바탕체" panose="02030609000101010101" pitchFamily="17" charset="-127"/>
                <a:ea typeface="바탕체" panose="02030609000101010101" pitchFamily="17" charset="-127"/>
              </a:rPr>
              <a:t>은 외환의 수요</a:t>
            </a:r>
            <a:r>
              <a:rPr lang="en-US" altLang="ko-KR" sz="1500">
                <a:latin typeface="바탕체" panose="02030609000101010101" pitchFamily="17" charset="-127"/>
                <a:ea typeface="바탕체" panose="02030609000101010101" pitchFamily="17" charset="-127"/>
              </a:rPr>
              <a:t>(demand)</a:t>
            </a:r>
            <a:r>
              <a:rPr lang="ko-KR" altLang="en-US" sz="1500">
                <a:latin typeface="바탕체" panose="02030609000101010101" pitchFamily="17" charset="-127"/>
                <a:ea typeface="바탕체" panose="02030609000101010101" pitchFamily="17" charset="-127"/>
              </a:rPr>
              <a:t>와 공급</a:t>
            </a:r>
            <a:r>
              <a:rPr lang="en-US" altLang="ko-KR" sz="1500">
                <a:latin typeface="바탕체" panose="02030609000101010101" pitchFamily="17" charset="-127"/>
                <a:ea typeface="바탕체" panose="02030609000101010101" pitchFamily="17" charset="-127"/>
              </a:rPr>
              <a:t>(supply)</a:t>
            </a:r>
            <a:r>
              <a:rPr lang="ko-KR" altLang="en-US" sz="1500">
                <a:latin typeface="바탕체" panose="02030609000101010101" pitchFamily="17" charset="-127"/>
                <a:ea typeface="바탕체" panose="02030609000101010101" pitchFamily="17" charset="-127"/>
              </a:rPr>
              <a:t>이 일치함을 의미</a:t>
            </a:r>
            <a:endParaRPr lang="en-US" altLang="ko-KR" sz="1500">
              <a:latin typeface="바탕체" panose="02030609000101010101" pitchFamily="17" charset="-127"/>
              <a:ea typeface="바탕체" panose="02030609000101010101" pitchFamily="17" charset="-127"/>
            </a:endParaRPr>
          </a:p>
          <a:p>
            <a:pPr lvl="1" eaLnBrk="1" hangingPunct="1">
              <a:spcBef>
                <a:spcPct val="50000"/>
              </a:spcBef>
              <a:buFont typeface="Arial" panose="020B0604020202020204" pitchFamily="34" charset="0"/>
              <a:buChar char="•"/>
            </a:pPr>
            <a:r>
              <a:rPr lang="ko-KR" altLang="en-US" sz="1500">
                <a:latin typeface="바탕체" panose="02030609000101010101" pitchFamily="17" charset="-127"/>
                <a:ea typeface="바탕체" panose="02030609000101010101" pitchFamily="17" charset="-127"/>
              </a:rPr>
              <a:t>외환의 수요와 공급은 경상거래</a:t>
            </a:r>
            <a:r>
              <a:rPr lang="en-US" altLang="ko-KR" sz="1500">
                <a:latin typeface="바탕체" panose="02030609000101010101" pitchFamily="17" charset="-127"/>
                <a:ea typeface="바탕체" panose="02030609000101010101" pitchFamily="17" charset="-127"/>
              </a:rPr>
              <a:t>, </a:t>
            </a:r>
            <a:r>
              <a:rPr lang="ko-KR" altLang="en-US" sz="1500">
                <a:latin typeface="바탕체" panose="02030609000101010101" pitchFamily="17" charset="-127"/>
                <a:ea typeface="바탕체" panose="02030609000101010101" pitchFamily="17" charset="-127"/>
              </a:rPr>
              <a:t>금융거래</a:t>
            </a:r>
            <a:r>
              <a:rPr lang="en-US" altLang="ko-KR" sz="1500">
                <a:latin typeface="바탕체" panose="02030609000101010101" pitchFamily="17" charset="-127"/>
                <a:ea typeface="바탕체" panose="02030609000101010101" pitchFamily="17" charset="-127"/>
              </a:rPr>
              <a:t>(</a:t>
            </a:r>
            <a:r>
              <a:rPr lang="ko-KR" altLang="en-US" sz="1500">
                <a:latin typeface="바탕체" panose="02030609000101010101" pitchFamily="17" charset="-127"/>
                <a:ea typeface="바탕체" panose="02030609000101010101" pitchFamily="17" charset="-127"/>
              </a:rPr>
              <a:t>준비자산 제외</a:t>
            </a:r>
            <a:r>
              <a:rPr lang="en-US" altLang="ko-KR" sz="1500">
                <a:latin typeface="바탕체" panose="02030609000101010101" pitchFamily="17" charset="-127"/>
                <a:ea typeface="바탕체" panose="02030609000101010101" pitchFamily="17" charset="-127"/>
              </a:rPr>
              <a:t>)</a:t>
            </a:r>
            <a:r>
              <a:rPr lang="ko-KR" altLang="en-US" sz="1500">
                <a:latin typeface="바탕체" panose="02030609000101010101" pitchFamily="17" charset="-127"/>
                <a:ea typeface="바탕체" panose="02030609000101010101" pitchFamily="17" charset="-127"/>
              </a:rPr>
              <a:t> 및 자본거래에 의해 발생</a:t>
            </a:r>
            <a:endParaRPr lang="en-US" altLang="ko-KR" sz="1500">
              <a:latin typeface="바탕체" panose="02030609000101010101" pitchFamily="17" charset="-127"/>
              <a:ea typeface="바탕체" panose="02030609000101010101" pitchFamily="17" charset="-127"/>
            </a:endParaRPr>
          </a:p>
          <a:p>
            <a:pPr lvl="1" eaLnBrk="1" hangingPunct="1">
              <a:spcBef>
                <a:spcPct val="50000"/>
              </a:spcBef>
              <a:buFont typeface="Arial" panose="020B0604020202020204" pitchFamily="34" charset="0"/>
              <a:buChar char="•"/>
            </a:pPr>
            <a:r>
              <a:rPr lang="ko-KR" altLang="en-US" sz="1500">
                <a:latin typeface="바탕체" panose="02030609000101010101" pitchFamily="17" charset="-127"/>
                <a:ea typeface="바탕체" panose="02030609000101010101" pitchFamily="17" charset="-127"/>
              </a:rPr>
              <a:t>국제수지 항등성</a:t>
            </a:r>
            <a:r>
              <a:rPr lang="en-US" altLang="ko-KR" sz="1500">
                <a:latin typeface="바탕체" panose="02030609000101010101" pitchFamily="17" charset="-127"/>
                <a:ea typeface="바탕체" panose="02030609000101010101" pitchFamily="17" charset="-127"/>
              </a:rPr>
              <a:t>: </a:t>
            </a:r>
            <a:r>
              <a:rPr lang="ko-KR" altLang="en-US" sz="1500">
                <a:latin typeface="바탕체" panose="02030609000101010101" pitchFamily="17" charset="-127"/>
                <a:ea typeface="바탕체" panose="02030609000101010101" pitchFamily="17" charset="-127"/>
              </a:rPr>
              <a:t>종합수지 </a:t>
            </a:r>
            <a:r>
              <a:rPr lang="en-US" altLang="ko-KR" sz="1500">
                <a:latin typeface="바탕체" panose="02030609000101010101" pitchFamily="17" charset="-127"/>
                <a:ea typeface="바탕체" panose="02030609000101010101" pitchFamily="17" charset="-127"/>
              </a:rPr>
              <a:t>– </a:t>
            </a:r>
            <a:r>
              <a:rPr lang="ko-KR" altLang="en-US" sz="1500">
                <a:latin typeface="바탕체" panose="02030609000101010101" pitchFamily="17" charset="-127"/>
                <a:ea typeface="바탕체" panose="02030609000101010101" pitchFamily="17" charset="-127"/>
              </a:rPr>
              <a:t>준비자산증감 </a:t>
            </a:r>
            <a:r>
              <a:rPr lang="en-US" altLang="ko-KR" sz="1500">
                <a:latin typeface="바탕체" panose="02030609000101010101" pitchFamily="17" charset="-127"/>
                <a:ea typeface="바탕체" panose="02030609000101010101" pitchFamily="17" charset="-127"/>
              </a:rPr>
              <a:t>= 0</a:t>
            </a:r>
          </a:p>
          <a:p>
            <a:pPr lvl="1" eaLnBrk="1" hangingPunct="1">
              <a:spcBef>
                <a:spcPct val="50000"/>
              </a:spcBef>
              <a:buFont typeface="Arial" panose="020B0604020202020204" pitchFamily="34" charset="0"/>
              <a:buChar char="•"/>
            </a:pPr>
            <a:r>
              <a:rPr lang="ko-KR" altLang="en-US" sz="1500">
                <a:latin typeface="바탕체" panose="02030609000101010101" pitchFamily="17" charset="-127"/>
                <a:ea typeface="바탕체" panose="02030609000101010101" pitchFamily="17" charset="-127"/>
              </a:rPr>
              <a:t>종합수지 불균형은 통화당국이 외환보유액</a:t>
            </a:r>
            <a:r>
              <a:rPr lang="en-US" altLang="ko-KR" sz="1500">
                <a:latin typeface="바탕체" panose="02030609000101010101" pitchFamily="17" charset="-127"/>
                <a:ea typeface="바탕체" panose="02030609000101010101" pitchFamily="17" charset="-127"/>
              </a:rPr>
              <a:t>(reserve account)</a:t>
            </a:r>
            <a:r>
              <a:rPr lang="ko-KR" altLang="en-US" sz="1500">
                <a:latin typeface="바탕체" panose="02030609000101010101" pitchFamily="17" charset="-127"/>
                <a:ea typeface="바탕체" panose="02030609000101010101" pitchFamily="17" charset="-127"/>
              </a:rPr>
              <a:t>을 이용해 조정해야 함</a:t>
            </a:r>
            <a:endParaRPr lang="en-US" altLang="ko-KR" sz="1500">
              <a:latin typeface="바탕체" panose="02030609000101010101" pitchFamily="17" charset="-127"/>
              <a:ea typeface="바탕체" panose="02030609000101010101" pitchFamily="17" charset="-127"/>
            </a:endParaRPr>
          </a:p>
          <a:p>
            <a:pPr lvl="1" eaLnBrk="1" hangingPunct="1">
              <a:spcBef>
                <a:spcPct val="50000"/>
              </a:spcBef>
              <a:buFont typeface="Arial" panose="020B0604020202020204" pitchFamily="34" charset="0"/>
              <a:buChar char="•"/>
            </a:pPr>
            <a:r>
              <a:rPr lang="ko-KR" altLang="en-US" sz="1500">
                <a:latin typeface="바탕체" panose="02030609000101010101" pitchFamily="17" charset="-127"/>
                <a:ea typeface="바탕체" panose="02030609000101010101" pitchFamily="17" charset="-127"/>
              </a:rPr>
              <a:t>종합수지 흑자</a:t>
            </a:r>
            <a:r>
              <a:rPr lang="en-US" altLang="ko-KR" sz="1500">
                <a:latin typeface="바탕체" panose="02030609000101010101" pitchFamily="17" charset="-127"/>
                <a:ea typeface="바탕체" panose="02030609000101010101" pitchFamily="17" charset="-127"/>
              </a:rPr>
              <a:t>(</a:t>
            </a:r>
            <a:r>
              <a:rPr lang="ko-KR" altLang="en-US" sz="1500">
                <a:latin typeface="바탕체" panose="02030609000101010101" pitchFamily="17" charset="-127"/>
                <a:ea typeface="바탕체" panose="02030609000101010101" pitchFamily="17" charset="-127"/>
              </a:rPr>
              <a:t>적자</a:t>
            </a:r>
            <a:r>
              <a:rPr lang="en-US" altLang="ko-KR" sz="1500">
                <a:latin typeface="바탕체" panose="02030609000101010101" pitchFamily="17" charset="-127"/>
                <a:ea typeface="바탕체" panose="02030609000101010101" pitchFamily="17" charset="-127"/>
              </a:rPr>
              <a:t>)</a:t>
            </a:r>
            <a:r>
              <a:rPr lang="ko-KR" altLang="en-US" sz="1500">
                <a:latin typeface="바탕체" panose="02030609000101010101" pitchFamily="17" charset="-127"/>
                <a:ea typeface="바탕체" panose="02030609000101010101" pitchFamily="17" charset="-127"/>
              </a:rPr>
              <a:t>는 외환보유액 증가</a:t>
            </a:r>
            <a:r>
              <a:rPr lang="en-US" altLang="ko-KR" sz="1500">
                <a:latin typeface="바탕체" panose="02030609000101010101" pitchFamily="17" charset="-127"/>
                <a:ea typeface="바탕체" panose="02030609000101010101" pitchFamily="17" charset="-127"/>
              </a:rPr>
              <a:t>(</a:t>
            </a:r>
            <a:r>
              <a:rPr lang="ko-KR" altLang="en-US" sz="1500">
                <a:latin typeface="바탕체" panose="02030609000101010101" pitchFamily="17" charset="-127"/>
                <a:ea typeface="바탕체" panose="02030609000101010101" pitchFamily="17" charset="-127"/>
              </a:rPr>
              <a:t>감소</a:t>
            </a:r>
            <a:r>
              <a:rPr lang="en-US" altLang="ko-KR" sz="1500">
                <a:latin typeface="바탕체" panose="02030609000101010101" pitchFamily="17" charset="-127"/>
                <a:ea typeface="바탕체" panose="02030609000101010101" pitchFamily="17" charset="-127"/>
              </a:rPr>
              <a:t>)</a:t>
            </a:r>
            <a:r>
              <a:rPr lang="ko-KR" altLang="en-US" sz="1500">
                <a:latin typeface="바탕체" panose="02030609000101010101" pitchFamily="17" charset="-127"/>
                <a:ea typeface="바탕체" panose="02030609000101010101" pitchFamily="17" charset="-127"/>
              </a:rPr>
              <a:t>를 가져옴</a:t>
            </a:r>
          </a:p>
          <a:p>
            <a:pPr eaLnBrk="1" hangingPunct="1">
              <a:spcBef>
                <a:spcPts val="2400"/>
              </a:spcBef>
              <a:buFontTx/>
              <a:buChar char="-"/>
            </a:pPr>
            <a:r>
              <a:rPr lang="ko-KR" altLang="en-US" sz="1500">
                <a:latin typeface="바탕체" panose="02030609000101010101" pitchFamily="17" charset="-127"/>
                <a:ea typeface="바탕체" panose="02030609000101010101" pitchFamily="17" charset="-127"/>
              </a:rPr>
              <a:t>금융글로벌화에 따른 개방경제분석에서 점점 중요시되는 국제수지 개념</a:t>
            </a:r>
            <a:endParaRPr lang="en-US" altLang="ko-KR" sz="1500">
              <a:latin typeface="바탕체" panose="02030609000101010101" pitchFamily="17" charset="-127"/>
              <a:ea typeface="바탕체" panose="02030609000101010101" pitchFamily="17" charset="-127"/>
            </a:endParaRPr>
          </a:p>
          <a:p>
            <a:pPr lvl="1" eaLnBrk="1" hangingPunct="1">
              <a:spcBef>
                <a:spcPct val="50000"/>
              </a:spcBef>
              <a:buFont typeface="Arial" panose="020B0604020202020204" pitchFamily="34" charset="0"/>
              <a:buChar char="•"/>
            </a:pPr>
            <a:r>
              <a:rPr lang="ko-KR" altLang="en-US" sz="1500">
                <a:latin typeface="바탕체" panose="02030609000101010101" pitchFamily="17" charset="-127"/>
                <a:ea typeface="바탕체" panose="02030609000101010101" pitchFamily="17" charset="-127"/>
              </a:rPr>
              <a:t>자본이동이 자유로운 개방경제에서 경상거래와 금융거래는 서로 연계되어 있음</a:t>
            </a:r>
            <a:endParaRPr lang="en-US" altLang="ko-KR" sz="1500">
              <a:latin typeface="바탕체" panose="02030609000101010101" pitchFamily="17" charset="-127"/>
              <a:ea typeface="바탕체" panose="02030609000101010101" pitchFamily="17" charset="-127"/>
            </a:endParaRPr>
          </a:p>
          <a:p>
            <a:pPr eaLnBrk="1" hangingPunct="1"/>
            <a:endParaRPr lang="ko-KR" altLang="en-US" sz="17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제목 1"/>
          <p:cNvSpPr>
            <a:spLocks noGrp="1" noChangeArrowheads="1"/>
          </p:cNvSpPr>
          <p:nvPr>
            <p:ph type="title"/>
          </p:nvPr>
        </p:nvSpPr>
        <p:spPr>
          <a:xfrm>
            <a:off x="457200" y="868363"/>
            <a:ext cx="8229600" cy="549275"/>
          </a:xfrm>
        </p:spPr>
        <p:txBody>
          <a:bodyPr/>
          <a:lstStyle/>
          <a:p>
            <a:pPr algn="l" eaLnBrk="1" hangingPunct="1"/>
            <a:r>
              <a:rPr lang="ko-KR" altLang="en-US" sz="2700"/>
              <a:t>제</a:t>
            </a:r>
            <a:r>
              <a:rPr lang="en-US" altLang="ko-KR" sz="2700"/>
              <a:t>2</a:t>
            </a:r>
            <a:r>
              <a:rPr lang="ko-KR" altLang="en-US" sz="2700"/>
              <a:t>절 국제수지의 종류</a:t>
            </a:r>
            <a:r>
              <a:rPr lang="en-US" altLang="ko-KR" sz="2700"/>
              <a:t>: </a:t>
            </a:r>
            <a:r>
              <a:rPr lang="ko-KR" altLang="en-US" sz="2700"/>
              <a:t>국제수지 균형의 의미</a:t>
            </a:r>
          </a:p>
        </p:txBody>
      </p:sp>
      <p:sp>
        <p:nvSpPr>
          <p:cNvPr id="3" name="내용 개체 틀 2"/>
          <p:cNvSpPr>
            <a:spLocks noGrp="1"/>
          </p:cNvSpPr>
          <p:nvPr>
            <p:ph idx="1"/>
          </p:nvPr>
        </p:nvSpPr>
        <p:spPr>
          <a:xfrm>
            <a:off x="457200" y="1600200"/>
            <a:ext cx="8229600" cy="5068888"/>
          </a:xfrm>
        </p:spPr>
        <p:txBody>
          <a:bodyPr/>
          <a:lstStyle/>
          <a:p>
            <a:pPr eaLnBrk="1" hangingPunct="1">
              <a:spcBef>
                <a:spcPct val="30000"/>
              </a:spcBef>
              <a:buClr>
                <a:srgbClr val="FF9900"/>
              </a:buClr>
              <a:defRPr/>
            </a:pPr>
            <a:r>
              <a:rPr lang="ko-KR" altLang="en-US" sz="1700" dirty="0">
                <a:latin typeface="바탕체" panose="02030609000101010101" pitchFamily="17" charset="-127"/>
                <a:ea typeface="바탕체" panose="02030609000101010101" pitchFamily="17" charset="-127"/>
              </a:rPr>
              <a:t>국제수지 균형 달성은 완전고용</a:t>
            </a:r>
            <a:r>
              <a:rPr lang="en-US" altLang="ko-KR" sz="1700" dirty="0">
                <a:latin typeface="바탕체" panose="02030609000101010101" pitchFamily="17" charset="-127"/>
                <a:ea typeface="바탕체" panose="02030609000101010101" pitchFamily="17" charset="-127"/>
              </a:rPr>
              <a:t>, </a:t>
            </a:r>
            <a:r>
              <a:rPr lang="ko-KR" altLang="en-US" sz="1700" dirty="0">
                <a:latin typeface="바탕체" panose="02030609000101010101" pitchFamily="17" charset="-127"/>
                <a:ea typeface="바탕체" panose="02030609000101010101" pitchFamily="17" charset="-127"/>
              </a:rPr>
              <a:t>물가안정과 함께 중요한 경제정책 목표</a:t>
            </a:r>
            <a:endParaRPr lang="en-US" altLang="ko-KR" sz="1700" dirty="0">
              <a:latin typeface="바탕체" panose="02030609000101010101" pitchFamily="17" charset="-127"/>
              <a:ea typeface="바탕체" panose="02030609000101010101" pitchFamily="17" charset="-127"/>
            </a:endParaRPr>
          </a:p>
          <a:p>
            <a:pPr marL="261938" indent="-261938" eaLnBrk="1" hangingPunct="1">
              <a:spcBef>
                <a:spcPts val="1800"/>
              </a:spcBef>
              <a:spcAft>
                <a:spcPts val="600"/>
              </a:spcAft>
              <a:buClr>
                <a:srgbClr val="FF9900"/>
              </a:buClr>
              <a:defRPr/>
            </a:pPr>
            <a:r>
              <a:rPr lang="ko-KR" altLang="en-US" sz="1700" dirty="0">
                <a:latin typeface="바탕체" panose="02030609000101010101" pitchFamily="17" charset="-127"/>
                <a:ea typeface="바탕체" panose="02030609000101010101" pitchFamily="17" charset="-127"/>
              </a:rPr>
              <a:t>국제수지의 </a:t>
            </a:r>
            <a:r>
              <a:rPr lang="ko-KR" altLang="en-US" sz="1700" dirty="0" err="1">
                <a:latin typeface="바탕체" panose="02030609000101010101" pitchFamily="17" charset="-127"/>
                <a:ea typeface="바탕체" panose="02030609000101010101" pitchFamily="17" charset="-127"/>
              </a:rPr>
              <a:t>항등성</a:t>
            </a:r>
            <a:r>
              <a:rPr lang="en-US" altLang="ko-KR" sz="1700" dirty="0">
                <a:latin typeface="바탕체" panose="02030609000101010101" pitchFamily="17" charset="-127"/>
                <a:ea typeface="바탕체" panose="02030609000101010101" pitchFamily="17" charset="-127"/>
              </a:rPr>
              <a:t>(equivalence)</a:t>
            </a:r>
          </a:p>
          <a:p>
            <a:pPr eaLnBrk="1" hangingPunct="1">
              <a:spcBef>
                <a:spcPct val="50000"/>
              </a:spcBef>
              <a:buFontTx/>
              <a:buChar char="-"/>
              <a:defRPr/>
            </a:pPr>
            <a:r>
              <a:rPr lang="ko-KR" altLang="en-US" sz="1500" dirty="0">
                <a:latin typeface="바탕체" panose="02030609000101010101" pitchFamily="17" charset="-127"/>
                <a:ea typeface="바탕체" panose="02030609000101010101" pitchFamily="17" charset="-127"/>
              </a:rPr>
              <a:t>국제수지표상 대변</a:t>
            </a:r>
            <a:r>
              <a:rPr lang="en-US" altLang="ko-KR" sz="1500" dirty="0">
                <a:latin typeface="바탕체" panose="02030609000101010101" pitchFamily="17" charset="-127"/>
                <a:ea typeface="바탕체" panose="02030609000101010101" pitchFamily="17" charset="-127"/>
              </a:rPr>
              <a:t>(credit)</a:t>
            </a:r>
            <a:r>
              <a:rPr lang="ko-KR" altLang="en-US" sz="1500" dirty="0">
                <a:latin typeface="바탕체" panose="02030609000101010101" pitchFamily="17" charset="-127"/>
                <a:ea typeface="바탕체" panose="02030609000101010101" pitchFamily="17" charset="-127"/>
              </a:rPr>
              <a:t>의 총합과 </a:t>
            </a:r>
            <a:r>
              <a:rPr lang="ko-KR" altLang="en-US" sz="1500" dirty="0" err="1">
                <a:latin typeface="바탕체" panose="02030609000101010101" pitchFamily="17" charset="-127"/>
                <a:ea typeface="바탕체" panose="02030609000101010101" pitchFamily="17" charset="-127"/>
              </a:rPr>
              <a:t>차변</a:t>
            </a:r>
            <a:r>
              <a:rPr lang="en-US" altLang="ko-KR" sz="1500" dirty="0">
                <a:latin typeface="바탕체" panose="02030609000101010101" pitchFamily="17" charset="-127"/>
                <a:ea typeface="바탕체" panose="02030609000101010101" pitchFamily="17" charset="-127"/>
              </a:rPr>
              <a:t>(debit)</a:t>
            </a:r>
            <a:r>
              <a:rPr lang="ko-KR" altLang="en-US" sz="1500" dirty="0">
                <a:latin typeface="바탕체" panose="02030609000101010101" pitchFamily="17" charset="-127"/>
                <a:ea typeface="바탕체" panose="02030609000101010101" pitchFamily="17" charset="-127"/>
              </a:rPr>
              <a:t>의 총합은 사후적으로 항상 일치</a:t>
            </a:r>
            <a:endParaRPr lang="en-US" altLang="ko-KR" sz="1500" dirty="0">
              <a:latin typeface="바탕체" panose="02030609000101010101" pitchFamily="17" charset="-127"/>
              <a:ea typeface="바탕체" panose="02030609000101010101" pitchFamily="17" charset="-127"/>
            </a:endParaRPr>
          </a:p>
          <a:p>
            <a:pPr eaLnBrk="1" hangingPunct="1">
              <a:spcBef>
                <a:spcPct val="50000"/>
              </a:spcBef>
              <a:buFontTx/>
              <a:buChar char="-"/>
              <a:defRPr/>
            </a:pPr>
            <a:r>
              <a:rPr lang="ko-KR" altLang="en-US" sz="1500" dirty="0" err="1">
                <a:latin typeface="바탕체" panose="02030609000101010101" pitchFamily="17" charset="-127"/>
                <a:ea typeface="바탕체" panose="02030609000101010101" pitchFamily="17" charset="-127"/>
              </a:rPr>
              <a:t>복식부기원리</a:t>
            </a:r>
            <a:r>
              <a:rPr lang="en-US" altLang="ko-KR" sz="1500" dirty="0">
                <a:latin typeface="바탕체" panose="02030609000101010101" pitchFamily="17" charset="-127"/>
                <a:ea typeface="바탕체" panose="02030609000101010101" pitchFamily="17" charset="-127"/>
              </a:rPr>
              <a:t>(Double-entry bookkeeping)</a:t>
            </a:r>
            <a:r>
              <a:rPr lang="ko-KR" altLang="en-US" sz="1500" dirty="0">
                <a:latin typeface="바탕체" panose="02030609000101010101" pitchFamily="17" charset="-127"/>
                <a:ea typeface="바탕체" panose="02030609000101010101" pitchFamily="17" charset="-127"/>
              </a:rPr>
              <a:t>에 따라 모든 거래는 대변</a:t>
            </a:r>
            <a:r>
              <a:rPr lang="en-US" altLang="ko-KR" sz="1500" dirty="0">
                <a:latin typeface="바탕체" panose="02030609000101010101" pitchFamily="17" charset="-127"/>
                <a:ea typeface="바탕체" panose="02030609000101010101" pitchFamily="17" charset="-127"/>
              </a:rPr>
              <a:t>(credit) </a:t>
            </a:r>
            <a:r>
              <a:rPr lang="ko-KR" altLang="en-US" sz="1500" dirty="0">
                <a:latin typeface="바탕체" panose="02030609000101010101" pitchFamily="17" charset="-127"/>
                <a:ea typeface="바탕체" panose="02030609000101010101" pitchFamily="17" charset="-127"/>
              </a:rPr>
              <a:t>과 </a:t>
            </a:r>
            <a:r>
              <a:rPr lang="ko-KR" altLang="en-US" sz="1500" dirty="0" err="1">
                <a:latin typeface="바탕체" panose="02030609000101010101" pitchFamily="17" charset="-127"/>
                <a:ea typeface="바탕체" panose="02030609000101010101" pitchFamily="17" charset="-127"/>
              </a:rPr>
              <a:t>차변</a:t>
            </a:r>
            <a:r>
              <a:rPr lang="en-US" altLang="ko-KR" sz="1500" dirty="0">
                <a:latin typeface="바탕체" panose="02030609000101010101" pitchFamily="17" charset="-127"/>
                <a:ea typeface="바탕체" panose="02030609000101010101" pitchFamily="17" charset="-127"/>
              </a:rPr>
              <a:t> (debit)</a:t>
            </a:r>
            <a:r>
              <a:rPr lang="ko-KR" altLang="en-US" sz="1500" dirty="0">
                <a:latin typeface="바탕체" panose="02030609000101010101" pitchFamily="17" charset="-127"/>
                <a:ea typeface="바탕체" panose="02030609000101010101" pitchFamily="17" charset="-127"/>
              </a:rPr>
              <a:t>에 동시에 한 번씩 기재되기 때문</a:t>
            </a:r>
            <a:endParaRPr lang="en-US" altLang="ko-KR" sz="1500" dirty="0">
              <a:latin typeface="바탕체" panose="02030609000101010101" pitchFamily="17" charset="-127"/>
              <a:ea typeface="바탕체" panose="02030609000101010101" pitchFamily="17" charset="-127"/>
            </a:endParaRPr>
          </a:p>
          <a:p>
            <a:pPr lvl="1" eaLnBrk="1" hangingPunct="1">
              <a:lnSpc>
                <a:spcPct val="120000"/>
              </a:lnSpc>
              <a:buFont typeface="Arial" panose="020B0604020202020204" pitchFamily="34" charset="0"/>
              <a:buChar char="•"/>
              <a:defRPr/>
            </a:pPr>
            <a:r>
              <a:rPr lang="ko-KR" altLang="en-US" sz="1400" dirty="0">
                <a:latin typeface="바탕체" panose="02030609000101010101" pitchFamily="17" charset="-127"/>
                <a:ea typeface="바탕체" panose="02030609000101010101" pitchFamily="17" charset="-127"/>
              </a:rPr>
              <a:t>대변</a:t>
            </a:r>
            <a:r>
              <a:rPr lang="en-US" altLang="ko-KR" sz="1400" dirty="0">
                <a:latin typeface="바탕체" panose="02030609000101010101" pitchFamily="17" charset="-127"/>
                <a:ea typeface="바탕체" panose="02030609000101010101" pitchFamily="17" charset="-127"/>
              </a:rPr>
              <a:t>(credit)</a:t>
            </a:r>
            <a:r>
              <a:rPr lang="ko-KR" altLang="en-US" sz="1400" dirty="0">
                <a:latin typeface="바탕체" panose="02030609000101010101" pitchFamily="17" charset="-127"/>
                <a:ea typeface="바탕체" panose="02030609000101010101" pitchFamily="17" charset="-127"/>
              </a:rPr>
              <a:t>은 외국에서 자국으로 자금이 유입되는 거래</a:t>
            </a:r>
            <a:r>
              <a:rPr lang="en-US" altLang="ko-KR" sz="1400" dirty="0">
                <a:latin typeface="바탕체" panose="02030609000101010101" pitchFamily="17" charset="-127"/>
                <a:ea typeface="바탕체" panose="02030609000101010101" pitchFamily="17" charset="-127"/>
              </a:rPr>
              <a:t>(+)</a:t>
            </a:r>
          </a:p>
          <a:p>
            <a:pPr lvl="1" eaLnBrk="1" hangingPunct="1">
              <a:lnSpc>
                <a:spcPct val="120000"/>
              </a:lnSpc>
              <a:buFont typeface="Arial" panose="020B0604020202020204" pitchFamily="34" charset="0"/>
              <a:buChar char="•"/>
              <a:defRPr/>
            </a:pPr>
            <a:r>
              <a:rPr lang="ko-KR" altLang="en-US" sz="1400" dirty="0" err="1">
                <a:latin typeface="바탕체" panose="02030609000101010101" pitchFamily="17" charset="-127"/>
                <a:ea typeface="바탕체" panose="02030609000101010101" pitchFamily="17" charset="-127"/>
              </a:rPr>
              <a:t>차변</a:t>
            </a:r>
            <a:r>
              <a:rPr lang="en-US" altLang="ko-KR" sz="1400" dirty="0">
                <a:latin typeface="바탕체" panose="02030609000101010101" pitchFamily="17" charset="-127"/>
                <a:ea typeface="바탕체" panose="02030609000101010101" pitchFamily="17" charset="-127"/>
              </a:rPr>
              <a:t>(debit)</a:t>
            </a:r>
            <a:r>
              <a:rPr lang="ko-KR" altLang="en-US" sz="1400" dirty="0">
                <a:latin typeface="바탕체" panose="02030609000101010101" pitchFamily="17" charset="-127"/>
                <a:ea typeface="바탕체" panose="02030609000101010101" pitchFamily="17" charset="-127"/>
              </a:rPr>
              <a:t>은 자국에서 외국으로 자금이 유출되는 거래</a:t>
            </a:r>
            <a:r>
              <a:rPr lang="en-US" altLang="ko-KR" sz="1400" dirty="0">
                <a:latin typeface="바탕체" panose="02030609000101010101" pitchFamily="17" charset="-127"/>
                <a:ea typeface="바탕체" panose="02030609000101010101" pitchFamily="17" charset="-127"/>
              </a:rPr>
              <a:t>(-)</a:t>
            </a:r>
            <a:endParaRPr lang="en-US" altLang="ko-KR" sz="1700" dirty="0">
              <a:latin typeface="바탕체" panose="02030609000101010101" pitchFamily="17" charset="-127"/>
              <a:ea typeface="바탕체" panose="02030609000101010101" pitchFamily="17" charset="-127"/>
            </a:endParaRPr>
          </a:p>
          <a:p>
            <a:pPr marL="261938" indent="-261938" eaLnBrk="1" hangingPunct="1">
              <a:spcBef>
                <a:spcPts val="1800"/>
              </a:spcBef>
              <a:buClr>
                <a:srgbClr val="FF9900"/>
              </a:buClr>
              <a:defRPr/>
            </a:pPr>
            <a:r>
              <a:rPr lang="ko-KR" altLang="en-US" sz="1700" dirty="0">
                <a:latin typeface="바탕체" panose="02030609000101010101" pitchFamily="17" charset="-127"/>
                <a:ea typeface="바탕체" panose="02030609000101010101" pitchFamily="17" charset="-127"/>
              </a:rPr>
              <a:t>그러나 이는 국제수지표상의 모든 계정</a:t>
            </a:r>
            <a:r>
              <a:rPr lang="en-US" altLang="ko-KR" sz="1700" dirty="0">
                <a:latin typeface="바탕체" panose="02030609000101010101" pitchFamily="17" charset="-127"/>
                <a:ea typeface="바탕체" panose="02030609000101010101" pitchFamily="17" charset="-127"/>
              </a:rPr>
              <a:t>(</a:t>
            </a:r>
            <a:r>
              <a:rPr lang="ko-KR" altLang="en-US" sz="1700" dirty="0">
                <a:latin typeface="바탕체" panose="02030609000101010101" pitchFamily="17" charset="-127"/>
                <a:ea typeface="바탕체" panose="02030609000101010101" pitchFamily="17" charset="-127"/>
              </a:rPr>
              <a:t>경상계정</a:t>
            </a:r>
            <a:r>
              <a:rPr lang="en-US" altLang="ko-KR" sz="1700" dirty="0">
                <a:latin typeface="바탕체" panose="02030609000101010101" pitchFamily="17" charset="-127"/>
                <a:ea typeface="바탕체" panose="02030609000101010101" pitchFamily="17" charset="-127"/>
              </a:rPr>
              <a:t>, </a:t>
            </a:r>
            <a:r>
              <a:rPr lang="ko-KR" altLang="en-US" sz="1700" dirty="0">
                <a:latin typeface="바탕체" panose="02030609000101010101" pitchFamily="17" charset="-127"/>
                <a:ea typeface="바탕체" panose="02030609000101010101" pitchFamily="17" charset="-127"/>
              </a:rPr>
              <a:t>금융계정</a:t>
            </a:r>
            <a:r>
              <a:rPr lang="en-US" altLang="ko-KR" sz="1700" dirty="0">
                <a:latin typeface="바탕체" panose="02030609000101010101" pitchFamily="17" charset="-127"/>
                <a:ea typeface="바탕체" panose="02030609000101010101" pitchFamily="17" charset="-127"/>
              </a:rPr>
              <a:t>, </a:t>
            </a:r>
            <a:r>
              <a:rPr lang="ko-KR" altLang="en-US" sz="1700" dirty="0">
                <a:latin typeface="바탕체" panose="02030609000101010101" pitchFamily="17" charset="-127"/>
                <a:ea typeface="바탕체" panose="02030609000101010101" pitchFamily="17" charset="-127"/>
              </a:rPr>
              <a:t>자본계정</a:t>
            </a:r>
            <a:r>
              <a:rPr lang="en-US" altLang="ko-KR" sz="1700" dirty="0">
                <a:latin typeface="바탕체" panose="02030609000101010101" pitchFamily="17" charset="-127"/>
                <a:ea typeface="바탕체" panose="02030609000101010101" pitchFamily="17" charset="-127"/>
              </a:rPr>
              <a:t>)</a:t>
            </a:r>
            <a:r>
              <a:rPr lang="ko-KR" altLang="en-US" sz="1700" dirty="0">
                <a:latin typeface="바탕체" panose="02030609000101010101" pitchFamily="17" charset="-127"/>
                <a:ea typeface="바탕체" panose="02030609000101010101" pitchFamily="17" charset="-127"/>
              </a:rPr>
              <a:t>을 합한 경우에 해당</a:t>
            </a:r>
          </a:p>
          <a:p>
            <a:pPr eaLnBrk="1" hangingPunct="1">
              <a:spcBef>
                <a:spcPct val="50000"/>
              </a:spcBef>
              <a:buFont typeface="바탕체" panose="02030609000101010101" pitchFamily="17" charset="-127"/>
              <a:buChar char="—"/>
              <a:defRPr/>
            </a:pPr>
            <a:r>
              <a:rPr lang="ko-KR" altLang="en-US" sz="1500" dirty="0">
                <a:latin typeface="바탕체" panose="02030609000101010101" pitchFamily="17" charset="-127"/>
                <a:ea typeface="바탕체" panose="02030609000101010101" pitchFamily="17" charset="-127"/>
              </a:rPr>
              <a:t>각각의 계정 혹은 일부 계정만 합하면 대변</a:t>
            </a:r>
            <a:r>
              <a:rPr lang="en-US" altLang="ko-KR" sz="1500" dirty="0">
                <a:latin typeface="바탕체" panose="02030609000101010101" pitchFamily="17" charset="-127"/>
                <a:ea typeface="바탕체" panose="02030609000101010101" pitchFamily="17" charset="-127"/>
              </a:rPr>
              <a:t> (credit)</a:t>
            </a:r>
            <a:r>
              <a:rPr lang="ko-KR" altLang="en-US" sz="1500" dirty="0">
                <a:latin typeface="바탕체" panose="02030609000101010101" pitchFamily="17" charset="-127"/>
                <a:ea typeface="바탕체" panose="02030609000101010101" pitchFamily="17" charset="-127"/>
              </a:rPr>
              <a:t>과 </a:t>
            </a:r>
            <a:r>
              <a:rPr lang="ko-KR" altLang="en-US" sz="1500" dirty="0" err="1">
                <a:latin typeface="바탕체" panose="02030609000101010101" pitchFamily="17" charset="-127"/>
                <a:ea typeface="바탕체" panose="02030609000101010101" pitchFamily="17" charset="-127"/>
              </a:rPr>
              <a:t>차변</a:t>
            </a:r>
            <a:r>
              <a:rPr lang="en-US" altLang="ko-KR" sz="1500" dirty="0">
                <a:latin typeface="바탕체" panose="02030609000101010101" pitchFamily="17" charset="-127"/>
                <a:ea typeface="바탕체" panose="02030609000101010101" pitchFamily="17" charset="-127"/>
              </a:rPr>
              <a:t>(debit)</a:t>
            </a:r>
            <a:r>
              <a:rPr lang="ko-KR" altLang="en-US" sz="1500" dirty="0">
                <a:latin typeface="바탕체" panose="02030609000101010101" pitchFamily="17" charset="-127"/>
                <a:ea typeface="바탕체" panose="02030609000101010101" pitchFamily="17" charset="-127"/>
              </a:rPr>
              <a:t>의 크기가 달라질 수 있음</a:t>
            </a:r>
            <a:endParaRPr lang="en-US" altLang="ko-KR" sz="1500" dirty="0">
              <a:latin typeface="바탕체" panose="02030609000101010101" pitchFamily="17" charset="-127"/>
              <a:ea typeface="바탕체" panose="02030609000101010101" pitchFamily="17" charset="-127"/>
            </a:endParaRPr>
          </a:p>
          <a:p>
            <a:pPr lvl="1" eaLnBrk="1" hangingPunct="1">
              <a:spcBef>
                <a:spcPct val="50000"/>
              </a:spcBef>
              <a:buFont typeface="Arial" panose="020B0604020202020204" pitchFamily="34" charset="0"/>
              <a:buChar char="•"/>
              <a:defRPr/>
            </a:pPr>
            <a:r>
              <a:rPr lang="ko-KR" altLang="en-US" sz="1300" dirty="0">
                <a:latin typeface="바탕체" panose="02030609000101010101" pitchFamily="17" charset="-127"/>
                <a:ea typeface="바탕체" panose="02030609000101010101" pitchFamily="17" charset="-127"/>
              </a:rPr>
              <a:t>예</a:t>
            </a:r>
            <a:r>
              <a:rPr lang="en-US" altLang="ko-KR" sz="1300" dirty="0">
                <a:latin typeface="바탕체" panose="02030609000101010101" pitchFamily="17" charset="-127"/>
                <a:ea typeface="바탕체" panose="02030609000101010101" pitchFamily="17" charset="-127"/>
              </a:rPr>
              <a:t>: </a:t>
            </a:r>
            <a:r>
              <a:rPr lang="ko-KR" altLang="en-US" sz="1300" dirty="0">
                <a:latin typeface="바탕체" panose="02030609000101010101" pitchFamily="17" charset="-127"/>
                <a:ea typeface="바탕체" panose="02030609000101010101" pitchFamily="17" charset="-127"/>
              </a:rPr>
              <a:t>경상수지 불균형</a:t>
            </a:r>
            <a:r>
              <a:rPr lang="en-US" altLang="ko-KR" sz="1300" dirty="0">
                <a:latin typeface="바탕체" panose="02030609000101010101" pitchFamily="17" charset="-127"/>
                <a:ea typeface="바탕체" panose="02030609000101010101" pitchFamily="17" charset="-127"/>
              </a:rPr>
              <a:t>(</a:t>
            </a:r>
            <a:r>
              <a:rPr lang="ko-KR" altLang="en-US" sz="1300" dirty="0">
                <a:latin typeface="바탕체" panose="02030609000101010101" pitchFamily="17" charset="-127"/>
                <a:ea typeface="바탕체" panose="02030609000101010101" pitchFamily="17" charset="-127"/>
              </a:rPr>
              <a:t>흑자 혹은 적자</a:t>
            </a:r>
            <a:r>
              <a:rPr lang="en-US" altLang="ko-KR" sz="1300" dirty="0">
                <a:latin typeface="바탕체" panose="02030609000101010101" pitchFamily="17" charset="-127"/>
                <a:ea typeface="바탕체" panose="02030609000101010101" pitchFamily="17" charset="-127"/>
              </a:rPr>
              <a:t>)</a:t>
            </a:r>
          </a:p>
          <a:p>
            <a:pPr eaLnBrk="1" hangingPunct="1">
              <a:spcBef>
                <a:spcPct val="50000"/>
              </a:spcBef>
              <a:buFont typeface="바탕체" panose="02030609000101010101" pitchFamily="17" charset="-127"/>
              <a:buChar char="—"/>
              <a:defRPr/>
            </a:pPr>
            <a:r>
              <a:rPr lang="ko-KR" altLang="en-US" sz="1500" dirty="0">
                <a:latin typeface="바탕체" panose="02030609000101010101" pitchFamily="17" charset="-127"/>
                <a:ea typeface="바탕체" panose="02030609000101010101" pitchFamily="17" charset="-127"/>
              </a:rPr>
              <a:t>지나친 국제수지 불균형은 바람직하지 않으므로 각국은 불균형 해소를 위해 노력</a:t>
            </a:r>
          </a:p>
          <a:p>
            <a:pPr eaLnBrk="1" hangingPunct="1">
              <a:defRPr/>
            </a:pPr>
            <a:endParaRPr lang="ko-KR" alt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제목 1"/>
          <p:cNvSpPr>
            <a:spLocks noGrp="1" noChangeArrowheads="1"/>
          </p:cNvSpPr>
          <p:nvPr>
            <p:ph type="title"/>
          </p:nvPr>
        </p:nvSpPr>
        <p:spPr>
          <a:xfrm>
            <a:off x="457200" y="731838"/>
            <a:ext cx="8229600" cy="685800"/>
          </a:xfrm>
        </p:spPr>
        <p:txBody>
          <a:bodyPr/>
          <a:lstStyle/>
          <a:p>
            <a:pPr algn="l" eaLnBrk="1" hangingPunct="1"/>
            <a:r>
              <a:rPr lang="ko-KR" altLang="en-US" sz="2700"/>
              <a:t>제</a:t>
            </a:r>
            <a:r>
              <a:rPr lang="en-US" altLang="ko-KR" sz="2700"/>
              <a:t>2</a:t>
            </a:r>
            <a:r>
              <a:rPr lang="ko-KR" altLang="en-US" sz="2700"/>
              <a:t>절 국제수지의 구성</a:t>
            </a:r>
            <a:r>
              <a:rPr lang="en-US" altLang="ko-KR" sz="2700"/>
              <a:t>: </a:t>
            </a:r>
            <a:r>
              <a:rPr lang="ko-KR" altLang="en-US" sz="2700"/>
              <a:t>주요계정의 관계</a:t>
            </a:r>
          </a:p>
        </p:txBody>
      </p:sp>
      <p:sp>
        <p:nvSpPr>
          <p:cNvPr id="3" name="내용 개체 틀 2"/>
          <p:cNvSpPr>
            <a:spLocks noGrp="1"/>
          </p:cNvSpPr>
          <p:nvPr>
            <p:ph idx="1"/>
          </p:nvPr>
        </p:nvSpPr>
        <p:spPr>
          <a:xfrm>
            <a:off x="457200" y="1700213"/>
            <a:ext cx="8229600" cy="4897437"/>
          </a:xfrm>
        </p:spPr>
        <p:txBody>
          <a:bodyPr/>
          <a:lstStyle/>
          <a:p>
            <a:pPr eaLnBrk="1" hangingPunct="1">
              <a:spcBef>
                <a:spcPct val="30000"/>
              </a:spcBef>
              <a:buClr>
                <a:srgbClr val="FF9900"/>
              </a:buClr>
              <a:defRPr/>
            </a:pPr>
            <a:r>
              <a:rPr lang="en-US" altLang="ko-KR" sz="1700" dirty="0">
                <a:latin typeface="바탕체" panose="02030609000101010101" pitchFamily="17" charset="-127"/>
                <a:ea typeface="바탕체" panose="02030609000101010101" pitchFamily="17" charset="-127"/>
              </a:rPr>
              <a:t>Current account=trade balance+ balance on services+ net primary income (investment income) + Net secondary income (unilateral transfers)</a:t>
            </a:r>
          </a:p>
          <a:p>
            <a:pPr eaLnBrk="1" hangingPunct="1">
              <a:spcBef>
                <a:spcPts val="2400"/>
              </a:spcBef>
              <a:buClr>
                <a:srgbClr val="FF9900"/>
              </a:buClr>
              <a:defRPr/>
            </a:pPr>
            <a:r>
              <a:rPr lang="en-US" altLang="ko-KR" sz="1700" dirty="0">
                <a:latin typeface="바탕체" panose="02030609000101010101" pitchFamily="17" charset="-127"/>
                <a:ea typeface="바탕체" panose="02030609000101010101" pitchFamily="17" charset="-127"/>
              </a:rPr>
              <a:t>Financial account=Net acquisition of foreign financial assets- Net incurrence of liabilities+ Net financial derivatives</a:t>
            </a:r>
          </a:p>
          <a:p>
            <a:pPr marL="0" indent="0" eaLnBrk="1" hangingPunct="1">
              <a:spcBef>
                <a:spcPct val="30000"/>
              </a:spcBef>
              <a:buClr>
                <a:srgbClr val="FF9900"/>
              </a:buClr>
              <a:buFontTx/>
              <a:buNone/>
              <a:defRPr/>
            </a:pPr>
            <a:r>
              <a:rPr lang="en-US" altLang="ko-KR" sz="2000" dirty="0">
                <a:latin typeface="바탕체" panose="02030609000101010101" pitchFamily="17" charset="-127"/>
                <a:ea typeface="바탕체" panose="02030609000101010101" pitchFamily="17" charset="-127"/>
              </a:rPr>
              <a:t>	</a:t>
            </a:r>
            <a:r>
              <a:rPr lang="en-US" altLang="ko-KR" sz="1500" dirty="0">
                <a:latin typeface="바탕체" panose="02030609000101010101" pitchFamily="17" charset="-127"/>
                <a:ea typeface="바탕체" panose="02030609000101010101" pitchFamily="17" charset="-127"/>
              </a:rPr>
              <a:t>Financial account in a broad sense = </a:t>
            </a:r>
            <a:r>
              <a:rPr lang="en-US" altLang="ko-KR" sz="1500" dirty="0" err="1">
                <a:latin typeface="바탕체" panose="02030609000101010101" pitchFamily="17" charset="-127"/>
                <a:ea typeface="바탕체" panose="02030609000101010101" pitchFamily="17" charset="-127"/>
              </a:rPr>
              <a:t>nonreserve</a:t>
            </a:r>
            <a:r>
              <a:rPr lang="en-US" altLang="ko-KR" sz="1500" dirty="0">
                <a:latin typeface="바탕체" panose="02030609000101010101" pitchFamily="17" charset="-127"/>
                <a:ea typeface="바탕체" panose="02030609000101010101" pitchFamily="17" charset="-127"/>
              </a:rPr>
              <a:t> FA + reserve account</a:t>
            </a:r>
          </a:p>
          <a:p>
            <a:pPr eaLnBrk="1" hangingPunct="1">
              <a:spcBef>
                <a:spcPts val="3000"/>
              </a:spcBef>
              <a:buClr>
                <a:srgbClr val="FF9900"/>
              </a:buClr>
              <a:defRPr/>
            </a:pPr>
            <a:r>
              <a:rPr lang="en-US" altLang="ko-KR" sz="1700" dirty="0">
                <a:latin typeface="바탕체" panose="02030609000101010101" pitchFamily="17" charset="-127"/>
                <a:ea typeface="바탕체" panose="02030609000101010101" pitchFamily="17" charset="-127"/>
              </a:rPr>
              <a:t>Identity: Assuming statistical discrepancy = capital account = 0, </a:t>
            </a:r>
          </a:p>
          <a:p>
            <a:pPr marL="0" indent="0" eaLnBrk="1" hangingPunct="1">
              <a:spcBef>
                <a:spcPct val="30000"/>
              </a:spcBef>
              <a:buClr>
                <a:srgbClr val="FF9900"/>
              </a:buClr>
              <a:buFontTx/>
              <a:buNone/>
              <a:defRPr/>
            </a:pPr>
            <a:r>
              <a:rPr lang="en-US" altLang="ko-KR" sz="2000" dirty="0">
                <a:latin typeface="바탕체" panose="02030609000101010101" pitchFamily="17" charset="-127"/>
                <a:ea typeface="바탕체" panose="02030609000101010101" pitchFamily="17" charset="-127"/>
              </a:rPr>
              <a:t>	</a:t>
            </a:r>
            <a:r>
              <a:rPr lang="en-US" altLang="ko-KR" sz="1500" dirty="0">
                <a:latin typeface="바탕체" panose="02030609000101010101" pitchFamily="17" charset="-127"/>
                <a:ea typeface="바탕체" panose="02030609000101010101" pitchFamily="17" charset="-127"/>
              </a:rPr>
              <a:t>Current account = Financial account (narrow concept) + Reserve account</a:t>
            </a:r>
            <a:endParaRPr lang="ko-KR" altLang="ko-KR" sz="1500" dirty="0">
              <a:latin typeface="바탕체" panose="02030609000101010101" pitchFamily="17" charset="-127"/>
              <a:ea typeface="바탕체" panose="02030609000101010101" pitchFamily="17" charset="-127"/>
            </a:endParaRPr>
          </a:p>
          <a:p>
            <a:pPr marL="0" indent="0" eaLnBrk="1" hangingPunct="1">
              <a:buFontTx/>
              <a:buNone/>
              <a:defRPr/>
            </a:pPr>
            <a:r>
              <a:rPr lang="en-US" altLang="ko-KR" sz="1500" dirty="0">
                <a:latin typeface="바탕체" panose="02030609000101010101" pitchFamily="17" charset="-127"/>
                <a:ea typeface="바탕체" panose="02030609000101010101" pitchFamily="17" charset="-127"/>
              </a:rPr>
              <a:t>		      = Financial account (broad concept) </a:t>
            </a:r>
          </a:p>
          <a:p>
            <a:pPr eaLnBrk="1" hangingPunct="1">
              <a:spcBef>
                <a:spcPts val="2400"/>
              </a:spcBef>
              <a:buClr>
                <a:srgbClr val="FF9900"/>
              </a:buClr>
              <a:defRPr/>
            </a:pPr>
            <a:r>
              <a:rPr lang="en-US" altLang="ko-KR" sz="1700" dirty="0">
                <a:latin typeface="바탕체" panose="02030609000101010101" pitchFamily="17" charset="-127"/>
                <a:ea typeface="바탕체" panose="02030609000101010101" pitchFamily="17" charset="-127"/>
              </a:rPr>
              <a:t>Official Settlements balance = Reserve account</a:t>
            </a:r>
            <a:endParaRPr lang="ko-KR" altLang="en-US" sz="1700" dirty="0">
              <a:latin typeface="바탕체" panose="02030609000101010101" pitchFamily="17" charset="-127"/>
              <a:ea typeface="바탕체" panose="02030609000101010101" pitchFamily="17" charset="-127"/>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그림 1">
            <a:extLst>
              <a:ext uri="{FF2B5EF4-FFF2-40B4-BE49-F238E27FC236}">
                <a16:creationId xmlns:a16="http://schemas.microsoft.com/office/drawing/2014/main" id="{31E9A99B-10B0-44BE-ABA2-88574DBC87D8}"/>
              </a:ext>
            </a:extLst>
          </p:cNvPr>
          <p:cNvPicPr>
            <a:picLocks noChangeAspect="1"/>
          </p:cNvPicPr>
          <p:nvPr/>
        </p:nvPicPr>
        <p:blipFill>
          <a:blip r:embed="rId3"/>
          <a:stretch>
            <a:fillRect/>
          </a:stretch>
        </p:blipFill>
        <p:spPr>
          <a:xfrm>
            <a:off x="0" y="438924"/>
            <a:ext cx="9144000" cy="598015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그림 2">
            <a:extLst>
              <a:ext uri="{FF2B5EF4-FFF2-40B4-BE49-F238E27FC236}">
                <a16:creationId xmlns:a16="http://schemas.microsoft.com/office/drawing/2014/main" id="{02C0FDB4-0E4E-422D-A176-07908850BD97}"/>
              </a:ext>
            </a:extLst>
          </p:cNvPr>
          <p:cNvPicPr>
            <a:picLocks noChangeAspect="1"/>
          </p:cNvPicPr>
          <p:nvPr/>
        </p:nvPicPr>
        <p:blipFill>
          <a:blip r:embed="rId3"/>
          <a:stretch>
            <a:fillRect/>
          </a:stretch>
        </p:blipFill>
        <p:spPr>
          <a:xfrm>
            <a:off x="0" y="439845"/>
            <a:ext cx="9144000" cy="5978309"/>
          </a:xfrm>
          <a:prstGeom prst="rect">
            <a:avLst/>
          </a:prstGeom>
        </p:spPr>
      </p:pic>
    </p:spTree>
    <p:extLst>
      <p:ext uri="{BB962C8B-B14F-4D97-AF65-F5344CB8AC3E}">
        <p14:creationId xmlns:p14="http://schemas.microsoft.com/office/powerpoint/2010/main" val="9884339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그림 1">
            <a:extLst>
              <a:ext uri="{FF2B5EF4-FFF2-40B4-BE49-F238E27FC236}">
                <a16:creationId xmlns:a16="http://schemas.microsoft.com/office/drawing/2014/main" id="{4C0C6309-3AC3-4BAA-89C3-EC9565E40465}"/>
              </a:ext>
            </a:extLst>
          </p:cNvPr>
          <p:cNvPicPr>
            <a:picLocks noChangeAspect="1"/>
          </p:cNvPicPr>
          <p:nvPr/>
        </p:nvPicPr>
        <p:blipFill>
          <a:blip r:embed="rId3"/>
          <a:stretch>
            <a:fillRect/>
          </a:stretch>
        </p:blipFill>
        <p:spPr>
          <a:xfrm>
            <a:off x="0" y="439845"/>
            <a:ext cx="9144000" cy="597830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그림 1">
            <a:extLst>
              <a:ext uri="{FF2B5EF4-FFF2-40B4-BE49-F238E27FC236}">
                <a16:creationId xmlns:a16="http://schemas.microsoft.com/office/drawing/2014/main" id="{0CA96A95-1A4E-4B80-866A-2370D2921039}"/>
              </a:ext>
            </a:extLst>
          </p:cNvPr>
          <p:cNvPicPr>
            <a:picLocks noChangeAspect="1"/>
          </p:cNvPicPr>
          <p:nvPr/>
        </p:nvPicPr>
        <p:blipFill>
          <a:blip r:embed="rId3"/>
          <a:stretch>
            <a:fillRect/>
          </a:stretch>
        </p:blipFill>
        <p:spPr>
          <a:xfrm>
            <a:off x="0" y="439845"/>
            <a:ext cx="9144000" cy="5978309"/>
          </a:xfrm>
          <a:prstGeom prst="rect">
            <a:avLst/>
          </a:prstGeom>
        </p:spPr>
      </p:pic>
    </p:spTree>
    <p:extLst>
      <p:ext uri="{BB962C8B-B14F-4D97-AF65-F5344CB8AC3E}">
        <p14:creationId xmlns:p14="http://schemas.microsoft.com/office/powerpoint/2010/main" val="279569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그림 1">
            <a:extLst>
              <a:ext uri="{FF2B5EF4-FFF2-40B4-BE49-F238E27FC236}">
                <a16:creationId xmlns:a16="http://schemas.microsoft.com/office/drawing/2014/main" id="{09B6D263-6144-4ACF-AE5D-0DC92E3D607E}"/>
              </a:ext>
            </a:extLst>
          </p:cNvPr>
          <p:cNvPicPr>
            <a:picLocks noChangeAspect="1"/>
          </p:cNvPicPr>
          <p:nvPr/>
        </p:nvPicPr>
        <p:blipFill>
          <a:blip r:embed="rId3"/>
          <a:stretch>
            <a:fillRect/>
          </a:stretch>
        </p:blipFill>
        <p:spPr>
          <a:xfrm>
            <a:off x="0" y="439845"/>
            <a:ext cx="9144000" cy="597830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그림 1">
            <a:extLst>
              <a:ext uri="{FF2B5EF4-FFF2-40B4-BE49-F238E27FC236}">
                <a16:creationId xmlns:a16="http://schemas.microsoft.com/office/drawing/2014/main" id="{9371180A-557F-4DEA-9E31-017C9E54C278}"/>
              </a:ext>
            </a:extLst>
          </p:cNvPr>
          <p:cNvPicPr>
            <a:picLocks noChangeAspect="1"/>
          </p:cNvPicPr>
          <p:nvPr/>
        </p:nvPicPr>
        <p:blipFill>
          <a:blip r:embed="rId3"/>
          <a:stretch>
            <a:fillRect/>
          </a:stretch>
        </p:blipFill>
        <p:spPr>
          <a:xfrm>
            <a:off x="0" y="439845"/>
            <a:ext cx="9144000" cy="5978309"/>
          </a:xfrm>
          <a:prstGeom prst="rect">
            <a:avLst/>
          </a:prstGeom>
        </p:spPr>
      </p:pic>
    </p:spTree>
    <p:extLst>
      <p:ext uri="{BB962C8B-B14F-4D97-AF65-F5344CB8AC3E}">
        <p14:creationId xmlns:p14="http://schemas.microsoft.com/office/powerpoint/2010/main" val="5344007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pPr>
            <a:endParaRPr kumimoji="0" lang="en-US" sz="1350">
              <a:solidFill>
                <a:prstClr val="white"/>
              </a:solidFill>
              <a:latin typeface="Calibri" panose="020F0502020204030204"/>
            </a:endParaRPr>
          </a:p>
        </p:txBody>
      </p:sp>
      <p:sp>
        <p:nvSpPr>
          <p:cNvPr id="33" name="Rectangle 3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857251"/>
            <a:ext cx="9143999" cy="1181966"/>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pPr>
            <a:endParaRPr kumimoji="0" lang="en-US" sz="1350">
              <a:solidFill>
                <a:prstClr val="white"/>
              </a:solidFill>
              <a:latin typeface="Calibri" panose="020F0502020204030204"/>
            </a:endParaRPr>
          </a:p>
        </p:txBody>
      </p:sp>
      <p:sp>
        <p:nvSpPr>
          <p:cNvPr id="35" name="Rectangle 3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6096642" cy="1181596"/>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pPr>
            <a:endParaRPr kumimoji="0" lang="en-US" sz="1350">
              <a:solidFill>
                <a:prstClr val="white"/>
              </a:solidFill>
              <a:latin typeface="Calibri" panose="020F0502020204030204"/>
            </a:endParaRPr>
          </a:p>
        </p:txBody>
      </p:sp>
      <p:sp>
        <p:nvSpPr>
          <p:cNvPr id="37" name="Rectangle 3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857250"/>
            <a:ext cx="9144002" cy="1180733"/>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pPr>
            <a:endParaRPr kumimoji="0" lang="en-US" sz="1350">
              <a:solidFill>
                <a:prstClr val="white"/>
              </a:solidFill>
              <a:latin typeface="Calibri" panose="020F0502020204030204"/>
            </a:endParaRPr>
          </a:p>
        </p:txBody>
      </p:sp>
      <p:sp>
        <p:nvSpPr>
          <p:cNvPr id="4" name="TextBox 3">
            <a:extLst>
              <a:ext uri="{FF2B5EF4-FFF2-40B4-BE49-F238E27FC236}">
                <a16:creationId xmlns:a16="http://schemas.microsoft.com/office/drawing/2014/main" id="{4C9C2D9C-57EC-B6A3-B559-B76F2D0319C9}"/>
              </a:ext>
            </a:extLst>
          </p:cNvPr>
          <p:cNvSpPr txBox="1"/>
          <p:nvPr/>
        </p:nvSpPr>
        <p:spPr>
          <a:xfrm>
            <a:off x="524785" y="1043279"/>
            <a:ext cx="5297791" cy="869400"/>
          </a:xfrm>
          <a:prstGeom prst="rect">
            <a:avLst/>
          </a:prstGeom>
        </p:spPr>
        <p:txBody>
          <a:bodyPr vert="horz" lIns="68580" tIns="34290" rIns="68580" bIns="34290" rtlCol="0" anchor="ctr">
            <a:normAutofit/>
          </a:bodyPr>
          <a:lstStyle/>
          <a:p>
            <a:pPr defTabSz="685800" eaLnBrk="1" fontAlgn="auto" hangingPunct="1">
              <a:lnSpc>
                <a:spcPct val="90000"/>
              </a:lnSpc>
              <a:spcAft>
                <a:spcPts val="450"/>
              </a:spcAft>
            </a:pPr>
            <a:r>
              <a:rPr lang="ko-KR" altLang="en-US" sz="2775" dirty="0" err="1">
                <a:solidFill>
                  <a:srgbClr val="FFFFFF"/>
                </a:solidFill>
                <a:latin typeface="Calibri Light" panose="020F0302020204030204"/>
                <a:ea typeface="+mn-ea"/>
              </a:rPr>
              <a:t>상품수지와</a:t>
            </a:r>
            <a:r>
              <a:rPr lang="ko-KR" altLang="en-US" sz="2775" dirty="0">
                <a:solidFill>
                  <a:srgbClr val="FFFFFF"/>
                </a:solidFill>
                <a:latin typeface="Calibri Light" panose="020F0302020204030204"/>
                <a:ea typeface="+mn-ea"/>
              </a:rPr>
              <a:t> 무역수지</a:t>
            </a:r>
            <a:endParaRPr lang="en-US" altLang="ko-Kore-KR" sz="2775" dirty="0">
              <a:solidFill>
                <a:srgbClr val="FFFFFF"/>
              </a:solidFill>
              <a:latin typeface="Calibri Light" panose="020F0302020204030204"/>
              <a:ea typeface="+mn-ea"/>
            </a:endParaRPr>
          </a:p>
        </p:txBody>
      </p:sp>
      <p:graphicFrame>
        <p:nvGraphicFramePr>
          <p:cNvPr id="2" name="차트 1">
            <a:extLst>
              <a:ext uri="{FF2B5EF4-FFF2-40B4-BE49-F238E27FC236}">
                <a16:creationId xmlns:a16="http://schemas.microsoft.com/office/drawing/2014/main" id="{DCFF6A43-2B0D-2184-1D20-566E2834CFF1}"/>
              </a:ext>
            </a:extLst>
          </p:cNvPr>
          <p:cNvGraphicFramePr>
            <a:graphicFrameLocks/>
          </p:cNvGraphicFramePr>
          <p:nvPr/>
        </p:nvGraphicFramePr>
        <p:xfrm>
          <a:off x="324169" y="2331970"/>
          <a:ext cx="8495662" cy="333912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759607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7" name="제목 1"/>
          <p:cNvSpPr>
            <a:spLocks noGrp="1" noChangeArrowheads="1"/>
          </p:cNvSpPr>
          <p:nvPr>
            <p:ph type="title"/>
          </p:nvPr>
        </p:nvSpPr>
        <p:spPr>
          <a:xfrm>
            <a:off x="457200" y="868363"/>
            <a:ext cx="8229600" cy="549275"/>
          </a:xfrm>
        </p:spPr>
        <p:txBody>
          <a:bodyPr/>
          <a:lstStyle/>
          <a:p>
            <a:pPr algn="l" eaLnBrk="1" hangingPunct="1"/>
            <a:r>
              <a:rPr lang="ko-KR" altLang="en-US" sz="2700"/>
              <a:t>제</a:t>
            </a:r>
            <a:r>
              <a:rPr lang="en-US" altLang="ko-KR" sz="2700"/>
              <a:t>3</a:t>
            </a:r>
            <a:r>
              <a:rPr lang="ko-KR" altLang="en-US" sz="2700"/>
              <a:t>절 국제수지와 타 사회계정과의 관계</a:t>
            </a:r>
          </a:p>
        </p:txBody>
      </p:sp>
      <p:sp>
        <p:nvSpPr>
          <p:cNvPr id="3" name="내용 개체 틀 2"/>
          <p:cNvSpPr>
            <a:spLocks noGrp="1"/>
          </p:cNvSpPr>
          <p:nvPr>
            <p:ph idx="1"/>
          </p:nvPr>
        </p:nvSpPr>
        <p:spPr>
          <a:xfrm>
            <a:off x="457200" y="1600200"/>
            <a:ext cx="8229600" cy="4924425"/>
          </a:xfrm>
        </p:spPr>
        <p:txBody>
          <a:bodyPr/>
          <a:lstStyle/>
          <a:p>
            <a:pPr marL="273600" indent="-273600" eaLnBrk="1" hangingPunct="1">
              <a:lnSpc>
                <a:spcPct val="90000"/>
              </a:lnSpc>
              <a:spcBef>
                <a:spcPct val="30000"/>
              </a:spcBef>
              <a:buClr>
                <a:srgbClr val="FF9900"/>
              </a:buClr>
              <a:defRPr/>
            </a:pPr>
            <a:r>
              <a:rPr lang="ko-KR" altLang="en-US" sz="1700" dirty="0">
                <a:latin typeface="바탕체" panose="02030609000101010101" pitchFamily="17" charset="-127"/>
                <a:ea typeface="바탕체" panose="02030609000101010101" pitchFamily="17" charset="-127"/>
              </a:rPr>
              <a:t>국민소득계정</a:t>
            </a:r>
            <a:r>
              <a:rPr lang="en-US" altLang="ko-KR" sz="1700" dirty="0">
                <a:latin typeface="바탕체" panose="02030609000101010101" pitchFamily="17" charset="-127"/>
                <a:ea typeface="바탕체" panose="02030609000101010101" pitchFamily="17" charset="-127"/>
              </a:rPr>
              <a:t>(National Income Accounting)</a:t>
            </a:r>
            <a:endParaRPr lang="ko-KR" altLang="en-US" sz="1700" dirty="0">
              <a:latin typeface="바탕체" panose="02030609000101010101" pitchFamily="17" charset="-127"/>
              <a:ea typeface="바탕체" panose="02030609000101010101" pitchFamily="17" charset="-127"/>
            </a:endParaRPr>
          </a:p>
          <a:p>
            <a:pPr eaLnBrk="1" hangingPunct="1">
              <a:lnSpc>
                <a:spcPct val="90000"/>
              </a:lnSpc>
              <a:spcBef>
                <a:spcPts val="1200"/>
              </a:spcBef>
              <a:buFontTx/>
              <a:buChar char="-"/>
              <a:defRPr/>
            </a:pPr>
            <a:r>
              <a:rPr lang="ko-KR" altLang="en-US" sz="1600" dirty="0">
                <a:latin typeface="바탕체" panose="02030609000101010101" pitchFamily="17" charset="-127"/>
                <a:ea typeface="바탕체" panose="02030609000101010101" pitchFamily="17" charset="-127"/>
              </a:rPr>
              <a:t>폐쇄경제</a:t>
            </a:r>
            <a:r>
              <a:rPr lang="en-US" altLang="ko-KR" sz="1600" dirty="0">
                <a:latin typeface="바탕체" panose="02030609000101010101" pitchFamily="17" charset="-127"/>
                <a:ea typeface="바탕체" panose="02030609000101010101" pitchFamily="17" charset="-127"/>
              </a:rPr>
              <a:t>(closed economy)</a:t>
            </a:r>
            <a:r>
              <a:rPr lang="ko-KR" altLang="en-US" sz="1600" dirty="0">
                <a:latin typeface="바탕체" panose="02030609000101010101" pitchFamily="17" charset="-127"/>
                <a:ea typeface="바탕체" panose="02030609000101010101" pitchFamily="17" charset="-127"/>
              </a:rPr>
              <a:t>에서의 국민소득계정</a:t>
            </a:r>
            <a:endParaRPr lang="en-US" altLang="ko-KR" sz="1600" dirty="0">
              <a:latin typeface="바탕체" panose="02030609000101010101" pitchFamily="17" charset="-127"/>
              <a:ea typeface="바탕체" panose="02030609000101010101" pitchFamily="17" charset="-127"/>
            </a:endParaRPr>
          </a:p>
          <a:p>
            <a:pPr marL="273600" indent="-273600" algn="ctr" eaLnBrk="1" hangingPunct="1">
              <a:lnSpc>
                <a:spcPct val="90000"/>
              </a:lnSpc>
              <a:spcBef>
                <a:spcPts val="1800"/>
              </a:spcBef>
              <a:buClr>
                <a:srgbClr val="FF9900"/>
              </a:buClr>
              <a:buFont typeface="Wingdings" panose="05000000000000000000" pitchFamily="2" charset="2"/>
              <a:buNone/>
              <a:defRPr/>
            </a:pPr>
            <a:r>
              <a:rPr lang="ko-KR" altLang="en-US" sz="1600" dirty="0">
                <a:latin typeface="바탕체" panose="02030609000101010101" pitchFamily="17" charset="-127"/>
                <a:ea typeface="바탕체" panose="02030609000101010101" pitchFamily="17" charset="-127"/>
              </a:rPr>
              <a:t>      </a:t>
            </a:r>
            <a:r>
              <a:rPr lang="en-US" altLang="ko-KR" sz="1600" dirty="0">
                <a:latin typeface="바탕체" panose="02030609000101010101" pitchFamily="17" charset="-127"/>
                <a:ea typeface="바탕체" panose="02030609000101010101" pitchFamily="17" charset="-127"/>
              </a:rPr>
              <a:t>Y = C+I+G                     (3-1)</a:t>
            </a:r>
          </a:p>
          <a:p>
            <a:pPr marL="273600" indent="-273600" algn="ctr" eaLnBrk="1" hangingPunct="1">
              <a:lnSpc>
                <a:spcPct val="90000"/>
              </a:lnSpc>
              <a:spcBef>
                <a:spcPct val="30000"/>
              </a:spcBef>
              <a:buClr>
                <a:srgbClr val="FF9900"/>
              </a:buClr>
              <a:buFont typeface="Wingdings" panose="05000000000000000000" pitchFamily="2" charset="2"/>
              <a:buNone/>
              <a:defRPr/>
            </a:pPr>
            <a:r>
              <a:rPr lang="en-US" altLang="ko-KR" sz="1600" dirty="0">
                <a:latin typeface="바탕체" panose="02030609000101010101" pitchFamily="17" charset="-127"/>
                <a:ea typeface="바탕체" panose="02030609000101010101" pitchFamily="17" charset="-127"/>
              </a:rPr>
              <a:t>      Y: </a:t>
            </a:r>
            <a:r>
              <a:rPr lang="ko-KR" altLang="en-US" sz="1600" dirty="0">
                <a:latin typeface="바탕체" panose="02030609000101010101" pitchFamily="17" charset="-127"/>
                <a:ea typeface="바탕체" panose="02030609000101010101" pitchFamily="17" charset="-127"/>
              </a:rPr>
              <a:t>소득</a:t>
            </a:r>
            <a:r>
              <a:rPr lang="en-US" altLang="ko-KR" sz="1600" dirty="0">
                <a:latin typeface="바탕체" panose="02030609000101010101" pitchFamily="17" charset="-127"/>
                <a:ea typeface="바탕체" panose="02030609000101010101" pitchFamily="17" charset="-127"/>
              </a:rPr>
              <a:t>, C: </a:t>
            </a:r>
            <a:r>
              <a:rPr lang="ko-KR" altLang="en-US" sz="1600" dirty="0">
                <a:latin typeface="바탕체" panose="02030609000101010101" pitchFamily="17" charset="-127"/>
                <a:ea typeface="바탕체" panose="02030609000101010101" pitchFamily="17" charset="-127"/>
              </a:rPr>
              <a:t>소비</a:t>
            </a:r>
            <a:r>
              <a:rPr lang="en-US" altLang="ko-KR" sz="1600" dirty="0">
                <a:latin typeface="바탕체" panose="02030609000101010101" pitchFamily="17" charset="-127"/>
                <a:ea typeface="바탕체" panose="02030609000101010101" pitchFamily="17" charset="-127"/>
              </a:rPr>
              <a:t>, I: </a:t>
            </a:r>
            <a:r>
              <a:rPr lang="ko-KR" altLang="en-US" sz="1600" dirty="0">
                <a:latin typeface="바탕체" panose="02030609000101010101" pitchFamily="17" charset="-127"/>
                <a:ea typeface="바탕체" panose="02030609000101010101" pitchFamily="17" charset="-127"/>
              </a:rPr>
              <a:t>투자</a:t>
            </a:r>
            <a:r>
              <a:rPr lang="en-US" altLang="ko-KR" sz="1600" dirty="0">
                <a:latin typeface="바탕체" panose="02030609000101010101" pitchFamily="17" charset="-127"/>
                <a:ea typeface="바탕체" panose="02030609000101010101" pitchFamily="17" charset="-127"/>
              </a:rPr>
              <a:t>, G: </a:t>
            </a:r>
            <a:r>
              <a:rPr lang="ko-KR" altLang="en-US" sz="1600" dirty="0">
                <a:latin typeface="바탕체" panose="02030609000101010101" pitchFamily="17" charset="-127"/>
                <a:ea typeface="바탕체" panose="02030609000101010101" pitchFamily="17" charset="-127"/>
              </a:rPr>
              <a:t>정부지출</a:t>
            </a:r>
            <a:endParaRPr lang="en-US" altLang="ko-KR" sz="1600" dirty="0">
              <a:latin typeface="바탕체" panose="02030609000101010101" pitchFamily="17" charset="-127"/>
              <a:ea typeface="바탕체" panose="02030609000101010101" pitchFamily="17" charset="-127"/>
            </a:endParaRPr>
          </a:p>
          <a:p>
            <a:pPr marL="273600" indent="-273600" eaLnBrk="1" hangingPunct="1">
              <a:lnSpc>
                <a:spcPct val="90000"/>
              </a:lnSpc>
              <a:spcBef>
                <a:spcPct val="30000"/>
              </a:spcBef>
              <a:buClr>
                <a:srgbClr val="FF9900"/>
              </a:buClr>
              <a:buFont typeface="Wingdings" panose="05000000000000000000" pitchFamily="2" charset="2"/>
              <a:buNone/>
              <a:defRPr/>
            </a:pPr>
            <a:endParaRPr lang="ko-KR" altLang="en-US" sz="1600" dirty="0">
              <a:latin typeface="바탕체" panose="02030609000101010101" pitchFamily="17" charset="-127"/>
              <a:ea typeface="바탕체" panose="02030609000101010101" pitchFamily="17" charset="-127"/>
            </a:endParaRPr>
          </a:p>
          <a:p>
            <a:pPr eaLnBrk="1" hangingPunct="1">
              <a:lnSpc>
                <a:spcPct val="90000"/>
              </a:lnSpc>
              <a:spcBef>
                <a:spcPct val="30000"/>
              </a:spcBef>
              <a:buFontTx/>
              <a:buChar char="-"/>
              <a:defRPr/>
            </a:pPr>
            <a:r>
              <a:rPr lang="ko-KR" altLang="en-US" sz="1600" dirty="0">
                <a:latin typeface="바탕체" panose="02030609000101010101" pitchFamily="17" charset="-127"/>
                <a:ea typeface="바탕체" panose="02030609000101010101" pitchFamily="17" charset="-127"/>
              </a:rPr>
              <a:t>개방경제</a:t>
            </a:r>
            <a:r>
              <a:rPr lang="en-US" altLang="ko-KR" sz="1600" dirty="0">
                <a:latin typeface="바탕체" panose="02030609000101010101" pitchFamily="17" charset="-127"/>
                <a:ea typeface="바탕체" panose="02030609000101010101" pitchFamily="17" charset="-127"/>
              </a:rPr>
              <a:t>(open economy)</a:t>
            </a:r>
            <a:r>
              <a:rPr lang="ko-KR" altLang="en-US" sz="1600" dirty="0">
                <a:latin typeface="바탕체" panose="02030609000101010101" pitchFamily="17" charset="-127"/>
                <a:ea typeface="바탕체" panose="02030609000101010101" pitchFamily="17" charset="-127"/>
              </a:rPr>
              <a:t>에서의 국민소득계정</a:t>
            </a:r>
            <a:endParaRPr lang="en-US" altLang="ko-KR" sz="1600" dirty="0">
              <a:latin typeface="바탕체" panose="02030609000101010101" pitchFamily="17" charset="-127"/>
              <a:ea typeface="바탕체" panose="02030609000101010101" pitchFamily="17" charset="-127"/>
            </a:endParaRPr>
          </a:p>
          <a:p>
            <a:pPr marL="273600" indent="-273600" algn="ctr" eaLnBrk="1" hangingPunct="1">
              <a:lnSpc>
                <a:spcPct val="90000"/>
              </a:lnSpc>
              <a:spcBef>
                <a:spcPts val="1800"/>
              </a:spcBef>
              <a:buClr>
                <a:srgbClr val="FF9900"/>
              </a:buClr>
              <a:buFont typeface="Wingdings" panose="05000000000000000000" pitchFamily="2" charset="2"/>
              <a:buNone/>
              <a:defRPr/>
            </a:pPr>
            <a:r>
              <a:rPr lang="en-US" altLang="ko-KR" sz="1600" dirty="0">
                <a:latin typeface="바탕체" panose="02030609000101010101" pitchFamily="17" charset="-127"/>
                <a:ea typeface="바탕체" panose="02030609000101010101" pitchFamily="17" charset="-127"/>
              </a:rPr>
              <a:t>      Y = C+I+G+(EX-IM)</a:t>
            </a:r>
            <a:r>
              <a:rPr lang="ko-KR" altLang="en-US" sz="1600" dirty="0">
                <a:latin typeface="바탕체" panose="02030609000101010101" pitchFamily="17" charset="-127"/>
                <a:ea typeface="바탕체" panose="02030609000101010101" pitchFamily="17" charset="-127"/>
              </a:rPr>
              <a:t>              </a:t>
            </a:r>
            <a:r>
              <a:rPr lang="en-US" altLang="ko-KR" sz="1600" dirty="0">
                <a:latin typeface="바탕체" panose="02030609000101010101" pitchFamily="17" charset="-127"/>
                <a:ea typeface="바탕체" panose="02030609000101010101" pitchFamily="17" charset="-127"/>
              </a:rPr>
              <a:t>(3-2)</a:t>
            </a:r>
          </a:p>
          <a:p>
            <a:pPr marL="273600" indent="-273600" algn="ctr" eaLnBrk="1" hangingPunct="1">
              <a:lnSpc>
                <a:spcPct val="90000"/>
              </a:lnSpc>
              <a:spcBef>
                <a:spcPct val="30000"/>
              </a:spcBef>
              <a:buClr>
                <a:srgbClr val="FF9900"/>
              </a:buClr>
              <a:buFont typeface="Wingdings" panose="05000000000000000000" pitchFamily="2" charset="2"/>
              <a:buNone/>
              <a:defRPr/>
            </a:pPr>
            <a:r>
              <a:rPr lang="en-US" altLang="ko-KR" sz="1600" dirty="0">
                <a:latin typeface="바탕체" panose="02030609000101010101" pitchFamily="17" charset="-127"/>
                <a:ea typeface="바탕체" panose="02030609000101010101" pitchFamily="17" charset="-127"/>
              </a:rPr>
              <a:t>EX: </a:t>
            </a:r>
            <a:r>
              <a:rPr lang="ko-KR" altLang="en-US" sz="1600" dirty="0">
                <a:latin typeface="바탕체" panose="02030609000101010101" pitchFamily="17" charset="-127"/>
                <a:ea typeface="바탕체" panose="02030609000101010101" pitchFamily="17" charset="-127"/>
              </a:rPr>
              <a:t>수출</a:t>
            </a:r>
            <a:r>
              <a:rPr lang="en-US" altLang="ko-KR" sz="1600" dirty="0">
                <a:latin typeface="바탕체" panose="02030609000101010101" pitchFamily="17" charset="-127"/>
                <a:ea typeface="바탕체" panose="02030609000101010101" pitchFamily="17" charset="-127"/>
              </a:rPr>
              <a:t>, IM: </a:t>
            </a:r>
            <a:r>
              <a:rPr lang="ko-KR" altLang="en-US" sz="1600" dirty="0">
                <a:latin typeface="바탕체" panose="02030609000101010101" pitchFamily="17" charset="-127"/>
                <a:ea typeface="바탕체" panose="02030609000101010101" pitchFamily="17" charset="-127"/>
              </a:rPr>
              <a:t>수입</a:t>
            </a:r>
          </a:p>
          <a:p>
            <a:pPr marL="273600" indent="-273600" eaLnBrk="1" hangingPunct="1">
              <a:lnSpc>
                <a:spcPct val="90000"/>
              </a:lnSpc>
              <a:spcBef>
                <a:spcPct val="30000"/>
              </a:spcBef>
              <a:buClr>
                <a:srgbClr val="FF9900"/>
              </a:buClr>
              <a:defRPr/>
            </a:pPr>
            <a:endParaRPr lang="en-US" altLang="ko-KR" sz="1600" dirty="0">
              <a:latin typeface="바탕체" panose="02030609000101010101" pitchFamily="17" charset="-127"/>
              <a:ea typeface="바탕체" panose="02030609000101010101" pitchFamily="17" charset="-127"/>
            </a:endParaRPr>
          </a:p>
          <a:p>
            <a:pPr marL="273600" indent="-273600" eaLnBrk="1" hangingPunct="1">
              <a:lnSpc>
                <a:spcPct val="90000"/>
              </a:lnSpc>
              <a:spcBef>
                <a:spcPts val="3000"/>
              </a:spcBef>
              <a:buClr>
                <a:srgbClr val="FF9900"/>
              </a:buClr>
              <a:defRPr/>
            </a:pPr>
            <a:r>
              <a:rPr lang="ko-KR" altLang="en-US" sz="1600" dirty="0">
                <a:latin typeface="바탕체" panose="02030609000101010101" pitchFamily="17" charset="-127"/>
                <a:ea typeface="바탕체" panose="02030609000101010101" pitchFamily="17" charset="-127"/>
              </a:rPr>
              <a:t>개방경제에서 국민소득과 총지출</a:t>
            </a:r>
            <a:r>
              <a:rPr lang="en-US" altLang="ko-KR" sz="1600" dirty="0">
                <a:latin typeface="바탕체" panose="02030609000101010101" pitchFamily="17" charset="-127"/>
                <a:ea typeface="바탕체" panose="02030609000101010101" pitchFamily="17" charset="-127"/>
              </a:rPr>
              <a:t>(A=C+I+G)</a:t>
            </a:r>
            <a:r>
              <a:rPr lang="ko-KR" altLang="en-US" sz="1600" dirty="0">
                <a:latin typeface="바탕체" panose="02030609000101010101" pitchFamily="17" charset="-127"/>
                <a:ea typeface="바탕체" panose="02030609000101010101" pitchFamily="17" charset="-127"/>
              </a:rPr>
              <a:t>과의 관계</a:t>
            </a:r>
          </a:p>
          <a:p>
            <a:pPr eaLnBrk="1" hangingPunct="1">
              <a:lnSpc>
                <a:spcPct val="90000"/>
              </a:lnSpc>
              <a:spcBef>
                <a:spcPct val="30000"/>
              </a:spcBef>
              <a:buFontTx/>
              <a:buChar char="-"/>
              <a:defRPr/>
            </a:pPr>
            <a:r>
              <a:rPr lang="ko-KR" altLang="en-US" sz="1600" dirty="0">
                <a:latin typeface="바탕체" panose="02030609000101010101" pitchFamily="17" charset="-127"/>
                <a:ea typeface="바탕체" panose="02030609000101010101" pitchFamily="17" charset="-127"/>
              </a:rPr>
              <a:t>식</a:t>
            </a:r>
            <a:r>
              <a:rPr lang="en-US" altLang="ko-KR" sz="1600" dirty="0">
                <a:latin typeface="바탕체" panose="02030609000101010101" pitchFamily="17" charset="-127"/>
                <a:ea typeface="바탕체" panose="02030609000101010101" pitchFamily="17" charset="-127"/>
              </a:rPr>
              <a:t>(3-2)</a:t>
            </a:r>
            <a:r>
              <a:rPr lang="ko-KR" altLang="en-US" sz="1600" dirty="0">
                <a:latin typeface="바탕체" panose="02030609000101010101" pitchFamily="17" charset="-127"/>
                <a:ea typeface="바탕체" panose="02030609000101010101" pitchFamily="17" charset="-127"/>
              </a:rPr>
              <a:t>에 총지출을 대입하고 정리</a:t>
            </a:r>
            <a:endParaRPr lang="en-US" altLang="ko-KR" sz="1600" dirty="0">
              <a:latin typeface="바탕체" panose="02030609000101010101" pitchFamily="17" charset="-127"/>
              <a:ea typeface="바탕체" panose="02030609000101010101" pitchFamily="17" charset="-127"/>
            </a:endParaRPr>
          </a:p>
          <a:p>
            <a:pPr marL="273600" indent="-273600" algn="ctr" eaLnBrk="1" hangingPunct="1">
              <a:lnSpc>
                <a:spcPct val="90000"/>
              </a:lnSpc>
              <a:spcBef>
                <a:spcPts val="1800"/>
              </a:spcBef>
              <a:buClr>
                <a:srgbClr val="FF9900"/>
              </a:buClr>
              <a:buFont typeface="Wingdings" panose="05000000000000000000" pitchFamily="2" charset="2"/>
              <a:buNone/>
              <a:defRPr/>
            </a:pPr>
            <a:r>
              <a:rPr lang="ko-KR" altLang="en-US" sz="1600" dirty="0">
                <a:latin typeface="바탕체" panose="02030609000101010101" pitchFamily="17" charset="-127"/>
                <a:ea typeface="바탕체" panose="02030609000101010101" pitchFamily="17" charset="-127"/>
              </a:rPr>
              <a:t>       </a:t>
            </a:r>
            <a:r>
              <a:rPr lang="en-US" altLang="ko-KR" sz="1600" dirty="0">
                <a:latin typeface="바탕체" panose="02030609000101010101" pitchFamily="17" charset="-127"/>
                <a:ea typeface="바탕체" panose="02030609000101010101" pitchFamily="17" charset="-127"/>
              </a:rPr>
              <a:t>Y-A = EX-IM (</a:t>
            </a:r>
            <a:r>
              <a:rPr lang="ko-KR" altLang="en-US" sz="1600" dirty="0">
                <a:latin typeface="바탕체" panose="02030609000101010101" pitchFamily="17" charset="-127"/>
                <a:ea typeface="바탕체" panose="02030609000101010101" pitchFamily="17" charset="-127"/>
              </a:rPr>
              <a:t>혹은 </a:t>
            </a:r>
            <a:r>
              <a:rPr lang="en-US" altLang="ko-KR" sz="1600" dirty="0">
                <a:latin typeface="바탕체" panose="02030609000101010101" pitchFamily="17" charset="-127"/>
                <a:ea typeface="바탕체" panose="02030609000101010101" pitchFamily="17" charset="-127"/>
              </a:rPr>
              <a:t>CA)          (3-3)</a:t>
            </a:r>
          </a:p>
          <a:p>
            <a:pPr eaLnBrk="1" hangingPunct="1">
              <a:lnSpc>
                <a:spcPct val="90000"/>
              </a:lnSpc>
              <a:spcBef>
                <a:spcPts val="1200"/>
              </a:spcBef>
              <a:buFontTx/>
              <a:buChar char="-"/>
              <a:defRPr/>
            </a:pPr>
            <a:r>
              <a:rPr lang="ko-KR" altLang="en-US" sz="1600" dirty="0">
                <a:latin typeface="바탕체" panose="02030609000101010101" pitchFamily="17" charset="-127"/>
                <a:ea typeface="바탕체" panose="02030609000101010101" pitchFamily="17" charset="-127"/>
              </a:rPr>
              <a:t>국민소득이 총지출을 초과하면 경상수지 흑자</a:t>
            </a:r>
            <a:r>
              <a:rPr lang="en-US" altLang="ko-KR" sz="1600" dirty="0">
                <a:latin typeface="바탕체" panose="02030609000101010101" pitchFamily="17" charset="-127"/>
                <a:ea typeface="바탕체" panose="02030609000101010101" pitchFamily="17" charset="-127"/>
              </a:rPr>
              <a:t>, </a:t>
            </a:r>
            <a:r>
              <a:rPr lang="ko-KR" altLang="en-US" sz="1600" dirty="0">
                <a:latin typeface="바탕체" panose="02030609000101010101" pitchFamily="17" charset="-127"/>
                <a:ea typeface="바탕체" panose="02030609000101010101" pitchFamily="17" charset="-127"/>
              </a:rPr>
              <a:t>반대이면 경상수지 적자</a:t>
            </a:r>
            <a:endParaRPr lang="en-US" altLang="ko-KR" sz="1600" dirty="0">
              <a:latin typeface="바탕체" panose="02030609000101010101" pitchFamily="17" charset="-127"/>
              <a:ea typeface="바탕체" panose="02030609000101010101" pitchFamily="17" charset="-127"/>
            </a:endParaRPr>
          </a:p>
          <a:p>
            <a:pPr eaLnBrk="1" hangingPunct="1">
              <a:defRPr/>
            </a:pPr>
            <a:endParaRPr lang="ko-KR" alt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제목 1"/>
          <p:cNvSpPr>
            <a:spLocks noGrp="1"/>
          </p:cNvSpPr>
          <p:nvPr>
            <p:ph idx="1"/>
          </p:nvPr>
        </p:nvSpPr>
        <p:spPr>
          <a:xfrm>
            <a:off x="457200" y="1052513"/>
            <a:ext cx="8229600" cy="5616575"/>
          </a:xfrm>
        </p:spPr>
        <p:txBody>
          <a:bodyPr/>
          <a:lstStyle/>
          <a:p>
            <a:pPr marL="273600" indent="-273600" eaLnBrk="1" hangingPunct="1">
              <a:lnSpc>
                <a:spcPct val="90000"/>
              </a:lnSpc>
              <a:spcBef>
                <a:spcPct val="30000"/>
              </a:spcBef>
              <a:buClr>
                <a:srgbClr val="FF9900"/>
              </a:buClr>
              <a:defRPr/>
            </a:pPr>
            <a:r>
              <a:rPr lang="ko-KR" altLang="en-US" sz="1700" dirty="0">
                <a:latin typeface="바탕체" panose="02030609000101010101" pitchFamily="17" charset="-127"/>
                <a:ea typeface="바탕체" panose="02030609000101010101" pitchFamily="17" charset="-127"/>
              </a:rPr>
              <a:t>경상수지와 저축</a:t>
            </a:r>
            <a:r>
              <a:rPr lang="en-US" altLang="ko-KR" sz="1700" dirty="0">
                <a:latin typeface="바탕체" panose="02030609000101010101" pitchFamily="17" charset="-127"/>
                <a:ea typeface="바탕체" panose="02030609000101010101" pitchFamily="17" charset="-127"/>
              </a:rPr>
              <a:t>(S)·</a:t>
            </a:r>
            <a:r>
              <a:rPr lang="ko-KR" altLang="en-US" sz="1700" dirty="0">
                <a:latin typeface="바탕체" panose="02030609000101010101" pitchFamily="17" charset="-127"/>
                <a:ea typeface="바탕체" panose="02030609000101010101" pitchFamily="17" charset="-127"/>
              </a:rPr>
              <a:t>투자</a:t>
            </a:r>
            <a:r>
              <a:rPr lang="en-US" altLang="ko-KR" sz="1700" dirty="0">
                <a:latin typeface="바탕체" panose="02030609000101010101" pitchFamily="17" charset="-127"/>
                <a:ea typeface="바탕체" panose="02030609000101010101" pitchFamily="17" charset="-127"/>
              </a:rPr>
              <a:t>(I)</a:t>
            </a:r>
            <a:r>
              <a:rPr lang="ko-KR" altLang="en-US" sz="1700" dirty="0">
                <a:latin typeface="바탕체" panose="02030609000101010101" pitchFamily="17" charset="-127"/>
                <a:ea typeface="바탕체" panose="02030609000101010101" pitchFamily="17" charset="-127"/>
              </a:rPr>
              <a:t>와의 관계</a:t>
            </a:r>
          </a:p>
          <a:p>
            <a:pPr eaLnBrk="1" hangingPunct="1">
              <a:lnSpc>
                <a:spcPct val="90000"/>
              </a:lnSpc>
              <a:spcBef>
                <a:spcPts val="1800"/>
              </a:spcBef>
              <a:buFontTx/>
              <a:buChar char="-"/>
              <a:defRPr/>
            </a:pPr>
            <a:r>
              <a:rPr lang="ko-KR" altLang="en-US" sz="1700" dirty="0">
                <a:latin typeface="바탕체" panose="02030609000101010101" pitchFamily="17" charset="-127"/>
                <a:ea typeface="바탕체" panose="02030609000101010101" pitchFamily="17" charset="-127"/>
              </a:rPr>
              <a:t>국민소득계정에서 </a:t>
            </a:r>
            <a:r>
              <a:rPr lang="en-US" altLang="ko-KR" sz="1700" dirty="0">
                <a:latin typeface="바탕체" panose="02030609000101010101" pitchFamily="17" charset="-127"/>
                <a:ea typeface="바탕체" panose="02030609000101010101" pitchFamily="17" charset="-127"/>
              </a:rPr>
              <a:t>Saving(S)=Y–C–G,</a:t>
            </a:r>
            <a:r>
              <a:rPr lang="ko-KR" altLang="en-US" sz="1700" dirty="0">
                <a:latin typeface="바탕체" panose="02030609000101010101" pitchFamily="17" charset="-127"/>
                <a:ea typeface="바탕체" panose="02030609000101010101" pitchFamily="17" charset="-127"/>
              </a:rPr>
              <a:t>앞에서 </a:t>
            </a:r>
            <a:r>
              <a:rPr lang="en-US" altLang="ko-KR" sz="1700" dirty="0">
                <a:latin typeface="바탕체" panose="02030609000101010101" pitchFamily="17" charset="-127"/>
                <a:ea typeface="바탕체" panose="02030609000101010101" pitchFamily="17" charset="-127"/>
              </a:rPr>
              <a:t>Y=C+I+G+CA </a:t>
            </a:r>
          </a:p>
          <a:p>
            <a:pPr marL="0" indent="0" eaLnBrk="1" hangingPunct="1">
              <a:lnSpc>
                <a:spcPct val="90000"/>
              </a:lnSpc>
              <a:spcBef>
                <a:spcPts val="1800"/>
              </a:spcBef>
              <a:buFontTx/>
              <a:buNone/>
              <a:defRPr/>
            </a:pPr>
            <a:r>
              <a:rPr lang="en-US" altLang="ko-KR" sz="1700" dirty="0">
                <a:latin typeface="바탕체" panose="02030609000101010101" pitchFamily="17" charset="-127"/>
                <a:ea typeface="바탕체" panose="02030609000101010101" pitchFamily="17" charset="-127"/>
              </a:rPr>
              <a:t>	CA = Y – C – I – G</a:t>
            </a:r>
          </a:p>
          <a:p>
            <a:pPr marL="0" indent="0" eaLnBrk="1" hangingPunct="1">
              <a:lnSpc>
                <a:spcPct val="90000"/>
              </a:lnSpc>
              <a:spcBef>
                <a:spcPts val="1800"/>
              </a:spcBef>
              <a:buFontTx/>
              <a:buNone/>
              <a:defRPr/>
            </a:pPr>
            <a:r>
              <a:rPr lang="en-US" altLang="ko-KR" sz="1700" dirty="0">
                <a:latin typeface="바탕체" panose="02030609000101010101" pitchFamily="17" charset="-127"/>
                <a:ea typeface="바탕체" panose="02030609000101010101" pitchFamily="17" charset="-127"/>
              </a:rPr>
              <a:t>	   = S – I</a:t>
            </a:r>
          </a:p>
          <a:p>
            <a:pPr marL="0" indent="0" eaLnBrk="1" hangingPunct="1">
              <a:lnSpc>
                <a:spcPct val="90000"/>
              </a:lnSpc>
              <a:spcBef>
                <a:spcPts val="1800"/>
              </a:spcBef>
              <a:buFontTx/>
              <a:buNone/>
              <a:defRPr/>
            </a:pPr>
            <a:r>
              <a:rPr lang="en-US" altLang="ko-KR" sz="1700" dirty="0">
                <a:latin typeface="바탕체" panose="02030609000101010101" pitchFamily="17" charset="-127"/>
                <a:ea typeface="바탕체" panose="02030609000101010101" pitchFamily="17" charset="-127"/>
              </a:rPr>
              <a:t>	   =(Y – C – tax) + (tax – G) – I</a:t>
            </a:r>
          </a:p>
          <a:p>
            <a:pPr marL="0" indent="0" eaLnBrk="1" hangingPunct="1">
              <a:lnSpc>
                <a:spcPct val="90000"/>
              </a:lnSpc>
              <a:spcBef>
                <a:spcPts val="1800"/>
              </a:spcBef>
              <a:buFontTx/>
              <a:buNone/>
              <a:defRPr/>
            </a:pPr>
            <a:r>
              <a:rPr lang="en-US" altLang="ko-KR" sz="1700" dirty="0">
                <a:latin typeface="바탕체" panose="02030609000101010101" pitchFamily="17" charset="-127"/>
                <a:ea typeface="바탕체" panose="02030609000101010101" pitchFamily="17" charset="-127"/>
              </a:rPr>
              <a:t>	   = </a:t>
            </a:r>
            <a:r>
              <a:rPr lang="en-US" altLang="ko-KR" sz="1800" dirty="0" err="1">
                <a:latin typeface="바탕체" panose="02030609000101010101" pitchFamily="17" charset="-127"/>
                <a:ea typeface="바탕체" panose="02030609000101010101" pitchFamily="17" charset="-127"/>
              </a:rPr>
              <a:t>S</a:t>
            </a:r>
            <a:r>
              <a:rPr lang="en-US" altLang="ko-KR" sz="1800" baseline="30000" dirty="0" err="1">
                <a:latin typeface="바탕체" panose="02030609000101010101" pitchFamily="17" charset="-127"/>
                <a:ea typeface="바탕체" panose="02030609000101010101" pitchFamily="17" charset="-127"/>
              </a:rPr>
              <a:t>private</a:t>
            </a:r>
            <a:r>
              <a:rPr lang="en-US" altLang="ko-KR" sz="1800" baseline="30000" dirty="0">
                <a:latin typeface="바탕체" panose="02030609000101010101" pitchFamily="17" charset="-127"/>
                <a:ea typeface="바탕체" panose="02030609000101010101" pitchFamily="17" charset="-127"/>
              </a:rPr>
              <a:t> </a:t>
            </a:r>
            <a:r>
              <a:rPr lang="en-US" altLang="ko-KR" sz="1800" dirty="0">
                <a:latin typeface="바탕체" panose="02030609000101010101" pitchFamily="17" charset="-127"/>
                <a:ea typeface="바탕체" panose="02030609000101010101" pitchFamily="17" charset="-127"/>
              </a:rPr>
              <a:t>+ </a:t>
            </a:r>
            <a:r>
              <a:rPr lang="en-US" altLang="ko-KR" sz="1800" dirty="0" err="1">
                <a:latin typeface="바탕체" panose="02030609000101010101" pitchFamily="17" charset="-127"/>
                <a:ea typeface="바탕체" panose="02030609000101010101" pitchFamily="17" charset="-127"/>
              </a:rPr>
              <a:t>S</a:t>
            </a:r>
            <a:r>
              <a:rPr lang="en-US" altLang="ko-KR" sz="1800" baseline="30000" dirty="0" err="1">
                <a:latin typeface="바탕체" panose="02030609000101010101" pitchFamily="17" charset="-127"/>
                <a:ea typeface="바탕체" panose="02030609000101010101" pitchFamily="17" charset="-127"/>
              </a:rPr>
              <a:t>public</a:t>
            </a:r>
            <a:r>
              <a:rPr lang="en-US" altLang="ko-KR" sz="1800" baseline="30000" dirty="0">
                <a:latin typeface="바탕체" panose="02030609000101010101" pitchFamily="17" charset="-127"/>
                <a:ea typeface="바탕체" panose="02030609000101010101" pitchFamily="17" charset="-127"/>
              </a:rPr>
              <a:t> </a:t>
            </a:r>
            <a:r>
              <a:rPr lang="en-US" altLang="ko-KR" sz="1800" dirty="0">
                <a:latin typeface="바탕체" panose="02030609000101010101" pitchFamily="17" charset="-127"/>
                <a:ea typeface="바탕체" panose="02030609000101010101" pitchFamily="17" charset="-127"/>
              </a:rPr>
              <a:t>– I</a:t>
            </a:r>
            <a:endParaRPr lang="en-US" altLang="ko-KR" sz="1700" dirty="0">
              <a:latin typeface="바탕체" panose="02030609000101010101" pitchFamily="17" charset="-127"/>
              <a:ea typeface="바탕체" panose="02030609000101010101" pitchFamily="17" charset="-127"/>
            </a:endParaRPr>
          </a:p>
          <a:p>
            <a:pPr marL="273600" indent="-273600" eaLnBrk="1" hangingPunct="1">
              <a:lnSpc>
                <a:spcPct val="90000"/>
              </a:lnSpc>
              <a:spcBef>
                <a:spcPct val="30000"/>
              </a:spcBef>
              <a:buClr>
                <a:srgbClr val="FF9900"/>
              </a:buClr>
              <a:buFontTx/>
              <a:buNone/>
              <a:defRPr/>
            </a:pPr>
            <a:endParaRPr lang="en-US" altLang="ko-KR" sz="1700" dirty="0">
              <a:latin typeface="바탕체" panose="02030609000101010101" pitchFamily="17" charset="-127"/>
              <a:ea typeface="바탕체" panose="02030609000101010101" pitchFamily="17" charset="-127"/>
            </a:endParaRPr>
          </a:p>
          <a:p>
            <a:pPr marL="273600" indent="-273600" eaLnBrk="1" hangingPunct="1">
              <a:lnSpc>
                <a:spcPct val="90000"/>
              </a:lnSpc>
              <a:spcBef>
                <a:spcPct val="30000"/>
              </a:spcBef>
              <a:buClr>
                <a:srgbClr val="FF9900"/>
              </a:buClr>
              <a:buFontTx/>
              <a:buNone/>
              <a:defRPr/>
            </a:pPr>
            <a:endParaRPr lang="ko-KR" altLang="en-US" sz="1700" dirty="0">
              <a:latin typeface="바탕체" panose="02030609000101010101" pitchFamily="17" charset="-127"/>
              <a:ea typeface="바탕체" panose="02030609000101010101" pitchFamily="17" charset="-127"/>
            </a:endParaRPr>
          </a:p>
          <a:p>
            <a:pPr eaLnBrk="1" hangingPunct="1">
              <a:lnSpc>
                <a:spcPct val="90000"/>
              </a:lnSpc>
              <a:spcBef>
                <a:spcPct val="30000"/>
              </a:spcBef>
              <a:buClr>
                <a:srgbClr val="FF9900"/>
              </a:buClr>
              <a:buFont typeface="Arial" panose="020B0604020202020204" pitchFamily="34" charset="0"/>
              <a:buChar char="•"/>
              <a:defRPr/>
            </a:pPr>
            <a:r>
              <a:rPr lang="en-US" altLang="ko-KR" sz="1500" dirty="0">
                <a:latin typeface="바탕체" panose="02030609000101010101" pitchFamily="17" charset="-127"/>
                <a:ea typeface="바탕체" panose="02030609000101010101" pitchFamily="17" charset="-127"/>
              </a:rPr>
              <a:t>Twin deficits</a:t>
            </a:r>
          </a:p>
          <a:p>
            <a:pPr eaLnBrk="1" hangingPunct="1">
              <a:lnSpc>
                <a:spcPct val="90000"/>
              </a:lnSpc>
              <a:spcBef>
                <a:spcPct val="30000"/>
              </a:spcBef>
              <a:buClr>
                <a:srgbClr val="FF9900"/>
              </a:buClr>
              <a:buFont typeface="Arial" panose="020B0604020202020204" pitchFamily="34" charset="0"/>
              <a:buChar char="•"/>
              <a:defRPr/>
            </a:pPr>
            <a:r>
              <a:rPr lang="en-US" altLang="ko-KR" sz="1500" dirty="0">
                <a:latin typeface="바탕체" panose="02030609000101010101" pitchFamily="17" charset="-127"/>
                <a:ea typeface="바탕체" panose="02030609000101010101" pitchFamily="17" charset="-127"/>
              </a:rPr>
              <a:t>Example of Japan and US</a:t>
            </a:r>
            <a:endParaRPr lang="ko-KR" alt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제목 1"/>
          <p:cNvSpPr>
            <a:spLocks noGrp="1"/>
          </p:cNvSpPr>
          <p:nvPr>
            <p:ph idx="1"/>
          </p:nvPr>
        </p:nvSpPr>
        <p:spPr>
          <a:xfrm>
            <a:off x="457200" y="981075"/>
            <a:ext cx="8229600" cy="5688013"/>
          </a:xfrm>
        </p:spPr>
        <p:txBody>
          <a:bodyPr/>
          <a:lstStyle/>
          <a:p>
            <a:pPr marL="273600" indent="-273600" eaLnBrk="1" hangingPunct="1">
              <a:spcBef>
                <a:spcPct val="30000"/>
              </a:spcBef>
              <a:buFont typeface="Wingdings" panose="05000000000000000000" pitchFamily="2" charset="2"/>
              <a:buNone/>
              <a:defRPr/>
            </a:pPr>
            <a:r>
              <a:rPr lang="ko-KR" altLang="en-US" sz="2000" b="1" u="sng" dirty="0">
                <a:latin typeface="바탕체" panose="02030609000101010101" pitchFamily="17" charset="-127"/>
                <a:ea typeface="바탕체" panose="02030609000101010101" pitchFamily="17" charset="-127"/>
              </a:rPr>
              <a:t>국제수지와 통화부문과의 관계</a:t>
            </a:r>
          </a:p>
          <a:p>
            <a:pPr marL="273600" indent="-273600" eaLnBrk="1" hangingPunct="1">
              <a:spcBef>
                <a:spcPct val="30000"/>
              </a:spcBef>
              <a:buClr>
                <a:srgbClr val="FF9900"/>
              </a:buClr>
              <a:defRPr/>
            </a:pPr>
            <a:endParaRPr lang="ko-KR" altLang="en-US" sz="2000" dirty="0">
              <a:latin typeface="바탕체" panose="02030609000101010101" pitchFamily="17" charset="-127"/>
              <a:ea typeface="바탕체" panose="02030609000101010101" pitchFamily="17" charset="-127"/>
            </a:endParaRPr>
          </a:p>
          <a:p>
            <a:pPr marL="273600" indent="-273600" eaLnBrk="1" hangingPunct="1">
              <a:spcBef>
                <a:spcPct val="30000"/>
              </a:spcBef>
              <a:buClr>
                <a:srgbClr val="FF9900"/>
              </a:buClr>
              <a:defRPr/>
            </a:pPr>
            <a:r>
              <a:rPr lang="ko-KR" altLang="en-US" sz="1900" dirty="0">
                <a:latin typeface="바탕체" panose="02030609000101010101" pitchFamily="17" charset="-127"/>
                <a:ea typeface="바탕체" panose="02030609000101010101" pitchFamily="17" charset="-127"/>
              </a:rPr>
              <a:t>경상수지와 외화자산</a:t>
            </a:r>
          </a:p>
          <a:p>
            <a:pPr eaLnBrk="1" hangingPunct="1">
              <a:spcBef>
                <a:spcPct val="30000"/>
              </a:spcBef>
              <a:buFontTx/>
              <a:buChar char="-"/>
              <a:defRPr/>
            </a:pPr>
            <a:r>
              <a:rPr lang="ko-KR" altLang="en-US" sz="1600" dirty="0">
                <a:latin typeface="바탕체" panose="02030609000101010101" pitchFamily="17" charset="-127"/>
                <a:ea typeface="바탕체" panose="02030609000101010101" pitchFamily="17" charset="-127"/>
              </a:rPr>
              <a:t>경상수지 흑자는 외국에 더 많은 물건을 팔아 외화를 취득했음을 의미하기 때문에 순외화자산</a:t>
            </a:r>
            <a:r>
              <a:rPr lang="en-US" altLang="ko-KR" sz="1600" dirty="0">
                <a:latin typeface="바탕체" panose="02030609000101010101" pitchFamily="17" charset="-127"/>
                <a:ea typeface="바탕체" panose="02030609000101010101" pitchFamily="17" charset="-127"/>
              </a:rPr>
              <a:t>(NFA)</a:t>
            </a:r>
            <a:r>
              <a:rPr lang="ko-KR" altLang="en-US" sz="1600" dirty="0">
                <a:latin typeface="바탕체" panose="02030609000101010101" pitchFamily="17" charset="-127"/>
                <a:ea typeface="바탕체" panose="02030609000101010101" pitchFamily="17" charset="-127"/>
              </a:rPr>
              <a:t>이 증가하고</a:t>
            </a:r>
            <a:r>
              <a:rPr lang="en-US" altLang="ko-KR" sz="1600" dirty="0">
                <a:latin typeface="바탕체" panose="02030609000101010101" pitchFamily="17" charset="-127"/>
                <a:ea typeface="바탕체" panose="02030609000101010101" pitchFamily="17" charset="-127"/>
              </a:rPr>
              <a:t>, </a:t>
            </a:r>
            <a:r>
              <a:rPr lang="ko-KR" altLang="en-US" sz="1600" dirty="0">
                <a:latin typeface="바탕체" panose="02030609000101010101" pitchFamily="17" charset="-127"/>
                <a:ea typeface="바탕체" panose="02030609000101010101" pitchFamily="17" charset="-127"/>
              </a:rPr>
              <a:t>반대로 적자의 경우에는 순외화자산이 감소</a:t>
            </a:r>
            <a:endParaRPr lang="en-US" altLang="ko-KR" sz="1600" dirty="0">
              <a:latin typeface="바탕체" panose="02030609000101010101" pitchFamily="17" charset="-127"/>
              <a:ea typeface="바탕체" panose="02030609000101010101" pitchFamily="17" charset="-127"/>
            </a:endParaRPr>
          </a:p>
          <a:p>
            <a:pPr eaLnBrk="1" hangingPunct="1">
              <a:spcBef>
                <a:spcPct val="30000"/>
              </a:spcBef>
              <a:buFontTx/>
              <a:buChar char="-"/>
              <a:defRPr/>
            </a:pPr>
            <a:r>
              <a:rPr lang="ko-KR" altLang="en-US" sz="1600" dirty="0">
                <a:latin typeface="바탕체" panose="02030609000101010101" pitchFamily="17" charset="-127"/>
                <a:ea typeface="바탕체" panose="02030609000101010101" pitchFamily="17" charset="-127"/>
              </a:rPr>
              <a:t>즉 경상수지와 순외화자산 간에는 다음의 관계가 성립</a:t>
            </a:r>
          </a:p>
          <a:p>
            <a:pPr marL="273600" indent="-273600" algn="ctr" eaLnBrk="1" hangingPunct="1">
              <a:spcBef>
                <a:spcPts val="1200"/>
              </a:spcBef>
              <a:buClr>
                <a:srgbClr val="FF9900"/>
              </a:buClr>
              <a:buFont typeface="Wingdings" panose="05000000000000000000" pitchFamily="2" charset="2"/>
              <a:buNone/>
              <a:defRPr/>
            </a:pPr>
            <a:r>
              <a:rPr lang="ko-KR" altLang="en-US" sz="1600" dirty="0">
                <a:latin typeface="바탕체" panose="02030609000101010101" pitchFamily="17" charset="-127"/>
                <a:ea typeface="바탕체" panose="02030609000101010101" pitchFamily="17" charset="-127"/>
              </a:rPr>
              <a:t>      </a:t>
            </a:r>
            <a:r>
              <a:rPr lang="en-US" altLang="ko-KR" sz="1600" dirty="0">
                <a:latin typeface="바탕체" panose="02030609000101010101" pitchFamily="17" charset="-127"/>
                <a:ea typeface="바탕체" panose="02030609000101010101" pitchFamily="17" charset="-127"/>
              </a:rPr>
              <a:t>(X-IM) = </a:t>
            </a:r>
            <a:r>
              <a:rPr lang="el-GR" altLang="ko-KR" sz="1600" dirty="0">
                <a:latin typeface="바탕체" panose="02030609000101010101" pitchFamily="17" charset="-127"/>
                <a:ea typeface="바탕체" panose="02030609000101010101" pitchFamily="17" charset="-127"/>
              </a:rPr>
              <a:t>Δ</a:t>
            </a:r>
            <a:r>
              <a:rPr lang="en-US" altLang="ko-KR" sz="1600" dirty="0">
                <a:latin typeface="바탕체" panose="02030609000101010101" pitchFamily="17" charset="-127"/>
                <a:ea typeface="바탕체" panose="02030609000101010101" pitchFamily="17" charset="-127"/>
              </a:rPr>
              <a:t>NFA            (3-4)</a:t>
            </a:r>
          </a:p>
          <a:p>
            <a:pPr marL="273600" indent="-273600" eaLnBrk="1" hangingPunct="1">
              <a:spcBef>
                <a:spcPct val="30000"/>
              </a:spcBef>
              <a:buClr>
                <a:srgbClr val="FF9900"/>
              </a:buClr>
              <a:defRPr/>
            </a:pPr>
            <a:endParaRPr lang="en-US" altLang="ko-KR" sz="1600" dirty="0">
              <a:latin typeface="바탕체" panose="02030609000101010101" pitchFamily="17" charset="-127"/>
              <a:ea typeface="바탕체" panose="02030609000101010101" pitchFamily="17" charset="-127"/>
            </a:endParaRPr>
          </a:p>
          <a:p>
            <a:pPr marL="273600" indent="-273600" eaLnBrk="1" hangingPunct="1">
              <a:spcBef>
                <a:spcPct val="30000"/>
              </a:spcBef>
              <a:buClr>
                <a:srgbClr val="FF9900"/>
              </a:buClr>
              <a:defRPr/>
            </a:pPr>
            <a:r>
              <a:rPr lang="ko-KR" altLang="en-US" sz="1600" dirty="0">
                <a:latin typeface="바탕체" panose="02030609000101010101" pitchFamily="17" charset="-127"/>
                <a:ea typeface="바탕체" panose="02030609000101010101" pitchFamily="17" charset="-127"/>
              </a:rPr>
              <a:t>국제수지와 통화공급</a:t>
            </a:r>
          </a:p>
          <a:p>
            <a:pPr eaLnBrk="1" hangingPunct="1">
              <a:spcBef>
                <a:spcPct val="30000"/>
              </a:spcBef>
              <a:buFontTx/>
              <a:buChar char="-"/>
              <a:defRPr/>
            </a:pPr>
            <a:r>
              <a:rPr lang="ko-KR" altLang="en-US" sz="1600" dirty="0">
                <a:latin typeface="바탕체" panose="02030609000101010101" pitchFamily="17" charset="-127"/>
                <a:ea typeface="바탕체" panose="02030609000101010101" pitchFamily="17" charset="-127"/>
              </a:rPr>
              <a:t>중앙은행의 대차대조표에서 본원통화</a:t>
            </a:r>
            <a:r>
              <a:rPr lang="en-US" altLang="ko-KR" sz="1600" dirty="0">
                <a:latin typeface="바탕체" panose="02030609000101010101" pitchFamily="17" charset="-127"/>
                <a:ea typeface="바탕체" panose="02030609000101010101" pitchFamily="17" charset="-127"/>
              </a:rPr>
              <a:t>(H)</a:t>
            </a:r>
            <a:r>
              <a:rPr lang="ko-KR" altLang="en-US" sz="1600" dirty="0">
                <a:latin typeface="바탕체" panose="02030609000101010101" pitchFamily="17" charset="-127"/>
                <a:ea typeface="바탕체" panose="02030609000101010101" pitchFamily="17" charset="-127"/>
              </a:rPr>
              <a:t>는 국내여신</a:t>
            </a:r>
            <a:r>
              <a:rPr lang="en-US" altLang="ko-KR" sz="1600" dirty="0">
                <a:latin typeface="바탕체" panose="02030609000101010101" pitchFamily="17" charset="-127"/>
                <a:ea typeface="바탕체" panose="02030609000101010101" pitchFamily="17" charset="-127"/>
              </a:rPr>
              <a:t>(DC)</a:t>
            </a:r>
            <a:r>
              <a:rPr lang="ko-KR" altLang="en-US" sz="1600" dirty="0">
                <a:latin typeface="바탕체" panose="02030609000101010101" pitchFamily="17" charset="-127"/>
                <a:ea typeface="바탕체" panose="02030609000101010101" pitchFamily="17" charset="-127"/>
              </a:rPr>
              <a:t>과 순외화자산의 합과 일치</a:t>
            </a:r>
            <a:endParaRPr lang="en-US" altLang="ko-KR" sz="1600" dirty="0">
              <a:latin typeface="바탕체" panose="02030609000101010101" pitchFamily="17" charset="-127"/>
              <a:ea typeface="바탕체" panose="02030609000101010101" pitchFamily="17" charset="-127"/>
            </a:endParaRPr>
          </a:p>
          <a:p>
            <a:pPr marL="273600" indent="-273600" algn="ctr" eaLnBrk="1" hangingPunct="1">
              <a:spcBef>
                <a:spcPct val="30000"/>
              </a:spcBef>
              <a:buClr>
                <a:srgbClr val="FF9900"/>
              </a:buClr>
              <a:buFont typeface="Wingdings" panose="05000000000000000000" pitchFamily="2" charset="2"/>
              <a:buNone/>
              <a:defRPr/>
            </a:pPr>
            <a:r>
              <a:rPr lang="ko-KR" altLang="en-US" sz="1600" dirty="0">
                <a:latin typeface="바탕체" panose="02030609000101010101" pitchFamily="17" charset="-127"/>
                <a:ea typeface="바탕체" panose="02030609000101010101" pitchFamily="17" charset="-127"/>
              </a:rPr>
              <a:t>      </a:t>
            </a:r>
            <a:r>
              <a:rPr lang="en-US" altLang="ko-KR" sz="1600" dirty="0">
                <a:latin typeface="바탕체" panose="02030609000101010101" pitchFamily="17" charset="-127"/>
                <a:ea typeface="바탕체" panose="02030609000101010101" pitchFamily="17" charset="-127"/>
              </a:rPr>
              <a:t>NFA+DC= H                 (3-5)</a:t>
            </a:r>
          </a:p>
          <a:p>
            <a:pPr eaLnBrk="1" hangingPunct="1">
              <a:spcBef>
                <a:spcPts val="1200"/>
              </a:spcBef>
              <a:spcAft>
                <a:spcPts val="1800"/>
              </a:spcAft>
              <a:buFontTx/>
              <a:buChar char="-"/>
              <a:defRPr/>
            </a:pPr>
            <a:r>
              <a:rPr lang="ko-KR" altLang="en-US" sz="1600" dirty="0">
                <a:latin typeface="바탕체" panose="02030609000101010101" pitchFamily="17" charset="-127"/>
                <a:ea typeface="바탕체" panose="02030609000101010101" pitchFamily="17" charset="-127"/>
              </a:rPr>
              <a:t>따라서 외화자산의 변화가 생기면 본원통화도 변화</a:t>
            </a:r>
            <a:endParaRPr lang="en-US" altLang="ko-KR" sz="1600" dirty="0">
              <a:latin typeface="바탕체" panose="02030609000101010101" pitchFamily="17" charset="-127"/>
              <a:ea typeface="바탕체" panose="02030609000101010101" pitchFamily="17" charset="-127"/>
            </a:endParaRPr>
          </a:p>
          <a:p>
            <a:pPr marL="273600" indent="-273600" algn="ctr" eaLnBrk="1" hangingPunct="1">
              <a:spcBef>
                <a:spcPct val="30000"/>
              </a:spcBef>
              <a:buClr>
                <a:srgbClr val="FF9900"/>
              </a:buClr>
              <a:buFont typeface="Wingdings" panose="05000000000000000000" pitchFamily="2" charset="2"/>
              <a:buNone/>
              <a:defRPr/>
            </a:pPr>
            <a:r>
              <a:rPr lang="en-US" altLang="ko-KR" sz="1600" dirty="0">
                <a:latin typeface="바탕체" panose="02030609000101010101" pitchFamily="17" charset="-127"/>
                <a:ea typeface="바탕체" panose="02030609000101010101" pitchFamily="17" charset="-127"/>
              </a:rPr>
              <a:t>      </a:t>
            </a:r>
            <a:r>
              <a:rPr lang="el-GR" altLang="ko-KR" sz="1600" dirty="0">
                <a:latin typeface="바탕체" panose="02030609000101010101" pitchFamily="17" charset="-127"/>
                <a:ea typeface="바탕체" panose="02030609000101010101" pitchFamily="17" charset="-127"/>
              </a:rPr>
              <a:t>Δ</a:t>
            </a:r>
            <a:r>
              <a:rPr lang="en-US" altLang="ko-KR" sz="1600" dirty="0">
                <a:latin typeface="바탕체" panose="02030609000101010101" pitchFamily="17" charset="-127"/>
                <a:ea typeface="바탕체" panose="02030609000101010101" pitchFamily="17" charset="-127"/>
              </a:rPr>
              <a:t>NFA+</a:t>
            </a:r>
            <a:r>
              <a:rPr lang="el-GR" altLang="ko-KR" sz="1600" dirty="0">
                <a:latin typeface="바탕체" panose="02030609000101010101" pitchFamily="17" charset="-127"/>
                <a:ea typeface="바탕체" panose="02030609000101010101" pitchFamily="17" charset="-127"/>
              </a:rPr>
              <a:t>Δ</a:t>
            </a:r>
            <a:r>
              <a:rPr lang="en-US" altLang="ko-KR" sz="1600" dirty="0">
                <a:latin typeface="바탕체" panose="02030609000101010101" pitchFamily="17" charset="-127"/>
                <a:ea typeface="바탕체" panose="02030609000101010101" pitchFamily="17" charset="-127"/>
              </a:rPr>
              <a:t>DC = </a:t>
            </a:r>
            <a:r>
              <a:rPr lang="el-GR" altLang="ko-KR" sz="1600" dirty="0">
                <a:latin typeface="바탕체" panose="02030609000101010101" pitchFamily="17" charset="-127"/>
                <a:ea typeface="바탕체" panose="02030609000101010101" pitchFamily="17" charset="-127"/>
              </a:rPr>
              <a:t>Δ</a:t>
            </a:r>
            <a:r>
              <a:rPr lang="en-US" altLang="ko-KR" sz="1600" dirty="0">
                <a:latin typeface="바탕체" panose="02030609000101010101" pitchFamily="17" charset="-127"/>
                <a:ea typeface="바탕체" panose="02030609000101010101" pitchFamily="17" charset="-127"/>
              </a:rPr>
              <a:t>H          (3-6)</a:t>
            </a:r>
            <a:endParaRPr lang="el-GR" altLang="ko-KR" sz="1600" dirty="0">
              <a:latin typeface="바탕체" panose="02030609000101010101" pitchFamily="17" charset="-127"/>
              <a:ea typeface="바탕체" panose="02030609000101010101" pitchFamily="17" charset="-127"/>
            </a:endParaRPr>
          </a:p>
          <a:p>
            <a:pPr eaLnBrk="1" hangingPunct="1">
              <a:defRPr/>
            </a:pPr>
            <a:endParaRPr lang="ko-KR" alt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제목 1"/>
          <p:cNvSpPr>
            <a:spLocks noGrp="1"/>
          </p:cNvSpPr>
          <p:nvPr>
            <p:ph idx="1"/>
          </p:nvPr>
        </p:nvSpPr>
        <p:spPr>
          <a:xfrm>
            <a:off x="457200" y="1052513"/>
            <a:ext cx="8229600" cy="5073650"/>
          </a:xfrm>
        </p:spPr>
        <p:txBody>
          <a:bodyPr/>
          <a:lstStyle/>
          <a:p>
            <a:pPr marL="273600" indent="-273600" eaLnBrk="1" hangingPunct="1">
              <a:spcBef>
                <a:spcPct val="30000"/>
              </a:spcBef>
              <a:buClr>
                <a:srgbClr val="FF9900"/>
              </a:buClr>
              <a:defRPr/>
            </a:pPr>
            <a:r>
              <a:rPr lang="ko-KR" altLang="en-US" sz="1700" dirty="0">
                <a:latin typeface="바탕체" panose="02030609000101010101" pitchFamily="17" charset="-127"/>
                <a:ea typeface="바탕체" panose="02030609000101010101" pitchFamily="17" charset="-127"/>
              </a:rPr>
              <a:t>국제수지표</a:t>
            </a:r>
            <a:r>
              <a:rPr lang="en-US" altLang="ko-KR" sz="1700" dirty="0">
                <a:latin typeface="바탕체" panose="02030609000101010101" pitchFamily="17" charset="-127"/>
                <a:ea typeface="바탕체" panose="02030609000101010101" pitchFamily="17" charset="-127"/>
              </a:rPr>
              <a:t>(B.O.P)</a:t>
            </a:r>
            <a:r>
              <a:rPr lang="ko-KR" altLang="en-US" sz="1700" dirty="0">
                <a:latin typeface="바탕체" panose="02030609000101010101" pitchFamily="17" charset="-127"/>
                <a:ea typeface="바탕체" panose="02030609000101010101" pitchFamily="17" charset="-127"/>
              </a:rPr>
              <a:t> </a:t>
            </a:r>
            <a:r>
              <a:rPr lang="en-US" altLang="ko-KR" sz="1700" dirty="0">
                <a:latin typeface="바탕체" panose="02030609000101010101" pitchFamily="17" charset="-127"/>
                <a:ea typeface="바탕체" panose="02030609000101010101" pitchFamily="17" charset="-127"/>
              </a:rPr>
              <a:t>vs </a:t>
            </a:r>
            <a:r>
              <a:rPr lang="ko-KR" altLang="en-US" sz="1700" dirty="0">
                <a:latin typeface="바탕체" panose="02030609000101010101" pitchFamily="17" charset="-127"/>
                <a:ea typeface="바탕체" panose="02030609000101010101" pitchFamily="17" charset="-127"/>
              </a:rPr>
              <a:t>국제투자대조표</a:t>
            </a:r>
            <a:r>
              <a:rPr lang="en-US" altLang="ko-KR" sz="1800" dirty="0">
                <a:latin typeface="바탕체" panose="02030609000101010101" pitchFamily="17" charset="-127"/>
                <a:ea typeface="바탕체" panose="02030609000101010101" pitchFamily="17" charset="-127"/>
              </a:rPr>
              <a:t>(IIP)</a:t>
            </a:r>
            <a:endParaRPr lang="ko-KR" altLang="en-US" sz="1700" dirty="0">
              <a:latin typeface="바탕체" panose="02030609000101010101" pitchFamily="17" charset="-127"/>
              <a:ea typeface="바탕체" panose="02030609000101010101" pitchFamily="17" charset="-127"/>
            </a:endParaRPr>
          </a:p>
          <a:p>
            <a:pPr eaLnBrk="1" hangingPunct="1">
              <a:spcBef>
                <a:spcPts val="1200"/>
              </a:spcBef>
              <a:spcAft>
                <a:spcPts val="1200"/>
              </a:spcAft>
              <a:buFontTx/>
              <a:buChar char="-"/>
              <a:defRPr/>
            </a:pPr>
            <a:r>
              <a:rPr lang="ko-KR" altLang="en-US" sz="1500" dirty="0">
                <a:latin typeface="바탕체" panose="02030609000101010101" pitchFamily="17" charset="-127"/>
                <a:ea typeface="바탕체" panose="02030609000101010101" pitchFamily="17" charset="-127"/>
              </a:rPr>
              <a:t>국제수지표</a:t>
            </a:r>
            <a:r>
              <a:rPr lang="en-US" altLang="ko-KR" sz="1500" dirty="0">
                <a:latin typeface="바탕체" panose="02030609000101010101" pitchFamily="17" charset="-127"/>
                <a:ea typeface="바탕체" panose="02030609000101010101" pitchFamily="17" charset="-127"/>
              </a:rPr>
              <a:t> (B.O.P): </a:t>
            </a:r>
            <a:r>
              <a:rPr lang="ko-KR" altLang="en-US" sz="1500" dirty="0">
                <a:latin typeface="바탕체" panose="02030609000101010101" pitchFamily="17" charset="-127"/>
                <a:ea typeface="바탕체" panose="02030609000101010101" pitchFamily="17" charset="-127"/>
              </a:rPr>
              <a:t>일정 기간 동안 일어난 모든 국제거래를 종합적으로 정리한 통계</a:t>
            </a:r>
            <a:endParaRPr lang="en-US" altLang="ko-KR" sz="1500" dirty="0">
              <a:latin typeface="바탕체" panose="02030609000101010101" pitchFamily="17" charset="-127"/>
              <a:ea typeface="바탕체" panose="02030609000101010101" pitchFamily="17" charset="-127"/>
            </a:endParaRPr>
          </a:p>
          <a:p>
            <a:pPr eaLnBrk="1" hangingPunct="1">
              <a:spcBef>
                <a:spcPct val="30000"/>
              </a:spcBef>
              <a:buFontTx/>
              <a:buChar char="-"/>
              <a:defRPr/>
            </a:pPr>
            <a:r>
              <a:rPr lang="ko-KR" altLang="en-US" sz="1500" dirty="0">
                <a:latin typeface="바탕체" panose="02030609000101010101" pitchFamily="17" charset="-127"/>
                <a:ea typeface="바탕체" panose="02030609000101010101" pitchFamily="17" charset="-127"/>
              </a:rPr>
              <a:t>국제투자대조표</a:t>
            </a:r>
            <a:r>
              <a:rPr lang="en-US" altLang="ko-KR" sz="1500" dirty="0">
                <a:latin typeface="바탕체" panose="02030609000101010101" pitchFamily="17" charset="-127"/>
                <a:ea typeface="바탕체" panose="02030609000101010101" pitchFamily="17" charset="-127"/>
              </a:rPr>
              <a:t>(IIP): </a:t>
            </a:r>
            <a:r>
              <a:rPr lang="ko-KR" altLang="en-US" sz="1500" dirty="0">
                <a:latin typeface="바탕체" panose="02030609000101010101" pitchFamily="17" charset="-127"/>
                <a:ea typeface="바탕체" panose="02030609000101010101" pitchFamily="17" charset="-127"/>
              </a:rPr>
              <a:t>특정 시점에서 한 국가의 대외투자 잔액과 외국인의 국내투자 잔액 및 그 변동내역을 나타낸 표</a:t>
            </a:r>
            <a:endParaRPr lang="en-US" altLang="ko-KR" sz="1500" dirty="0">
              <a:latin typeface="바탕체" panose="02030609000101010101" pitchFamily="17" charset="-127"/>
              <a:ea typeface="바탕체" panose="02030609000101010101" pitchFamily="17" charset="-127"/>
            </a:endParaRPr>
          </a:p>
          <a:p>
            <a:pPr lvl="1" eaLnBrk="1" hangingPunct="1">
              <a:spcBef>
                <a:spcPts val="1200"/>
              </a:spcBef>
              <a:buFontTx/>
              <a:buChar char="-"/>
              <a:defRPr/>
            </a:pPr>
            <a:r>
              <a:rPr lang="ko-KR" altLang="en-US" sz="1500" dirty="0">
                <a:latin typeface="바탕체" panose="02030609000101010101" pitchFamily="17" charset="-127"/>
                <a:ea typeface="바탕체" panose="02030609000101010101" pitchFamily="17" charset="-127"/>
              </a:rPr>
              <a:t>양자는 전혀 다른 </a:t>
            </a:r>
            <a:r>
              <a:rPr lang="ko-KR" altLang="en-US" sz="1500" dirty="0" err="1">
                <a:latin typeface="바탕체" panose="02030609000101010101" pitchFamily="17" charset="-127"/>
                <a:ea typeface="바탕체" panose="02030609000101010101" pitchFamily="17" charset="-127"/>
              </a:rPr>
              <a:t>통계라기보다</a:t>
            </a:r>
            <a:r>
              <a:rPr lang="ko-KR" altLang="en-US" sz="1500" dirty="0">
                <a:latin typeface="바탕체" panose="02030609000101010101" pitchFamily="17" charset="-127"/>
                <a:ea typeface="바탕체" panose="02030609000101010101" pitchFamily="17" charset="-127"/>
              </a:rPr>
              <a:t> 광의의 국제거래통계를 구성하는 두 요소</a:t>
            </a:r>
            <a:r>
              <a:rPr lang="en-US" altLang="ko-KR" sz="1500" dirty="0">
                <a:latin typeface="바탕체" panose="02030609000101010101" pitchFamily="17" charset="-127"/>
                <a:ea typeface="바탕체" panose="02030609000101010101" pitchFamily="17" charset="-127"/>
              </a:rPr>
              <a:t>, </a:t>
            </a:r>
          </a:p>
          <a:p>
            <a:pPr marL="0" indent="0" eaLnBrk="1" hangingPunct="1">
              <a:spcBef>
                <a:spcPts val="1200"/>
              </a:spcBef>
              <a:buFontTx/>
              <a:buNone/>
              <a:defRPr/>
            </a:pPr>
            <a:r>
              <a:rPr lang="en-US" altLang="ko-KR" sz="1500" dirty="0">
                <a:latin typeface="바탕체" panose="02030609000101010101" pitchFamily="17" charset="-127"/>
                <a:ea typeface="바탕체" panose="02030609000101010101" pitchFamily="17" charset="-127"/>
              </a:rPr>
              <a:t>    </a:t>
            </a:r>
            <a:r>
              <a:rPr lang="ko-KR" altLang="en-US" sz="1500" dirty="0">
                <a:latin typeface="바탕체" panose="02030609000101010101" pitchFamily="17" charset="-127"/>
                <a:ea typeface="바탕체" panose="02030609000101010101" pitchFamily="17" charset="-127"/>
              </a:rPr>
              <a:t>즉</a:t>
            </a:r>
            <a:r>
              <a:rPr lang="en-US" altLang="ko-KR" sz="1500" dirty="0">
                <a:latin typeface="바탕체" panose="02030609000101010101" pitchFamily="17" charset="-127"/>
                <a:ea typeface="바탕체" panose="02030609000101010101" pitchFamily="17" charset="-127"/>
              </a:rPr>
              <a:t>,</a:t>
            </a:r>
            <a:r>
              <a:rPr lang="ko-KR" altLang="en-US" sz="1500" dirty="0">
                <a:latin typeface="바탕체" panose="02030609000101010101" pitchFamily="17" charset="-127"/>
                <a:ea typeface="바탕체" panose="02030609000101010101" pitchFamily="17" charset="-127"/>
              </a:rPr>
              <a:t> 국제수지표</a:t>
            </a:r>
            <a:r>
              <a:rPr lang="en-US" altLang="ko-KR" sz="1500" dirty="0">
                <a:latin typeface="바탕체" panose="02030609000101010101" pitchFamily="17" charset="-127"/>
                <a:ea typeface="바탕체" panose="02030609000101010101" pitchFamily="17" charset="-127"/>
              </a:rPr>
              <a:t>(B.O.P)</a:t>
            </a:r>
            <a:r>
              <a:rPr lang="ko-KR" altLang="en-US" sz="1500" dirty="0">
                <a:latin typeface="바탕체" panose="02030609000101010101" pitchFamily="17" charset="-127"/>
                <a:ea typeface="바탕체" panose="02030609000101010101" pitchFamily="17" charset="-127"/>
              </a:rPr>
              <a:t>는 </a:t>
            </a:r>
            <a:r>
              <a:rPr lang="en-US" altLang="ko-KR" sz="1500" dirty="0">
                <a:latin typeface="바탕체" panose="02030609000101010101" pitchFamily="17" charset="-127"/>
                <a:ea typeface="바탕체" panose="02030609000101010101" pitchFamily="17" charset="-127"/>
              </a:rPr>
              <a:t>flow </a:t>
            </a:r>
            <a:r>
              <a:rPr lang="ko-KR" altLang="en-US" sz="1500" dirty="0">
                <a:latin typeface="바탕체" panose="02030609000101010101" pitchFamily="17" charset="-127"/>
                <a:ea typeface="바탕체" panose="02030609000101010101" pitchFamily="17" charset="-127"/>
              </a:rPr>
              <a:t>통계이고 국제투자대조표</a:t>
            </a:r>
            <a:r>
              <a:rPr lang="en-US" altLang="ko-KR" sz="1500" dirty="0">
                <a:latin typeface="바탕체" panose="02030609000101010101" pitchFamily="17" charset="-127"/>
                <a:ea typeface="바탕체" panose="02030609000101010101" pitchFamily="17" charset="-127"/>
              </a:rPr>
              <a:t> (IIP)</a:t>
            </a:r>
            <a:r>
              <a:rPr lang="ko-KR" altLang="en-US" sz="1500" dirty="0">
                <a:latin typeface="바탕체" panose="02030609000101010101" pitchFamily="17" charset="-127"/>
                <a:ea typeface="바탕체" panose="02030609000101010101" pitchFamily="17" charset="-127"/>
              </a:rPr>
              <a:t>는 </a:t>
            </a:r>
            <a:r>
              <a:rPr lang="en-US" altLang="ko-KR" sz="1500" dirty="0">
                <a:latin typeface="바탕체" panose="02030609000101010101" pitchFamily="17" charset="-127"/>
                <a:ea typeface="바탕체" panose="02030609000101010101" pitchFamily="17" charset="-127"/>
              </a:rPr>
              <a:t>stock </a:t>
            </a:r>
            <a:r>
              <a:rPr lang="ko-KR" altLang="en-US" sz="1500" dirty="0">
                <a:latin typeface="바탕체" panose="02030609000101010101" pitchFamily="17" charset="-127"/>
                <a:ea typeface="바탕체" panose="02030609000101010101" pitchFamily="17" charset="-127"/>
              </a:rPr>
              <a:t>통계에 해당</a:t>
            </a:r>
            <a:endParaRPr lang="en-US" altLang="ko-KR" sz="1500" dirty="0">
              <a:latin typeface="바탕체" panose="02030609000101010101" pitchFamily="17" charset="-127"/>
              <a:ea typeface="바탕체" panose="02030609000101010101" pitchFamily="17" charset="-127"/>
            </a:endParaRPr>
          </a:p>
          <a:p>
            <a:pPr marL="273600" indent="-273600" eaLnBrk="1" hangingPunct="1">
              <a:spcBef>
                <a:spcPct val="30000"/>
              </a:spcBef>
              <a:buClr>
                <a:srgbClr val="FF9900"/>
              </a:buClr>
              <a:defRPr/>
            </a:pPr>
            <a:endParaRPr lang="en-US" altLang="ko-KR" sz="2000" dirty="0">
              <a:latin typeface="바탕체" panose="02030609000101010101" pitchFamily="17" charset="-127"/>
              <a:ea typeface="바탕체" panose="02030609000101010101" pitchFamily="17" charset="-127"/>
            </a:endParaRPr>
          </a:p>
          <a:p>
            <a:pPr marL="273600" indent="-273600" eaLnBrk="1" hangingPunct="1">
              <a:spcBef>
                <a:spcPts val="1200"/>
              </a:spcBef>
              <a:buClr>
                <a:srgbClr val="FF9900"/>
              </a:buClr>
              <a:defRPr/>
            </a:pPr>
            <a:r>
              <a:rPr lang="ko-KR" altLang="en-US" sz="1700" dirty="0">
                <a:latin typeface="바탕체" panose="02030609000101010101" pitchFamily="17" charset="-127"/>
                <a:ea typeface="바탕체" panose="02030609000101010101" pitchFamily="17" charset="-127"/>
              </a:rPr>
              <a:t>국제투자대조표</a:t>
            </a:r>
            <a:r>
              <a:rPr lang="en-US" altLang="ko-KR" sz="1700" dirty="0">
                <a:latin typeface="바탕체" panose="02030609000101010101" pitchFamily="17" charset="-127"/>
                <a:ea typeface="바탕체" panose="02030609000101010101" pitchFamily="17" charset="-127"/>
              </a:rPr>
              <a:t>(IPP)</a:t>
            </a:r>
            <a:r>
              <a:rPr lang="ko-KR" altLang="en-US" sz="1700" dirty="0">
                <a:latin typeface="바탕체" panose="02030609000101010101" pitchFamily="17" charset="-127"/>
                <a:ea typeface="바탕체" panose="02030609000101010101" pitchFamily="17" charset="-127"/>
              </a:rPr>
              <a:t>의 구성</a:t>
            </a:r>
            <a:endParaRPr lang="en-US" altLang="ko-KR" sz="1700" dirty="0">
              <a:latin typeface="바탕체" panose="02030609000101010101" pitchFamily="17" charset="-127"/>
              <a:ea typeface="바탕체" panose="02030609000101010101" pitchFamily="17" charset="-127"/>
            </a:endParaRPr>
          </a:p>
          <a:p>
            <a:pPr eaLnBrk="1" hangingPunct="1">
              <a:spcBef>
                <a:spcPts val="1200"/>
              </a:spcBef>
              <a:spcAft>
                <a:spcPts val="1200"/>
              </a:spcAft>
              <a:buFontTx/>
              <a:buChar char="-"/>
              <a:defRPr/>
            </a:pPr>
            <a:r>
              <a:rPr lang="ko-KR" altLang="en-US" sz="1500" dirty="0">
                <a:latin typeface="바탕체" panose="02030609000101010101" pitchFamily="17" charset="-127"/>
                <a:ea typeface="바탕체" panose="02030609000101010101" pitchFamily="17" charset="-127"/>
              </a:rPr>
              <a:t>국제투자대조표</a:t>
            </a:r>
            <a:r>
              <a:rPr lang="en-US" altLang="ko-KR" sz="1500" dirty="0">
                <a:latin typeface="바탕체" panose="02030609000101010101" pitchFamily="17" charset="-127"/>
                <a:ea typeface="바탕체" panose="02030609000101010101" pitchFamily="17" charset="-127"/>
              </a:rPr>
              <a:t>(IIP)</a:t>
            </a:r>
            <a:r>
              <a:rPr lang="ko-KR" altLang="en-US" sz="1500" dirty="0">
                <a:latin typeface="바탕체" panose="02030609000101010101" pitchFamily="17" charset="-127"/>
                <a:ea typeface="바탕체" panose="02030609000101010101" pitchFamily="17" charset="-127"/>
              </a:rPr>
              <a:t>의 증감내역은 거래요인과 비거래요인으로 구분하여 기록</a:t>
            </a:r>
            <a:endParaRPr lang="en-US" altLang="ko-KR" sz="1500" dirty="0">
              <a:latin typeface="바탕체" panose="02030609000101010101" pitchFamily="17" charset="-127"/>
              <a:ea typeface="바탕체" panose="02030609000101010101" pitchFamily="17" charset="-127"/>
            </a:endParaRPr>
          </a:p>
          <a:p>
            <a:pPr eaLnBrk="1" hangingPunct="1">
              <a:spcBef>
                <a:spcPct val="30000"/>
              </a:spcBef>
              <a:buFontTx/>
              <a:buChar char="-"/>
              <a:defRPr/>
            </a:pPr>
            <a:r>
              <a:rPr lang="ko-KR" altLang="en-US" sz="1500" dirty="0">
                <a:latin typeface="바탕체" panose="02030609000101010101" pitchFamily="17" charset="-127"/>
                <a:ea typeface="바탕체" panose="02030609000101010101" pitchFamily="17" charset="-127"/>
              </a:rPr>
              <a:t>거래요인에 의한 증감액은 국제수지표의 투자수지 및 </a:t>
            </a:r>
            <a:r>
              <a:rPr lang="ko-KR" altLang="en-US" sz="1500" dirty="0" err="1">
                <a:latin typeface="바탕체" panose="02030609000101010101" pitchFamily="17" charset="-127"/>
                <a:ea typeface="바탕체" panose="02030609000101010101" pitchFamily="17" charset="-127"/>
              </a:rPr>
              <a:t>준비자산증감의</a:t>
            </a:r>
            <a:r>
              <a:rPr lang="ko-KR" altLang="en-US" sz="1500" dirty="0">
                <a:latin typeface="바탕체" panose="02030609000101010101" pitchFamily="17" charset="-127"/>
                <a:ea typeface="바탕체" panose="02030609000101010101" pitchFamily="17" charset="-127"/>
              </a:rPr>
              <a:t> 합계와 일치</a:t>
            </a:r>
            <a:endParaRPr lang="en-US" altLang="ko-KR" sz="1500" dirty="0">
              <a:latin typeface="바탕체" panose="02030609000101010101" pitchFamily="17" charset="-127"/>
              <a:ea typeface="바탕체" panose="02030609000101010101" pitchFamily="17" charset="-127"/>
            </a:endParaRPr>
          </a:p>
          <a:p>
            <a:pPr marL="0" indent="0" eaLnBrk="1" hangingPunct="1">
              <a:buFontTx/>
              <a:buNone/>
              <a:defRPr/>
            </a:pPr>
            <a:endParaRPr lang="ko-KR" alt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3" name="그림 1"/>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539750" y="1052513"/>
            <a:ext cx="8064500" cy="55451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3" name="내용 개체 틀 2"/>
              <p:cNvSpPr>
                <a:spLocks noGrp="1"/>
              </p:cNvSpPr>
              <p:nvPr>
                <p:ph idx="1"/>
              </p:nvPr>
            </p:nvSpPr>
            <p:spPr>
              <a:xfrm>
                <a:off x="457200" y="1196975"/>
                <a:ext cx="8229600" cy="4929188"/>
              </a:xfrm>
            </p:spPr>
            <p:txBody>
              <a:bodyPr/>
              <a:lstStyle/>
              <a:p>
                <a:pPr eaLnBrk="1" hangingPunct="1">
                  <a:buClr>
                    <a:srgbClr val="FFC000"/>
                  </a:buClr>
                  <a:defRPr/>
                </a:pPr>
                <a:r>
                  <a:rPr lang="ko-KR" altLang="en-US" sz="1600" dirty="0">
                    <a:latin typeface="바탕체" panose="02030609000101010101" pitchFamily="17" charset="-127"/>
                    <a:ea typeface="바탕체" panose="02030609000101010101" pitchFamily="17" charset="-127"/>
                  </a:rPr>
                  <a:t>국제수지 결정 모델 종류</a:t>
                </a:r>
                <a:endParaRPr lang="en-US" altLang="ko-KR" sz="1600" dirty="0">
                  <a:latin typeface="바탕체" panose="02030609000101010101" pitchFamily="17" charset="-127"/>
                  <a:ea typeface="바탕체" panose="02030609000101010101" pitchFamily="17" charset="-127"/>
                </a:endParaRPr>
              </a:p>
              <a:p>
                <a:pPr eaLnBrk="1" hangingPunct="1">
                  <a:buClr>
                    <a:srgbClr val="FFC000"/>
                  </a:buClr>
                  <a:defRPr/>
                </a:pPr>
                <a:endParaRPr lang="en-US" altLang="ko-KR" sz="1600" dirty="0">
                  <a:latin typeface="바탕체" panose="02030609000101010101" pitchFamily="17" charset="-127"/>
                  <a:ea typeface="바탕체" panose="02030609000101010101" pitchFamily="17" charset="-127"/>
                </a:endParaRPr>
              </a:p>
              <a:p>
                <a:pPr eaLnBrk="1" hangingPunct="1">
                  <a:buFont typeface="+mj-lt"/>
                  <a:buAutoNum type="arabicParenR"/>
                  <a:defRPr/>
                </a:pPr>
                <a:r>
                  <a:rPr lang="ko-KR" altLang="en-US" sz="1600" dirty="0">
                    <a:latin typeface="바탕체" panose="02030609000101010101" pitchFamily="17" charset="-127"/>
                    <a:ea typeface="바탕체" panose="02030609000101010101" pitchFamily="17" charset="-127"/>
                  </a:rPr>
                  <a:t>탄력성 접근법</a:t>
                </a:r>
                <a:r>
                  <a:rPr lang="en-US" altLang="ko-KR" sz="1600" dirty="0">
                    <a:latin typeface="바탕체" panose="02030609000101010101" pitchFamily="17" charset="-127"/>
                    <a:ea typeface="바탕체" panose="02030609000101010101" pitchFamily="17" charset="-127"/>
                  </a:rPr>
                  <a:t>(Elasticity approach)</a:t>
                </a:r>
              </a:p>
              <a:p>
                <a:pPr eaLnBrk="1" hangingPunct="1">
                  <a:buFontTx/>
                  <a:buChar char="-"/>
                  <a:defRPr/>
                </a:pPr>
                <a:r>
                  <a:rPr lang="ko-KR" altLang="en-US" sz="1600" dirty="0">
                    <a:latin typeface="바탕체" panose="02030609000101010101" pitchFamily="17" charset="-127"/>
                    <a:ea typeface="바탕체" panose="02030609000101010101" pitchFamily="17" charset="-127"/>
                  </a:rPr>
                  <a:t>환율변동이 수출입상품의 상대가격변동을 통하여 국제수지에 영향을 미친다고 주장</a:t>
                </a:r>
                <a:endParaRPr lang="en-US" altLang="ko-KR" sz="1600" dirty="0">
                  <a:latin typeface="바탕체" panose="02030609000101010101" pitchFamily="17" charset="-127"/>
                  <a:ea typeface="바탕체" panose="02030609000101010101" pitchFamily="17" charset="-127"/>
                </a:endParaRPr>
              </a:p>
              <a:p>
                <a:pPr marL="0" indent="0" eaLnBrk="1" hangingPunct="1">
                  <a:buNone/>
                  <a:defRPr/>
                </a:pPr>
                <a:endParaRPr lang="en-US" altLang="ko-KR" sz="1600" dirty="0">
                  <a:latin typeface="바탕체" panose="02030609000101010101" pitchFamily="17" charset="-127"/>
                  <a:ea typeface="바탕체" panose="02030609000101010101" pitchFamily="17" charset="-127"/>
                </a:endParaRPr>
              </a:p>
              <a:p>
                <a:pPr lvl="1" eaLnBrk="1" hangingPunct="1">
                  <a:buFontTx/>
                  <a:buChar char="-"/>
                  <a:defRPr/>
                </a:pPr>
                <a:r>
                  <a:rPr lang="ko-KR" altLang="en-US" sz="1200" dirty="0">
                    <a:latin typeface="바탕체" panose="02030609000101010101" pitchFamily="17" charset="-127"/>
                    <a:ea typeface="바탕체" panose="02030609000101010101" pitchFamily="17" charset="-127"/>
                  </a:rPr>
                  <a:t>내국재 단위로 표시한 무역수지</a:t>
                </a:r>
                <a:r>
                  <a:rPr lang="en-US" altLang="ko-KR" sz="1200" dirty="0">
                    <a:latin typeface="바탕체" panose="02030609000101010101" pitchFamily="17" charset="-127"/>
                    <a:ea typeface="바탕체" panose="02030609000101010101" pitchFamily="17" charset="-127"/>
                  </a:rPr>
                  <a:t>(trade balance; TB)</a:t>
                </a:r>
                <a:r>
                  <a:rPr lang="ko-KR" altLang="en-US" sz="1200" dirty="0">
                    <a:latin typeface="바탕체" panose="02030609000101010101" pitchFamily="17" charset="-127"/>
                    <a:ea typeface="바탕체" panose="02030609000101010101" pitchFamily="17" charset="-127"/>
                  </a:rPr>
                  <a:t>는 </a:t>
                </a:r>
                <a14:m>
                  <m:oMath xmlns:m="http://schemas.openxmlformats.org/officeDocument/2006/math">
                    <m:r>
                      <a:rPr lang="en-US" altLang="ko-KR" sz="1200" i="1">
                        <a:latin typeface="Cambria Math" panose="02040503050406030204" pitchFamily="18" charset="0"/>
                        <a:ea typeface="바탕체" panose="02030609000101010101" pitchFamily="17" charset="-127"/>
                      </a:rPr>
                      <m:t>𝑇𝐵</m:t>
                    </m:r>
                    <m:r>
                      <a:rPr lang="en-US" altLang="ko-KR" sz="1200" i="1">
                        <a:latin typeface="Cambria Math" panose="02040503050406030204" pitchFamily="18" charset="0"/>
                        <a:ea typeface="바탕체" panose="02030609000101010101" pitchFamily="17" charset="-127"/>
                      </a:rPr>
                      <m:t>=</m:t>
                    </m:r>
                    <m:r>
                      <a:rPr lang="en-US" altLang="ko-KR" sz="1200" i="1">
                        <a:latin typeface="Cambria Math" panose="02040503050406030204" pitchFamily="18" charset="0"/>
                        <a:ea typeface="바탕체" panose="02030609000101010101" pitchFamily="17" charset="-127"/>
                      </a:rPr>
                      <m:t>𝑋</m:t>
                    </m:r>
                    <m:r>
                      <a:rPr lang="en-US" altLang="ko-KR" sz="1200" i="1">
                        <a:latin typeface="Cambria Math" panose="02040503050406030204" pitchFamily="18" charset="0"/>
                        <a:ea typeface="바탕체" panose="02030609000101010101" pitchFamily="17" charset="-127"/>
                      </a:rPr>
                      <m:t> −</m:t>
                    </m:r>
                    <m:r>
                      <a:rPr lang="en-US" altLang="ko-KR" sz="1200" i="1">
                        <a:latin typeface="Cambria Math" panose="02040503050406030204" pitchFamily="18" charset="0"/>
                        <a:ea typeface="바탕체" panose="02030609000101010101" pitchFamily="17" charset="-127"/>
                      </a:rPr>
                      <m:t>𝐸</m:t>
                    </m:r>
                    <m:r>
                      <a:rPr lang="en-US" altLang="ko-KR" sz="1200" i="1">
                        <a:latin typeface="Cambria Math" panose="02040503050406030204" pitchFamily="18" charset="0"/>
                        <a:ea typeface="바탕체" panose="02030609000101010101" pitchFamily="17" charset="-127"/>
                      </a:rPr>
                      <m:t> ∗</m:t>
                    </m:r>
                    <m:r>
                      <a:rPr lang="en-US" altLang="ko-KR" sz="1200" i="1">
                        <a:latin typeface="Cambria Math" panose="02040503050406030204" pitchFamily="18" charset="0"/>
                        <a:ea typeface="바탕체" panose="02030609000101010101" pitchFamily="17" charset="-127"/>
                      </a:rPr>
                      <m:t>𝑀</m:t>
                    </m:r>
                  </m:oMath>
                </a14:m>
                <a:endParaRPr lang="en-US" altLang="ko-KR" sz="1200" dirty="0">
                  <a:latin typeface="바탕체" panose="02030609000101010101" pitchFamily="17" charset="-127"/>
                  <a:ea typeface="바탕체" panose="02030609000101010101" pitchFamily="17" charset="-127"/>
                </a:endParaRPr>
              </a:p>
              <a:p>
                <a:pPr marL="457200" lvl="1" indent="0" eaLnBrk="1" hangingPunct="1">
                  <a:buNone/>
                  <a:defRPr/>
                </a:pPr>
                <a:r>
                  <a:rPr lang="en-US" altLang="ko-KR" sz="1200" dirty="0">
                    <a:latin typeface="바탕체" panose="02030609000101010101" pitchFamily="17" charset="-127"/>
                    <a:ea typeface="바탕체" panose="02030609000101010101" pitchFamily="17" charset="-127"/>
                  </a:rPr>
                  <a:t> *  X</a:t>
                </a:r>
                <a:r>
                  <a:rPr lang="ko-KR" altLang="en-US" sz="1200" dirty="0">
                    <a:latin typeface="바탕체" panose="02030609000101010101" pitchFamily="17" charset="-127"/>
                    <a:ea typeface="바탕체" panose="02030609000101010101" pitchFamily="17" charset="-127"/>
                  </a:rPr>
                  <a:t>는 수출액 </a:t>
                </a:r>
                <a:r>
                  <a:rPr lang="en-US" altLang="ko-KR" sz="1200" dirty="0">
                    <a:latin typeface="바탕체" panose="02030609000101010101" pitchFamily="17" charset="-127"/>
                    <a:ea typeface="바탕체" panose="02030609000101010101" pitchFamily="17" charset="-127"/>
                  </a:rPr>
                  <a:t>M</a:t>
                </a:r>
                <a:r>
                  <a:rPr lang="ko-KR" altLang="en-US" sz="1200" dirty="0">
                    <a:latin typeface="바탕체" panose="02030609000101010101" pitchFamily="17" charset="-127"/>
                    <a:ea typeface="바탕체" panose="02030609000101010101" pitchFamily="17" charset="-127"/>
                  </a:rPr>
                  <a:t>은 수입액을 나타냄</a:t>
                </a:r>
                <a:endParaRPr lang="en-US" altLang="ko-KR" sz="1200" dirty="0">
                  <a:latin typeface="바탕체" panose="02030609000101010101" pitchFamily="17" charset="-127"/>
                  <a:ea typeface="바탕체" panose="02030609000101010101" pitchFamily="17" charset="-127"/>
                </a:endParaRPr>
              </a:p>
              <a:p>
                <a:pPr marL="457200" lvl="1" indent="0" eaLnBrk="1" hangingPunct="1">
                  <a:buNone/>
                  <a:defRPr/>
                </a:pPr>
                <a:endParaRPr lang="en-US" altLang="ko-KR" sz="1200" dirty="0">
                  <a:latin typeface="바탕체" panose="02030609000101010101" pitchFamily="17" charset="-127"/>
                  <a:ea typeface="바탕체" panose="02030609000101010101" pitchFamily="17" charset="-127"/>
                </a:endParaRPr>
              </a:p>
              <a:p>
                <a:pPr eaLnBrk="1" hangingPunct="1">
                  <a:buFontTx/>
                  <a:buChar char="-"/>
                  <a:defRPr/>
                </a:pPr>
                <a:r>
                  <a:rPr lang="ko-KR" altLang="en-US" sz="1600" dirty="0">
                    <a:latin typeface="바탕체" panose="02030609000101010101" pitchFamily="17" charset="-127"/>
                    <a:ea typeface="바탕체" panose="02030609000101010101" pitchFamily="17" charset="-127"/>
                  </a:rPr>
                  <a:t>수출입의 가격탄력성에 따라 무역수지</a:t>
                </a:r>
                <a:r>
                  <a:rPr lang="en-US" altLang="ko-KR" sz="1600" dirty="0">
                    <a:latin typeface="바탕체" panose="02030609000101010101" pitchFamily="17" charset="-127"/>
                    <a:ea typeface="바탕체" panose="02030609000101010101" pitchFamily="17" charset="-127"/>
                  </a:rPr>
                  <a:t>(TB)</a:t>
                </a:r>
                <a:r>
                  <a:rPr lang="ko-KR" altLang="en-US" sz="1600" dirty="0">
                    <a:latin typeface="바탕체" panose="02030609000101010101" pitchFamily="17" charset="-127"/>
                    <a:ea typeface="바탕체" panose="02030609000101010101" pitchFamily="17" charset="-127"/>
                  </a:rPr>
                  <a:t>를 환율로 </a:t>
                </a:r>
                <a:r>
                  <a:rPr lang="ko-KR" altLang="en-US" sz="1600" dirty="0" err="1">
                    <a:latin typeface="바탕체" panose="02030609000101010101" pitchFamily="17" charset="-127"/>
                    <a:ea typeface="바탕체" panose="02030609000101010101" pitchFamily="17" charset="-127"/>
                  </a:rPr>
                  <a:t>설명가능하며</a:t>
                </a:r>
                <a:r>
                  <a:rPr lang="ko-KR" altLang="en-US" sz="1600" dirty="0">
                    <a:latin typeface="바탕체" panose="02030609000101010101" pitchFamily="17" charset="-127"/>
                    <a:ea typeface="바탕체" panose="02030609000101010101" pitchFamily="17" charset="-127"/>
                  </a:rPr>
                  <a:t> 이를 위해 </a:t>
                </a:r>
                <a:r>
                  <a:rPr lang="ko-KR" altLang="en-US" sz="1600" dirty="0" err="1">
                    <a:latin typeface="바탕체" panose="02030609000101010101" pitchFamily="17" charset="-127"/>
                    <a:ea typeface="바탕체" panose="02030609000101010101" pitchFamily="17" charset="-127"/>
                  </a:rPr>
                  <a:t>마샬러너</a:t>
                </a:r>
                <a:r>
                  <a:rPr lang="ko-KR" altLang="en-US" sz="1600" dirty="0">
                    <a:latin typeface="바탕체" panose="02030609000101010101" pitchFamily="17" charset="-127"/>
                    <a:ea typeface="바탕체" panose="02030609000101010101" pitchFamily="17" charset="-127"/>
                  </a:rPr>
                  <a:t> 조건</a:t>
                </a:r>
                <a:r>
                  <a:rPr lang="en-US" altLang="ko-KR" sz="1600" dirty="0">
                    <a:latin typeface="바탕체" panose="02030609000101010101" pitchFamily="17" charset="-127"/>
                    <a:ea typeface="바탕체" panose="02030609000101010101" pitchFamily="17" charset="-127"/>
                  </a:rPr>
                  <a:t>(Marshall-Lerner condition)</a:t>
                </a:r>
                <a:r>
                  <a:rPr lang="ko-KR" altLang="en-US" sz="1600" dirty="0">
                    <a:latin typeface="바탕체" panose="02030609000101010101" pitchFamily="17" charset="-127"/>
                    <a:ea typeface="바탕체" panose="02030609000101010101" pitchFamily="17" charset="-127"/>
                  </a:rPr>
                  <a:t>이 필요함</a:t>
                </a:r>
                <a:endParaRPr lang="en-US" altLang="ko-KR" sz="1600" dirty="0">
                  <a:latin typeface="바탕체" panose="02030609000101010101" pitchFamily="17" charset="-127"/>
                  <a:ea typeface="바탕체" panose="02030609000101010101" pitchFamily="17" charset="-127"/>
                </a:endParaRPr>
              </a:p>
              <a:p>
                <a:pPr eaLnBrk="1" hangingPunct="1">
                  <a:buFontTx/>
                  <a:buChar char="-"/>
                  <a:defRPr/>
                </a:pPr>
                <a:endParaRPr lang="en-US" altLang="ko-KR" sz="1600" dirty="0">
                  <a:latin typeface="바탕체" panose="02030609000101010101" pitchFamily="17" charset="-127"/>
                  <a:ea typeface="바탕체" panose="02030609000101010101" pitchFamily="17" charset="-127"/>
                </a:endParaRPr>
              </a:p>
              <a:p>
                <a:pPr lvl="1" eaLnBrk="1" hangingPunct="1">
                  <a:buFontTx/>
                  <a:buChar char="-"/>
                  <a:defRPr/>
                </a:pPr>
                <a:r>
                  <a:rPr lang="ko-KR" altLang="en-US" sz="1200" dirty="0">
                    <a:latin typeface="바탕체" panose="02030609000101010101" pitchFamily="17" charset="-127"/>
                    <a:ea typeface="바탕체" panose="02030609000101010101" pitchFamily="17" charset="-127"/>
                  </a:rPr>
                  <a:t>평가절하는 국내수출품의 외국통화 표시 가격을 낮추므로 국내의 수출</a:t>
                </a:r>
                <a:r>
                  <a:rPr lang="en-US" altLang="ko-KR" sz="1200" dirty="0">
                    <a:latin typeface="바탕체" panose="02030609000101010101" pitchFamily="17" charset="-127"/>
                    <a:ea typeface="바탕체" panose="02030609000101010101" pitchFamily="17" charset="-127"/>
                  </a:rPr>
                  <a:t>(X)</a:t>
                </a:r>
                <a:r>
                  <a:rPr lang="ko-KR" altLang="en-US" sz="1200" dirty="0">
                    <a:latin typeface="바탕체" panose="02030609000101010101" pitchFamily="17" charset="-127"/>
                    <a:ea typeface="바탕체" panose="02030609000101010101" pitchFamily="17" charset="-127"/>
                  </a:rPr>
                  <a:t>이 증가</a:t>
                </a:r>
              </a:p>
              <a:p>
                <a:pPr lvl="1" eaLnBrk="1" hangingPunct="1">
                  <a:buFontTx/>
                  <a:buChar char="-"/>
                  <a:defRPr/>
                </a:pPr>
                <a:r>
                  <a:rPr lang="ko-KR" altLang="en-US" sz="1200" dirty="0">
                    <a:latin typeface="바탕체" panose="02030609000101010101" pitchFamily="17" charset="-127"/>
                    <a:ea typeface="바탕체" panose="02030609000101010101" pitchFamily="17" charset="-127"/>
                  </a:rPr>
                  <a:t>마찬가지로 평가절하는 외국수출품의 국내통화 표시 가격을 높이므로 국내수입</a:t>
                </a:r>
                <a:r>
                  <a:rPr lang="en-US" altLang="ko-KR" sz="1200" dirty="0">
                    <a:latin typeface="바탕체" panose="02030609000101010101" pitchFamily="17" charset="-127"/>
                    <a:ea typeface="바탕체" panose="02030609000101010101" pitchFamily="17" charset="-127"/>
                  </a:rPr>
                  <a:t>(M)</a:t>
                </a:r>
                <a:r>
                  <a:rPr lang="ko-KR" altLang="en-US" sz="1200" dirty="0">
                    <a:latin typeface="바탕체" panose="02030609000101010101" pitchFamily="17" charset="-127"/>
                    <a:ea typeface="바탕체" panose="02030609000101010101" pitchFamily="17" charset="-127"/>
                  </a:rPr>
                  <a:t>은 감소</a:t>
                </a:r>
                <a:r>
                  <a:rPr lang="en-US" altLang="ko-KR" sz="1200" dirty="0">
                    <a:latin typeface="바탕체" panose="02030609000101010101" pitchFamily="17" charset="-127"/>
                    <a:ea typeface="바탕체" panose="02030609000101010101" pitchFamily="17" charset="-127"/>
                  </a:rPr>
                  <a:t>: </a:t>
                </a:r>
                <a:r>
                  <a:rPr lang="ko-KR" altLang="en-US" sz="1200" dirty="0">
                    <a:latin typeface="바탕체" panose="02030609000101010101" pitchFamily="17" charset="-127"/>
                    <a:ea typeface="바탕체" panose="02030609000101010101" pitchFamily="17" charset="-127"/>
                  </a:rPr>
                  <a:t>그런데 </a:t>
                </a:r>
                <a:r>
                  <a:rPr lang="en-US" altLang="ko-KR" sz="1200" dirty="0">
                    <a:latin typeface="바탕체" panose="02030609000101010101" pitchFamily="17" charset="-127"/>
                    <a:ea typeface="바탕체" panose="02030609000101010101" pitchFamily="17" charset="-127"/>
                  </a:rPr>
                  <a:t>M</a:t>
                </a:r>
                <a:r>
                  <a:rPr lang="ko-KR" altLang="en-US" sz="1200" dirty="0">
                    <a:latin typeface="바탕체" panose="02030609000101010101" pitchFamily="17" charset="-127"/>
                    <a:ea typeface="바탕체" panose="02030609000101010101" pitchFamily="17" charset="-127"/>
                  </a:rPr>
                  <a:t>이 감소하더라도 환율</a:t>
                </a:r>
                <a:r>
                  <a:rPr lang="en-US" altLang="ko-KR" sz="1200" dirty="0">
                    <a:latin typeface="바탕체" panose="02030609000101010101" pitchFamily="17" charset="-127"/>
                    <a:ea typeface="바탕체" panose="02030609000101010101" pitchFamily="17" charset="-127"/>
                  </a:rPr>
                  <a:t>€</a:t>
                </a:r>
                <a:r>
                  <a:rPr lang="ko-KR" altLang="en-US" sz="1200" dirty="0">
                    <a:latin typeface="바탕체" panose="02030609000101010101" pitchFamily="17" charset="-127"/>
                    <a:ea typeface="바탕체" panose="02030609000101010101" pitchFamily="17" charset="-127"/>
                  </a:rPr>
                  <a:t>이 올라갔기 때문에 총수입금액</a:t>
                </a:r>
                <a:r>
                  <a:rPr lang="en-US" altLang="ko-KR" sz="1200" dirty="0">
                    <a:latin typeface="바탕체" panose="02030609000101010101" pitchFamily="17" charset="-127"/>
                    <a:ea typeface="바탕체" panose="02030609000101010101" pitchFamily="17" charset="-127"/>
                  </a:rPr>
                  <a:t>(E x M)</a:t>
                </a:r>
                <a:r>
                  <a:rPr lang="ko-KR" altLang="en-US" sz="1200" dirty="0">
                    <a:latin typeface="바탕체" panose="02030609000101010101" pitchFamily="17" charset="-127"/>
                    <a:ea typeface="바탕체" panose="02030609000101010101" pitchFamily="17" charset="-127"/>
                  </a:rPr>
                  <a:t>은 증가할 수도 있음</a:t>
                </a:r>
              </a:p>
              <a:p>
                <a:pPr lvl="1" eaLnBrk="1" hangingPunct="1">
                  <a:buFontTx/>
                  <a:buChar char="-"/>
                  <a:defRPr/>
                </a:pPr>
                <a:r>
                  <a:rPr lang="ko-KR" altLang="en-US" sz="1200" dirty="0" err="1">
                    <a:latin typeface="바탕체" panose="02030609000101010101" pitchFamily="17" charset="-127"/>
                    <a:ea typeface="바탕체" panose="02030609000101010101" pitchFamily="17" charset="-127"/>
                  </a:rPr>
                  <a:t>마샬러너</a:t>
                </a:r>
                <a:r>
                  <a:rPr lang="ko-KR" altLang="en-US" sz="1200" dirty="0">
                    <a:latin typeface="바탕체" panose="02030609000101010101" pitchFamily="17" charset="-127"/>
                    <a:ea typeface="바탕체" panose="02030609000101010101" pitchFamily="17" charset="-127"/>
                  </a:rPr>
                  <a:t> 조건</a:t>
                </a:r>
                <a:r>
                  <a:rPr lang="en-US" altLang="ko-KR" sz="1200" dirty="0">
                    <a:latin typeface="바탕체" panose="02030609000101010101" pitchFamily="17" charset="-127"/>
                    <a:ea typeface="바탕체" panose="02030609000101010101" pitchFamily="17" charset="-127"/>
                  </a:rPr>
                  <a:t>(Marshall-Lerner condition): </a:t>
                </a:r>
                <a:r>
                  <a:rPr lang="ko-KR" altLang="en-US" sz="1200" dirty="0">
                    <a:latin typeface="바탕체" panose="02030609000101010101" pitchFamily="17" charset="-127"/>
                    <a:ea typeface="바탕체" panose="02030609000101010101" pitchFamily="17" charset="-127"/>
                  </a:rPr>
                  <a:t>환율상승</a:t>
                </a:r>
                <a:r>
                  <a:rPr lang="en-US" altLang="ko-KR" sz="1200" dirty="0">
                    <a:latin typeface="바탕체" panose="02030609000101010101" pitchFamily="17" charset="-127"/>
                    <a:ea typeface="바탕체" panose="02030609000101010101" pitchFamily="17" charset="-127"/>
                  </a:rPr>
                  <a:t>(</a:t>
                </a:r>
                <a:r>
                  <a:rPr lang="ko-KR" altLang="en-US" sz="1200" dirty="0">
                    <a:latin typeface="바탕체" panose="02030609000101010101" pitchFamily="17" charset="-127"/>
                    <a:ea typeface="바탕체" panose="02030609000101010101" pitchFamily="17" charset="-127"/>
                  </a:rPr>
                  <a:t>평가절하</a:t>
                </a:r>
                <a:r>
                  <a:rPr lang="en-US" altLang="ko-KR" sz="1200" dirty="0">
                    <a:latin typeface="바탕체" panose="02030609000101010101" pitchFamily="17" charset="-127"/>
                    <a:ea typeface="바탕체" panose="02030609000101010101" pitchFamily="17" charset="-127"/>
                  </a:rPr>
                  <a:t>)</a:t>
                </a:r>
                <a:r>
                  <a:rPr lang="ko-KR" altLang="en-US" sz="1200" dirty="0">
                    <a:latin typeface="바탕체" panose="02030609000101010101" pitchFamily="17" charset="-127"/>
                    <a:ea typeface="바탕체" panose="02030609000101010101" pitchFamily="17" charset="-127"/>
                  </a:rPr>
                  <a:t>에 따라 무역수지가 개선되려면 수출액의 가격탄력성과 수입액의 가격탄력성의 합이 </a:t>
                </a:r>
                <a:r>
                  <a:rPr lang="en-US" altLang="ko-KR" sz="1200" dirty="0">
                    <a:latin typeface="바탕체" panose="02030609000101010101" pitchFamily="17" charset="-127"/>
                    <a:ea typeface="바탕체" panose="02030609000101010101" pitchFamily="17" charset="-127"/>
                  </a:rPr>
                  <a:t>1</a:t>
                </a:r>
                <a:r>
                  <a:rPr lang="ko-KR" altLang="en-US" sz="1200" dirty="0">
                    <a:latin typeface="바탕체" panose="02030609000101010101" pitchFamily="17" charset="-127"/>
                    <a:ea typeface="바탕체" panose="02030609000101010101" pitchFamily="17" charset="-127"/>
                  </a:rPr>
                  <a:t>보다 </a:t>
                </a:r>
                <a:r>
                  <a:rPr lang="ko-KR" altLang="en-US" sz="1200" dirty="0" err="1">
                    <a:latin typeface="바탕체" panose="02030609000101010101" pitchFamily="17" charset="-127"/>
                    <a:ea typeface="바탕체" panose="02030609000101010101" pitchFamily="17" charset="-127"/>
                  </a:rPr>
                  <a:t>커야함</a:t>
                </a:r>
                <a:r>
                  <a:rPr lang="en-US" altLang="ko-KR" sz="1200" dirty="0">
                    <a:latin typeface="바탕체" panose="02030609000101010101" pitchFamily="17" charset="-127"/>
                    <a:ea typeface="바탕체" panose="02030609000101010101" pitchFamily="17" charset="-127"/>
                  </a:rPr>
                  <a:t>, </a:t>
                </a:r>
                <a14:m>
                  <m:oMath xmlns:m="http://schemas.openxmlformats.org/officeDocument/2006/math">
                    <m:sSub>
                      <m:sSubPr>
                        <m:ctrlPr>
                          <a:rPr lang="en-US" altLang="ko-KR" sz="1200" i="1">
                            <a:latin typeface="Cambria Math" panose="02040503050406030204" pitchFamily="18" charset="0"/>
                            <a:ea typeface="바탕체" panose="02030609000101010101" pitchFamily="17" charset="-127"/>
                          </a:rPr>
                        </m:ctrlPr>
                      </m:sSubPr>
                      <m:e>
                        <m:r>
                          <a:rPr lang="en-US" altLang="ko-KR" sz="1200" i="1">
                            <a:latin typeface="Cambria Math" panose="02040503050406030204" pitchFamily="18" charset="0"/>
                            <a:ea typeface="바탕체" panose="02030609000101010101" pitchFamily="17" charset="-127"/>
                          </a:rPr>
                          <m:t>𝑒</m:t>
                        </m:r>
                      </m:e>
                      <m:sub>
                        <m:r>
                          <a:rPr lang="en-US" altLang="ko-KR" sz="1200" i="1">
                            <a:latin typeface="Cambria Math" panose="02040503050406030204" pitchFamily="18" charset="0"/>
                            <a:ea typeface="바탕체" panose="02030609000101010101" pitchFamily="17" charset="-127"/>
                          </a:rPr>
                          <m:t>𝑥</m:t>
                        </m:r>
                      </m:sub>
                    </m:sSub>
                    <m:r>
                      <a:rPr lang="en-US" altLang="ko-KR" sz="1200">
                        <a:latin typeface="Cambria Math" panose="02040503050406030204" pitchFamily="18" charset="0"/>
                        <a:ea typeface="바탕체" panose="02030609000101010101" pitchFamily="17" charset="-127"/>
                      </a:rPr>
                      <m:t>+</m:t>
                    </m:r>
                    <m:sSub>
                      <m:sSubPr>
                        <m:ctrlPr>
                          <a:rPr lang="en-US" altLang="ko-KR" sz="1200" i="1">
                            <a:latin typeface="Cambria Math" panose="02040503050406030204" pitchFamily="18" charset="0"/>
                            <a:ea typeface="바탕체" panose="02030609000101010101" pitchFamily="17" charset="-127"/>
                          </a:rPr>
                        </m:ctrlPr>
                      </m:sSubPr>
                      <m:e>
                        <m:r>
                          <m:rPr>
                            <m:sty m:val="p"/>
                          </m:rPr>
                          <a:rPr lang="en-US" altLang="ko-KR" sz="1200">
                            <a:latin typeface="Cambria Math" panose="02040503050406030204" pitchFamily="18" charset="0"/>
                            <a:ea typeface="바탕체" panose="02030609000101010101" pitchFamily="17" charset="-127"/>
                          </a:rPr>
                          <m:t>e</m:t>
                        </m:r>
                      </m:e>
                      <m:sub>
                        <m:r>
                          <m:rPr>
                            <m:sty m:val="p"/>
                          </m:rPr>
                          <a:rPr lang="en-US" altLang="ko-KR" sz="1200">
                            <a:latin typeface="Cambria Math" panose="02040503050406030204" pitchFamily="18" charset="0"/>
                            <a:ea typeface="바탕체" panose="02030609000101010101" pitchFamily="17" charset="-127"/>
                          </a:rPr>
                          <m:t>M</m:t>
                        </m:r>
                      </m:sub>
                    </m:sSub>
                    <m:r>
                      <a:rPr lang="en-US" altLang="ko-KR" sz="1200">
                        <a:latin typeface="Cambria Math" panose="02040503050406030204" pitchFamily="18" charset="0"/>
                        <a:ea typeface="바탕체" panose="02030609000101010101" pitchFamily="17" charset="-127"/>
                      </a:rPr>
                      <m:t>&gt;1</m:t>
                    </m:r>
                  </m:oMath>
                </a14:m>
                <a:endParaRPr lang="en-US" altLang="ko-KR" sz="1600" dirty="0">
                  <a:latin typeface="바탕체" panose="02030609000101010101" pitchFamily="17" charset="-127"/>
                  <a:ea typeface="바탕체" panose="02030609000101010101" pitchFamily="17" charset="-127"/>
                </a:endParaRPr>
              </a:p>
              <a:p>
                <a:pPr marL="457200" lvl="1" indent="0" eaLnBrk="1" hangingPunct="1">
                  <a:buNone/>
                  <a:defRPr/>
                </a:pPr>
                <a:endParaRPr lang="en-US" altLang="ko-KR" sz="1200" dirty="0">
                  <a:latin typeface="바탕체" panose="02030609000101010101" pitchFamily="17" charset="-127"/>
                  <a:ea typeface="바탕체" panose="02030609000101010101" pitchFamily="17" charset="-127"/>
                </a:endParaRPr>
              </a:p>
            </p:txBody>
          </p:sp>
        </mc:Choice>
        <mc:Fallback>
          <p:sp>
            <p:nvSpPr>
              <p:cNvPr id="3" name="내용 개체 틀 2"/>
              <p:cNvSpPr>
                <a:spLocks noGrp="1" noRot="1" noChangeAspect="1" noMove="1" noResize="1" noEditPoints="1" noAdjustHandles="1" noChangeArrowheads="1" noChangeShapeType="1" noTextEdit="1"/>
              </p:cNvSpPr>
              <p:nvPr>
                <p:ph idx="1"/>
              </p:nvPr>
            </p:nvSpPr>
            <p:spPr>
              <a:xfrm>
                <a:off x="457200" y="1196975"/>
                <a:ext cx="8229600" cy="4929188"/>
              </a:xfrm>
              <a:blipFill>
                <a:blip r:embed="rId3"/>
                <a:stretch>
                  <a:fillRect l="-148" t="-371"/>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19103769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내용 개체 틀 2"/>
          <p:cNvSpPr>
            <a:spLocks noGrp="1"/>
          </p:cNvSpPr>
          <p:nvPr>
            <p:ph idx="1"/>
          </p:nvPr>
        </p:nvSpPr>
        <p:spPr>
          <a:xfrm>
            <a:off x="457200" y="1196975"/>
            <a:ext cx="8229600" cy="4929188"/>
          </a:xfrm>
        </p:spPr>
        <p:txBody>
          <a:bodyPr/>
          <a:lstStyle/>
          <a:p>
            <a:pPr eaLnBrk="1" hangingPunct="1">
              <a:spcBef>
                <a:spcPts val="0"/>
              </a:spcBef>
              <a:buFontTx/>
              <a:buChar char="-"/>
              <a:defRPr/>
            </a:pPr>
            <a:r>
              <a:rPr lang="en-US" altLang="ko-KR" sz="1600" dirty="0">
                <a:latin typeface="바탕체" panose="02030609000101010101" pitchFamily="17" charset="-127"/>
                <a:ea typeface="바탕체" panose="02030609000101010101" pitchFamily="17" charset="-127"/>
              </a:rPr>
              <a:t>J-curve: </a:t>
            </a:r>
            <a:r>
              <a:rPr lang="ko-KR" altLang="en-US" sz="1600" dirty="0">
                <a:latin typeface="바탕체" panose="02030609000101010101" pitchFamily="17" charset="-127"/>
                <a:ea typeface="바탕체" panose="02030609000101010101" pitchFamily="17" charset="-127"/>
              </a:rPr>
              <a:t>외국화폐에 대한 자국화폐가 평가절하</a:t>
            </a:r>
            <a:r>
              <a:rPr lang="en-US" altLang="ko-KR" sz="1600" dirty="0">
                <a:latin typeface="바탕체" panose="02030609000101010101" pitchFamily="17" charset="-127"/>
                <a:ea typeface="바탕체" panose="02030609000101010101" pitchFamily="17" charset="-127"/>
              </a:rPr>
              <a:t>(depreciation)</a:t>
            </a:r>
            <a:r>
              <a:rPr lang="ko-KR" altLang="en-US" sz="1600" dirty="0">
                <a:latin typeface="바탕체" panose="02030609000101010101" pitchFamily="17" charset="-127"/>
                <a:ea typeface="바탕체" panose="02030609000101010101" pitchFamily="17" charset="-127"/>
              </a:rPr>
              <a:t>된 이후 예상과 달리 무역수지 흑자가 오히려 줄어들다가 상당한 시간이 지나서야 늘기 시작하는 현상</a:t>
            </a:r>
            <a:endParaRPr lang="en-US" altLang="ko-KR" sz="1600" dirty="0">
              <a:latin typeface="바탕체" panose="02030609000101010101" pitchFamily="17" charset="-127"/>
              <a:ea typeface="바탕체" panose="02030609000101010101" pitchFamily="17" charset="-127"/>
            </a:endParaRPr>
          </a:p>
          <a:p>
            <a:pPr lvl="1" eaLnBrk="1" hangingPunct="1">
              <a:buFontTx/>
              <a:buChar char="-"/>
              <a:defRPr/>
            </a:pPr>
            <a:r>
              <a:rPr lang="ko-KR" altLang="en-US" sz="1200" dirty="0">
                <a:latin typeface="바탕체" panose="02030609000101010101" pitchFamily="17" charset="-127"/>
                <a:ea typeface="바탕체" panose="02030609000101010101" pitchFamily="17" charset="-127"/>
              </a:rPr>
              <a:t>참고</a:t>
            </a:r>
            <a:r>
              <a:rPr lang="en-US" altLang="ko-KR" sz="1200" dirty="0">
                <a:latin typeface="바탕체" panose="02030609000101010101" pitchFamily="17" charset="-127"/>
                <a:ea typeface="바탕체" panose="02030609000101010101" pitchFamily="17" charset="-127"/>
              </a:rPr>
              <a:t>: Price of import goods in $ (E) increases but the quantity of import goods (M) demanded changes little in the short run, so the total import payments (E x M) actually increase. Slow adjustment of quantity compared to the price change.</a:t>
            </a:r>
          </a:p>
          <a:p>
            <a:pPr lvl="1" eaLnBrk="1" hangingPunct="1">
              <a:buFontTx/>
              <a:buChar char="-"/>
              <a:defRPr/>
            </a:pPr>
            <a:endParaRPr lang="en-US" altLang="ko-KR" sz="1200" dirty="0">
              <a:latin typeface="바탕체" panose="02030609000101010101" pitchFamily="17" charset="-127"/>
              <a:ea typeface="바탕체" panose="02030609000101010101" pitchFamily="17" charset="-127"/>
            </a:endParaRPr>
          </a:p>
          <a:p>
            <a:pPr eaLnBrk="1" hangingPunct="1">
              <a:lnSpc>
                <a:spcPct val="150000"/>
              </a:lnSpc>
              <a:buFontTx/>
              <a:buChar char="-"/>
              <a:defRPr/>
            </a:pPr>
            <a:r>
              <a:rPr lang="ko-KR" altLang="en-US" sz="1500" dirty="0">
                <a:latin typeface="바탕체" panose="02030609000101010101" pitchFamily="17" charset="-127"/>
                <a:ea typeface="바탕체" panose="02030609000101010101" pitchFamily="17" charset="-127"/>
              </a:rPr>
              <a:t>실증분석 결과 시차가 지나도 탄력성으로 설명할 수 없는 무역수지의 불균형이 존재</a:t>
            </a:r>
            <a:endParaRPr lang="en-US" altLang="ko-KR" sz="1500" dirty="0">
              <a:latin typeface="바탕체" panose="02030609000101010101" pitchFamily="17" charset="-127"/>
              <a:ea typeface="바탕체" panose="02030609000101010101" pitchFamily="17" charset="-127"/>
            </a:endParaRPr>
          </a:p>
          <a:p>
            <a:pPr lvl="1" eaLnBrk="1" hangingPunct="1">
              <a:lnSpc>
                <a:spcPct val="150000"/>
              </a:lnSpc>
              <a:buFontTx/>
              <a:buChar char="-"/>
              <a:defRPr/>
            </a:pPr>
            <a:r>
              <a:rPr lang="ko-KR" altLang="en-US" sz="1500" dirty="0">
                <a:latin typeface="바탕체" panose="02030609000101010101" pitchFamily="17" charset="-127"/>
                <a:ea typeface="바탕체" panose="02030609000101010101" pitchFamily="17" charset="-127"/>
              </a:rPr>
              <a:t>이는 환율의 불완전한 전가</a:t>
            </a:r>
            <a:r>
              <a:rPr lang="en-US" altLang="ko-KR" sz="1500" dirty="0">
                <a:latin typeface="바탕체" panose="02030609000101010101" pitchFamily="17" charset="-127"/>
                <a:ea typeface="바탕체" panose="02030609000101010101" pitchFamily="17" charset="-127"/>
              </a:rPr>
              <a:t>(incomplete exchange rate pass-through)</a:t>
            </a:r>
            <a:r>
              <a:rPr lang="ko-KR" altLang="en-US" sz="1500" dirty="0">
                <a:latin typeface="바탕체" panose="02030609000101010101" pitchFamily="17" charset="-127"/>
                <a:ea typeface="바탕체" panose="02030609000101010101" pitchFamily="17" charset="-127"/>
              </a:rPr>
              <a:t>로 해석가능   </a:t>
            </a:r>
            <a:r>
              <a:rPr lang="en-US" altLang="ko-KR" sz="1500" dirty="0">
                <a:latin typeface="바탕체" panose="02030609000101010101" pitchFamily="17" charset="-127"/>
                <a:ea typeface="바탕체" panose="02030609000101010101" pitchFamily="17" charset="-127"/>
              </a:rPr>
              <a:t>(the pass-through of devaluation on prices of import goods is incomplete because of changes in profit margins)</a:t>
            </a:r>
          </a:p>
          <a:p>
            <a:pPr eaLnBrk="1" hangingPunct="1">
              <a:buFontTx/>
              <a:buChar char="-"/>
              <a:defRPr/>
            </a:pPr>
            <a:endParaRPr lang="en-US" altLang="ko-KR" sz="1400" dirty="0"/>
          </a:p>
          <a:p>
            <a:pPr eaLnBrk="1" hangingPunct="1">
              <a:spcBef>
                <a:spcPts val="1200"/>
              </a:spcBef>
              <a:buFontTx/>
              <a:buChar char="-"/>
              <a:defRPr/>
            </a:pPr>
            <a:r>
              <a:rPr lang="ko-KR" altLang="en-US" sz="1500" dirty="0">
                <a:latin typeface="바탕체" panose="02030609000101010101" pitchFamily="17" charset="-127"/>
                <a:ea typeface="바탕체" panose="02030609000101010101" pitchFamily="17" charset="-127"/>
              </a:rPr>
              <a:t>환율의 완전한 전가</a:t>
            </a:r>
            <a:r>
              <a:rPr lang="en-US" altLang="ko-KR" sz="1500" dirty="0">
                <a:latin typeface="바탕체" panose="02030609000101010101" pitchFamily="17" charset="-127"/>
                <a:ea typeface="바탕체" panose="02030609000101010101" pitchFamily="17" charset="-127"/>
              </a:rPr>
              <a:t>(100% pass-through of exchange rate): the change in exchange rate is fully reflected in the price changes. </a:t>
            </a:r>
          </a:p>
          <a:p>
            <a:pPr marL="0" indent="0" eaLnBrk="1" hangingPunct="1">
              <a:buFont typeface="Wingdings" panose="05000000000000000000" pitchFamily="2" charset="2"/>
              <a:buNone/>
              <a:defRPr/>
            </a:pPr>
            <a:endParaRPr lang="ko-KR" altLang="ko-KR" sz="1500" dirty="0">
              <a:latin typeface="바탕체" panose="02030609000101010101" pitchFamily="17" charset="-127"/>
              <a:ea typeface="바탕체" panose="02030609000101010101" pitchFamily="17" charset="-127"/>
            </a:endParaRPr>
          </a:p>
          <a:p>
            <a:pPr marL="0" indent="0" eaLnBrk="1" hangingPunct="1">
              <a:buFont typeface="Wingdings" panose="05000000000000000000" pitchFamily="2" charset="2"/>
              <a:buNone/>
              <a:defRPr/>
            </a:pPr>
            <a:r>
              <a:rPr lang="en-US" altLang="ko-KR" sz="1500" dirty="0">
                <a:latin typeface="바탕체" panose="02030609000101010101" pitchFamily="17" charset="-127"/>
                <a:ea typeface="바탕체" panose="02030609000101010101" pitchFamily="17" charset="-127"/>
              </a:rPr>
              <a:t>	</a:t>
            </a:r>
            <a:r>
              <a:rPr lang="en-US" altLang="ko-KR" sz="1500" b="1" dirty="0">
                <a:latin typeface="바탕체" panose="02030609000101010101" pitchFamily="17" charset="-127"/>
                <a:ea typeface="바탕체" panose="02030609000101010101" pitchFamily="17" charset="-127"/>
              </a:rPr>
              <a:t>Exchange rate → 	 Price    →    Demand   →   Trade Balance</a:t>
            </a:r>
            <a:endParaRPr lang="ko-KR" altLang="ko-KR" sz="1500" b="1" dirty="0">
              <a:latin typeface="바탕체" panose="02030609000101010101" pitchFamily="17" charset="-127"/>
              <a:ea typeface="바탕체" panose="02030609000101010101" pitchFamily="17" charset="-127"/>
            </a:endParaRPr>
          </a:p>
          <a:p>
            <a:pPr marL="0" indent="0" eaLnBrk="1" hangingPunct="1">
              <a:buFont typeface="Wingdings" panose="05000000000000000000" pitchFamily="2" charset="2"/>
              <a:buNone/>
              <a:defRPr/>
            </a:pPr>
            <a:r>
              <a:rPr lang="en-US" altLang="ko-KR" sz="1500" b="1" dirty="0">
                <a:latin typeface="바탕체" panose="02030609000101010101" pitchFamily="17" charset="-127"/>
                <a:ea typeface="바탕체" panose="02030609000101010101" pitchFamily="17" charset="-127"/>
              </a:rPr>
              <a:t>		(pass-through)  (elasticities)</a:t>
            </a:r>
          </a:p>
          <a:p>
            <a:pPr marL="0" indent="0" eaLnBrk="1" hangingPunct="1">
              <a:buFont typeface="Wingdings" panose="05000000000000000000" pitchFamily="2" charset="2"/>
              <a:buNone/>
              <a:defRPr/>
            </a:pPr>
            <a:endParaRPr lang="en-US" altLang="ko-KR" sz="1500" dirty="0">
              <a:latin typeface="바탕체" panose="02030609000101010101" pitchFamily="17" charset="-127"/>
              <a:ea typeface="바탕체" panose="02030609000101010101" pitchFamily="17" charset="-127"/>
            </a:endParaRPr>
          </a:p>
          <a:p>
            <a:pPr marL="0" indent="0" eaLnBrk="1" hangingPunct="1">
              <a:buFont typeface="Wingdings" panose="05000000000000000000" pitchFamily="2" charset="2"/>
              <a:buNone/>
              <a:defRPr/>
            </a:pPr>
            <a:endParaRPr lang="ko-KR" altLang="ko-KR" sz="1500" dirty="0">
              <a:latin typeface="바탕체" panose="02030609000101010101" pitchFamily="17" charset="-127"/>
              <a:ea typeface="바탕체" panose="02030609000101010101" pitchFamily="17" charset="-127"/>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내용 개체 틀 2"/>
          <p:cNvSpPr>
            <a:spLocks noGrp="1"/>
          </p:cNvSpPr>
          <p:nvPr>
            <p:ph idx="1"/>
          </p:nvPr>
        </p:nvSpPr>
        <p:spPr>
          <a:xfrm>
            <a:off x="457200" y="1196975"/>
            <a:ext cx="8229600" cy="4929188"/>
          </a:xfrm>
        </p:spPr>
        <p:txBody>
          <a:bodyPr/>
          <a:lstStyle/>
          <a:p>
            <a:pPr eaLnBrk="1" hangingPunct="1">
              <a:buFont typeface="+mj-lt"/>
              <a:buAutoNum type="arabicParenR" startAt="2"/>
              <a:defRPr/>
            </a:pPr>
            <a:r>
              <a:rPr lang="ko-KR" altLang="en-US" sz="1600" dirty="0">
                <a:latin typeface="바탕체" panose="02030609000101010101" pitchFamily="17" charset="-127"/>
                <a:ea typeface="바탕체" panose="02030609000101010101" pitchFamily="17" charset="-127"/>
              </a:rPr>
              <a:t>흡수 접근법</a:t>
            </a:r>
            <a:r>
              <a:rPr lang="en-US" altLang="ko-KR" sz="1600" dirty="0">
                <a:latin typeface="바탕체" panose="02030609000101010101" pitchFamily="17" charset="-127"/>
                <a:ea typeface="바탕체" panose="02030609000101010101" pitchFamily="17" charset="-127"/>
              </a:rPr>
              <a:t>(Absorption approach)</a:t>
            </a:r>
          </a:p>
          <a:p>
            <a:pPr eaLnBrk="1" hangingPunct="1">
              <a:spcBef>
                <a:spcPts val="1800"/>
              </a:spcBef>
              <a:spcAft>
                <a:spcPts val="600"/>
              </a:spcAft>
              <a:buFontTx/>
              <a:buChar char="-"/>
              <a:defRPr/>
            </a:pPr>
            <a:r>
              <a:rPr lang="ko-KR" altLang="en-US" sz="1500" dirty="0">
                <a:latin typeface="바탕체" panose="02030609000101010101" pitchFamily="17" charset="-127"/>
                <a:ea typeface="바탕체" panose="02030609000101010101" pitchFamily="17" charset="-127"/>
              </a:rPr>
              <a:t>경제전체의 총소득과 총지출의 격차가 국제수지 불균형을 야기하는 근본적인 요인</a:t>
            </a:r>
            <a:endParaRPr lang="en-US" altLang="ko-KR" sz="1500" dirty="0">
              <a:latin typeface="바탕체" panose="02030609000101010101" pitchFamily="17" charset="-127"/>
              <a:ea typeface="바탕체" panose="02030609000101010101" pitchFamily="17" charset="-127"/>
            </a:endParaRPr>
          </a:p>
          <a:p>
            <a:pPr marL="0" indent="0" eaLnBrk="1" hangingPunct="1">
              <a:spcBef>
                <a:spcPts val="1800"/>
              </a:spcBef>
              <a:spcAft>
                <a:spcPts val="1200"/>
              </a:spcAft>
              <a:buFontTx/>
              <a:buNone/>
              <a:defRPr/>
            </a:pPr>
            <a:r>
              <a:rPr lang="en-US" altLang="ko-KR" sz="1500" dirty="0">
                <a:latin typeface="바탕체" panose="02030609000101010101" pitchFamily="17" charset="-127"/>
                <a:ea typeface="바탕체" panose="02030609000101010101" pitchFamily="17" charset="-127"/>
              </a:rPr>
              <a:t>     X – M = Y – (C + I + G) = Y – A, where A is absorption—total domestic spending</a:t>
            </a:r>
          </a:p>
          <a:p>
            <a:pPr marL="0" indent="0" eaLnBrk="1" hangingPunct="1">
              <a:buFontTx/>
              <a:buNone/>
              <a:defRPr/>
            </a:pPr>
            <a:r>
              <a:rPr lang="ko-KR" altLang="en-US" sz="1400" dirty="0">
                <a:latin typeface="바탕체" panose="02030609000101010101" pitchFamily="17" charset="-127"/>
                <a:ea typeface="바탕체" panose="02030609000101010101" pitchFamily="17" charset="-127"/>
              </a:rPr>
              <a:t>     </a:t>
            </a:r>
            <a:r>
              <a:rPr lang="en-US" altLang="ko-KR" sz="1400" dirty="0">
                <a:latin typeface="바탕체" panose="02030609000101010101" pitchFamily="17" charset="-127"/>
                <a:ea typeface="바탕체" panose="02030609000101010101" pitchFamily="17" charset="-127"/>
              </a:rPr>
              <a:t>- </a:t>
            </a:r>
            <a:r>
              <a:rPr lang="ko-KR" altLang="en-US" sz="1400" dirty="0">
                <a:latin typeface="바탕체" panose="02030609000101010101" pitchFamily="17" charset="-127"/>
                <a:ea typeface="바탕체" panose="02030609000101010101" pitchFamily="17" charset="-127"/>
              </a:rPr>
              <a:t>즉</a:t>
            </a:r>
            <a:r>
              <a:rPr lang="en-US" altLang="ko-KR" sz="1400" dirty="0">
                <a:latin typeface="바탕체" panose="02030609000101010101" pitchFamily="17" charset="-127"/>
                <a:ea typeface="바탕체" panose="02030609000101010101" pitchFamily="17" charset="-127"/>
              </a:rPr>
              <a:t> </a:t>
            </a:r>
            <a:r>
              <a:rPr lang="ko-KR" altLang="en-US" sz="1400" dirty="0">
                <a:latin typeface="바탕체" panose="02030609000101010101" pitchFamily="17" charset="-127"/>
                <a:ea typeface="바탕체" panose="02030609000101010101" pitchFamily="17" charset="-127"/>
              </a:rPr>
              <a:t>소득보다도 지출이 크면 수입의 증가로 인해 국제수지 적자가 유발되는 반면</a:t>
            </a:r>
            <a:r>
              <a:rPr lang="en-US" altLang="ko-KR" sz="1400" dirty="0">
                <a:latin typeface="바탕체" panose="02030609000101010101" pitchFamily="17" charset="-127"/>
                <a:ea typeface="바탕체" panose="02030609000101010101" pitchFamily="17" charset="-127"/>
              </a:rPr>
              <a:t>, </a:t>
            </a:r>
            <a:r>
              <a:rPr lang="ko-KR" altLang="en-US" sz="1400" dirty="0">
                <a:latin typeface="바탕체" panose="02030609000101010101" pitchFamily="17" charset="-127"/>
                <a:ea typeface="바탕체" panose="02030609000101010101" pitchFamily="17" charset="-127"/>
              </a:rPr>
              <a:t>소득이   </a:t>
            </a:r>
            <a:endParaRPr lang="en-US" altLang="ko-KR" sz="1400" dirty="0">
              <a:latin typeface="바탕체" panose="02030609000101010101" pitchFamily="17" charset="-127"/>
              <a:ea typeface="바탕체" panose="02030609000101010101" pitchFamily="17" charset="-127"/>
            </a:endParaRPr>
          </a:p>
          <a:p>
            <a:pPr marL="0" indent="0" eaLnBrk="1" hangingPunct="1">
              <a:buFontTx/>
              <a:buNone/>
              <a:defRPr/>
            </a:pPr>
            <a:r>
              <a:rPr lang="en-US" altLang="ko-KR" sz="1400" dirty="0">
                <a:latin typeface="바탕체" panose="02030609000101010101" pitchFamily="17" charset="-127"/>
                <a:ea typeface="바탕체" panose="02030609000101010101" pitchFamily="17" charset="-127"/>
              </a:rPr>
              <a:t>      </a:t>
            </a:r>
            <a:r>
              <a:rPr lang="ko-KR" altLang="en-US" sz="1400" dirty="0">
                <a:latin typeface="바탕체" panose="02030609000101010101" pitchFamily="17" charset="-127"/>
                <a:ea typeface="바탕체" panose="02030609000101010101" pitchFamily="17" charset="-127"/>
              </a:rPr>
              <a:t>지출보다 클 경우에는 국제수지 흑자가 나타남</a:t>
            </a:r>
            <a:r>
              <a:rPr lang="en-US" altLang="ko-KR" sz="1400" dirty="0">
                <a:latin typeface="바탕체" panose="02030609000101010101" pitchFamily="17" charset="-127"/>
                <a:ea typeface="바탕체" panose="02030609000101010101" pitchFamily="17" charset="-127"/>
              </a:rPr>
              <a:t>. </a:t>
            </a:r>
          </a:p>
          <a:p>
            <a:pPr marL="0" indent="0" eaLnBrk="1" hangingPunct="1">
              <a:buFontTx/>
              <a:buNone/>
              <a:defRPr/>
            </a:pPr>
            <a:r>
              <a:rPr lang="en-US" altLang="ko-KR" sz="1400" dirty="0">
                <a:latin typeface="바탕체" panose="02030609000101010101" pitchFamily="17" charset="-127"/>
                <a:ea typeface="바탕체" panose="02030609000101010101" pitchFamily="17" charset="-127"/>
              </a:rPr>
              <a:t>     - </a:t>
            </a:r>
            <a:r>
              <a:rPr lang="ko-KR" altLang="en-US" sz="1400" dirty="0">
                <a:latin typeface="바탕체" panose="02030609000101010101" pitchFamily="17" charset="-127"/>
                <a:ea typeface="바탕체" panose="02030609000101010101" pitchFamily="17" charset="-127"/>
              </a:rPr>
              <a:t>따라서 평가절하 후 소득의 증가가 지출의</a:t>
            </a:r>
            <a:r>
              <a:rPr lang="en-US" altLang="ko-KR" sz="1400" dirty="0">
                <a:latin typeface="바탕체" panose="02030609000101010101" pitchFamily="17" charset="-127"/>
                <a:ea typeface="바탕체" panose="02030609000101010101" pitchFamily="17" charset="-127"/>
              </a:rPr>
              <a:t> </a:t>
            </a:r>
            <a:r>
              <a:rPr lang="ko-KR" altLang="en-US" sz="1400" dirty="0">
                <a:latin typeface="바탕체" panose="02030609000101010101" pitchFamily="17" charset="-127"/>
                <a:ea typeface="바탕체" panose="02030609000101010101" pitchFamily="17" charset="-127"/>
              </a:rPr>
              <a:t>증가보다 크면 국제수지가 개선됨</a:t>
            </a:r>
            <a:endParaRPr lang="en-US" altLang="ko-KR" sz="1400" dirty="0">
              <a:latin typeface="바탕체" panose="02030609000101010101" pitchFamily="17" charset="-127"/>
              <a:ea typeface="바탕체" panose="02030609000101010101" pitchFamily="17" charset="-127"/>
            </a:endParaRPr>
          </a:p>
          <a:p>
            <a:pPr marL="0" indent="0" eaLnBrk="1" hangingPunct="1">
              <a:buFontTx/>
              <a:buNone/>
              <a:defRPr/>
            </a:pPr>
            <a:endParaRPr lang="en-US" altLang="ko-KR" sz="1400" dirty="0">
              <a:latin typeface="바탕체" panose="02030609000101010101" pitchFamily="17" charset="-127"/>
              <a:ea typeface="바탕체" panose="02030609000101010101" pitchFamily="17" charset="-127"/>
            </a:endParaRPr>
          </a:p>
          <a:p>
            <a:pPr eaLnBrk="1" hangingPunct="1">
              <a:spcBef>
                <a:spcPts val="1800"/>
              </a:spcBef>
              <a:buFontTx/>
              <a:buChar char="-"/>
              <a:defRPr/>
            </a:pPr>
            <a:r>
              <a:rPr lang="ko-KR" altLang="en-US" sz="1500" dirty="0">
                <a:latin typeface="바탕체" panose="02030609000101010101" pitchFamily="17" charset="-127"/>
                <a:ea typeface="바탕체" panose="02030609000101010101" pitchFamily="17" charset="-127"/>
              </a:rPr>
              <a:t>이 접근방법은 국민경제 전체의 지출규모</a:t>
            </a:r>
            <a:r>
              <a:rPr lang="en-US" altLang="ko-KR" sz="1500" dirty="0">
                <a:latin typeface="바탕체" panose="02030609000101010101" pitchFamily="17" charset="-127"/>
                <a:ea typeface="바탕체" panose="02030609000101010101" pitchFamily="17" charset="-127"/>
              </a:rPr>
              <a:t>(</a:t>
            </a:r>
            <a:r>
              <a:rPr lang="ko-KR" altLang="en-US" sz="1500" dirty="0">
                <a:latin typeface="바탕체" panose="02030609000101010101" pitchFamily="17" charset="-127"/>
                <a:ea typeface="바탕체" panose="02030609000101010101" pitchFamily="17" charset="-127"/>
              </a:rPr>
              <a:t>즉 흡수의 크기</a:t>
            </a:r>
            <a:r>
              <a:rPr lang="en-US" altLang="ko-KR" sz="1500" dirty="0">
                <a:latin typeface="바탕체" panose="02030609000101010101" pitchFamily="17" charset="-127"/>
                <a:ea typeface="바탕체" panose="02030609000101010101" pitchFamily="17" charset="-127"/>
              </a:rPr>
              <a:t>)</a:t>
            </a:r>
            <a:r>
              <a:rPr lang="ko-KR" altLang="en-US" sz="1500" dirty="0">
                <a:latin typeface="바탕체" panose="02030609000101010101" pitchFamily="17" charset="-127"/>
                <a:ea typeface="바탕체" panose="02030609000101010101" pitchFamily="17" charset="-127"/>
              </a:rPr>
              <a:t>를 조정하여 국제수지의    불균형을 극복할 수 있다고 봄</a:t>
            </a:r>
            <a:endParaRPr lang="en-US" altLang="ko-KR" sz="1500" dirty="0">
              <a:latin typeface="바탕체" panose="02030609000101010101" pitchFamily="17" charset="-127"/>
              <a:ea typeface="바탕체" panose="02030609000101010101" pitchFamily="17" charset="-127"/>
            </a:endParaRPr>
          </a:p>
          <a:p>
            <a:pPr lvl="1" eaLnBrk="1" hangingPunct="1">
              <a:spcBef>
                <a:spcPts val="600"/>
              </a:spcBef>
              <a:spcAft>
                <a:spcPts val="600"/>
              </a:spcAft>
              <a:buFontTx/>
              <a:buChar char="-"/>
              <a:defRPr/>
            </a:pPr>
            <a:r>
              <a:rPr lang="ko-KR" altLang="en-US" sz="1400" dirty="0">
                <a:latin typeface="바탕체" panose="02030609000101010101" pitchFamily="17" charset="-127"/>
                <a:ea typeface="바탕체" panose="02030609000101010101" pitchFamily="17" charset="-127"/>
              </a:rPr>
              <a:t>국제수지가 적자를 극복하기 위해서는 소득을 늘리거나 흡수를 줄어야 함</a:t>
            </a:r>
            <a:endParaRPr lang="en-US" altLang="ko-KR" sz="1400" dirty="0">
              <a:latin typeface="바탕체" panose="02030609000101010101" pitchFamily="17" charset="-127"/>
              <a:ea typeface="바탕체" panose="02030609000101010101" pitchFamily="17" charset="-127"/>
            </a:endParaRPr>
          </a:p>
          <a:p>
            <a:pPr lvl="1" eaLnBrk="1" hangingPunct="1">
              <a:spcBef>
                <a:spcPts val="600"/>
              </a:spcBef>
              <a:spcAft>
                <a:spcPts val="600"/>
              </a:spcAft>
              <a:buFontTx/>
              <a:buChar char="-"/>
              <a:defRPr/>
            </a:pPr>
            <a:r>
              <a:rPr lang="ko-KR" altLang="en-US" sz="1400" dirty="0">
                <a:latin typeface="바탕체" panose="02030609000101010101" pitchFamily="17" charset="-127"/>
                <a:ea typeface="바탕체" panose="02030609000101010101" pitchFamily="17" charset="-127"/>
              </a:rPr>
              <a:t>그러나 단기적으로 소득을 늘린다는 것은 어려우므로 흡수를 줄이는 것이 전략적인 관건</a:t>
            </a:r>
            <a:endParaRPr lang="en-US" altLang="ko-KR" sz="1400" dirty="0">
              <a:latin typeface="바탕체" panose="02030609000101010101" pitchFamily="17" charset="-127"/>
              <a:ea typeface="바탕체" panose="02030609000101010101" pitchFamily="17" charset="-127"/>
            </a:endParaRPr>
          </a:p>
          <a:p>
            <a:pPr lvl="1" eaLnBrk="1" hangingPunct="1">
              <a:spcBef>
                <a:spcPts val="600"/>
              </a:spcBef>
              <a:buFontTx/>
              <a:buChar char="-"/>
              <a:defRPr/>
            </a:pPr>
            <a:r>
              <a:rPr lang="ko-KR" altLang="en-US" sz="1400" dirty="0">
                <a:latin typeface="바탕체" panose="02030609000101010101" pitchFamily="17" charset="-127"/>
                <a:ea typeface="바탕체" panose="02030609000101010101" pitchFamily="17" charset="-127"/>
              </a:rPr>
              <a:t>대부분의 정책이 일국의 지출규모를 줄이는 방향으로 진행되므로 흡수가 핵심적 역할을 함</a:t>
            </a:r>
            <a:endParaRPr lang="en-US" altLang="ko-KR" sz="1400" dirty="0">
              <a:latin typeface="바탕체" panose="02030609000101010101" pitchFamily="17" charset="-127"/>
              <a:ea typeface="바탕체" panose="02030609000101010101" pitchFamily="17" charset="-127"/>
            </a:endParaRPr>
          </a:p>
          <a:p>
            <a:pPr marL="0" indent="0" eaLnBrk="1" hangingPunct="1">
              <a:buFontTx/>
              <a:buNone/>
              <a:defRPr/>
            </a:pPr>
            <a:r>
              <a:rPr lang="ko-KR" altLang="en-US" sz="1500" dirty="0">
                <a:latin typeface="바탕체" panose="02030609000101010101" pitchFamily="17" charset="-127"/>
                <a:ea typeface="바탕체" panose="02030609000101010101" pitchFamily="17" charset="-127"/>
              </a:rPr>
              <a:t> </a:t>
            </a:r>
            <a:endParaRPr lang="en-US" altLang="ko-KR" sz="1500" dirty="0">
              <a:latin typeface="바탕체" panose="02030609000101010101" pitchFamily="17" charset="-127"/>
              <a:ea typeface="바탕체" panose="02030609000101010101" pitchFamily="17" charset="-127"/>
            </a:endParaRPr>
          </a:p>
          <a:p>
            <a:pPr marL="0" indent="0" eaLnBrk="1" hangingPunct="1">
              <a:buFontTx/>
              <a:buNone/>
              <a:defRPr/>
            </a:pPr>
            <a:r>
              <a:rPr lang="ko-KR" altLang="en-US" sz="1400" dirty="0"/>
              <a:t> </a:t>
            </a:r>
            <a:endParaRPr lang="en-US" altLang="ko-KR" sz="1400" dirty="0"/>
          </a:p>
          <a:p>
            <a:pPr marL="0" indent="0" eaLnBrk="1" hangingPunct="1">
              <a:buFontTx/>
              <a:buNone/>
              <a:defRPr/>
            </a:pPr>
            <a:endParaRPr lang="ko-KR" alt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내용 개체 틀 2"/>
          <p:cNvSpPr>
            <a:spLocks noGrp="1"/>
          </p:cNvSpPr>
          <p:nvPr>
            <p:ph idx="1"/>
          </p:nvPr>
        </p:nvSpPr>
        <p:spPr>
          <a:xfrm>
            <a:off x="457200" y="1196975"/>
            <a:ext cx="8229600" cy="4929188"/>
          </a:xfrm>
        </p:spPr>
        <p:txBody>
          <a:bodyPr/>
          <a:lstStyle/>
          <a:p>
            <a:pPr eaLnBrk="1" hangingPunct="1">
              <a:buFont typeface="+mj-lt"/>
              <a:buAutoNum type="arabicParenR" startAt="3"/>
              <a:defRPr/>
            </a:pPr>
            <a:r>
              <a:rPr lang="ko-KR" altLang="en-US" sz="1600" dirty="0">
                <a:latin typeface="바탕체" panose="02030609000101010101" pitchFamily="17" charset="-127"/>
                <a:ea typeface="바탕체" panose="02030609000101010101" pitchFamily="17" charset="-127"/>
              </a:rPr>
              <a:t>포트폴리오 접근방법</a:t>
            </a:r>
            <a:r>
              <a:rPr lang="en-US" altLang="ko-KR" sz="1600" dirty="0">
                <a:latin typeface="바탕체" panose="02030609000101010101" pitchFamily="17" charset="-127"/>
                <a:ea typeface="바탕체" panose="02030609000101010101" pitchFamily="17" charset="-127"/>
              </a:rPr>
              <a:t>(Portfolio approach)</a:t>
            </a:r>
          </a:p>
          <a:p>
            <a:pPr eaLnBrk="1" hangingPunct="1">
              <a:spcBef>
                <a:spcPts val="1800"/>
              </a:spcBef>
              <a:spcAft>
                <a:spcPts val="600"/>
              </a:spcAft>
              <a:buFontTx/>
              <a:buChar char="-"/>
              <a:defRPr/>
            </a:pPr>
            <a:r>
              <a:rPr lang="ko-KR" altLang="en-US" sz="1500" dirty="0">
                <a:latin typeface="바탕체" panose="02030609000101010101" pitchFamily="17" charset="-127"/>
                <a:ea typeface="바탕체" panose="02030609000101010101" pitchFamily="17" charset="-127"/>
              </a:rPr>
              <a:t>경상수지</a:t>
            </a:r>
            <a:r>
              <a:rPr lang="en-US" altLang="ko-KR" sz="1500" dirty="0">
                <a:latin typeface="바탕체" panose="02030609000101010101" pitchFamily="17" charset="-127"/>
                <a:ea typeface="바탕체" panose="02030609000101010101" pitchFamily="17" charset="-127"/>
              </a:rPr>
              <a:t>(CA)</a:t>
            </a:r>
            <a:r>
              <a:rPr lang="ko-KR" altLang="en-US" sz="1500" dirty="0">
                <a:latin typeface="바탕체" panose="02030609000101010101" pitchFamily="17" charset="-127"/>
                <a:ea typeface="바탕체" panose="02030609000101010101" pitchFamily="17" charset="-127"/>
              </a:rPr>
              <a:t>와 금융계정</a:t>
            </a:r>
            <a:r>
              <a:rPr lang="en-US" altLang="ko-KR" sz="1500" dirty="0">
                <a:latin typeface="바탕체" panose="02030609000101010101" pitchFamily="17" charset="-127"/>
                <a:ea typeface="바탕체" panose="02030609000101010101" pitchFamily="17" charset="-127"/>
              </a:rPr>
              <a:t>(FA)</a:t>
            </a:r>
            <a:r>
              <a:rPr lang="ko-KR" altLang="en-US" sz="1500" dirty="0">
                <a:latin typeface="바탕체" panose="02030609000101010101" pitchFamily="17" charset="-127"/>
                <a:ea typeface="바탕체" panose="02030609000101010101" pitchFamily="17" charset="-127"/>
              </a:rPr>
              <a:t>의 격차가 국제수지 불균형을 유발한다고 해석</a:t>
            </a:r>
            <a:endParaRPr lang="en-US" altLang="ko-KR" sz="1500" dirty="0">
              <a:latin typeface="바탕체" panose="02030609000101010101" pitchFamily="17" charset="-127"/>
              <a:ea typeface="바탕체" panose="02030609000101010101" pitchFamily="17" charset="-127"/>
            </a:endParaRPr>
          </a:p>
          <a:p>
            <a:pPr eaLnBrk="1" hangingPunct="1">
              <a:spcBef>
                <a:spcPts val="1800"/>
              </a:spcBef>
              <a:buFontTx/>
              <a:buChar char="-"/>
              <a:defRPr/>
            </a:pPr>
            <a:r>
              <a:rPr lang="en-US" altLang="ko-KR" sz="1500" dirty="0">
                <a:latin typeface="바탕체" panose="02030609000101010101" pitchFamily="17" charset="-127"/>
                <a:ea typeface="바탕체" panose="02030609000101010101" pitchFamily="17" charset="-127"/>
              </a:rPr>
              <a:t>Ex) if US assets are attractive to foreign investors (relative to how much foreign assets are attractive to US investors), then net purchase of US assets by foreigners will make US financial account deficit (net increase in US liabilities to foreigners), which leads to a current account deficit (according to CA = FA identity condition).</a:t>
            </a:r>
          </a:p>
          <a:p>
            <a:pPr eaLnBrk="1" hangingPunct="1">
              <a:spcBef>
                <a:spcPts val="2400"/>
              </a:spcBef>
              <a:buFontTx/>
              <a:buChar char="-"/>
              <a:defRPr/>
            </a:pPr>
            <a:r>
              <a:rPr lang="ko-KR" altLang="en-US" sz="1500" dirty="0">
                <a:latin typeface="바탕체" panose="02030609000101010101" pitchFamily="17" charset="-127"/>
                <a:ea typeface="바탕체" panose="02030609000101010101" pitchFamily="17" charset="-127"/>
              </a:rPr>
              <a:t>즉</a:t>
            </a:r>
            <a:r>
              <a:rPr lang="en-US" altLang="ko-KR" sz="1500" dirty="0">
                <a:latin typeface="바탕체" panose="02030609000101010101" pitchFamily="17" charset="-127"/>
                <a:ea typeface="바탕체" panose="02030609000101010101" pitchFamily="17" charset="-127"/>
              </a:rPr>
              <a:t>, </a:t>
            </a:r>
            <a:r>
              <a:rPr lang="ko-KR" altLang="en-US" sz="1500" dirty="0">
                <a:latin typeface="바탕체" panose="02030609000101010101" pitchFamily="17" charset="-127"/>
                <a:ea typeface="바탕체" panose="02030609000101010101" pitchFamily="17" charset="-127"/>
              </a:rPr>
              <a:t>국내자산</a:t>
            </a:r>
            <a:r>
              <a:rPr lang="en-US" altLang="ko-KR" sz="1500" dirty="0">
                <a:latin typeface="바탕체" panose="02030609000101010101" pitchFamily="17" charset="-127"/>
                <a:ea typeface="바탕체" panose="02030609000101010101" pitchFamily="17" charset="-127"/>
              </a:rPr>
              <a:t>(domestic assets)</a:t>
            </a:r>
            <a:r>
              <a:rPr lang="ko-KR" altLang="en-US" sz="1500" dirty="0">
                <a:latin typeface="바탕체" panose="02030609000101010101" pitchFamily="17" charset="-127"/>
                <a:ea typeface="바탕체" panose="02030609000101010101" pitchFamily="17" charset="-127"/>
              </a:rPr>
              <a:t>과 해외자산</a:t>
            </a:r>
            <a:r>
              <a:rPr lang="en-US" altLang="ko-KR" sz="1500" dirty="0">
                <a:latin typeface="바탕체" panose="02030609000101010101" pitchFamily="17" charset="-127"/>
                <a:ea typeface="바탕체" panose="02030609000101010101" pitchFamily="17" charset="-127"/>
              </a:rPr>
              <a:t>(foreign assets)</a:t>
            </a:r>
            <a:r>
              <a:rPr lang="ko-KR" altLang="en-US" sz="1500" dirty="0">
                <a:latin typeface="바탕체" panose="02030609000101010101" pitchFamily="17" charset="-127"/>
                <a:ea typeface="바탕체" panose="02030609000101010101" pitchFamily="17" charset="-127"/>
              </a:rPr>
              <a:t>에 대한 상대적 수요에 따라 경상수지가 결정</a:t>
            </a:r>
            <a:endParaRPr lang="en-US" altLang="ko-KR" sz="1500" dirty="0">
              <a:latin typeface="바탕체" panose="02030609000101010101" pitchFamily="17" charset="-127"/>
              <a:ea typeface="바탕체" panose="02030609000101010101" pitchFamily="17" charset="-127"/>
            </a:endParaRPr>
          </a:p>
          <a:p>
            <a:pPr eaLnBrk="1" hangingPunct="1">
              <a:spcBef>
                <a:spcPts val="1800"/>
              </a:spcBef>
              <a:buFontTx/>
              <a:buChar char="-"/>
              <a:defRPr/>
            </a:pPr>
            <a:r>
              <a:rPr lang="en-US" altLang="ko-KR" sz="1500" dirty="0">
                <a:latin typeface="바탕체" panose="02030609000101010101" pitchFamily="17" charset="-127"/>
                <a:ea typeface="바탕체" panose="02030609000101010101" pitchFamily="17" charset="-127"/>
              </a:rPr>
              <a:t>Policy options: </a:t>
            </a:r>
            <a:r>
              <a:rPr lang="ko-KR" altLang="en-US" sz="1500" dirty="0">
                <a:latin typeface="바탕체" panose="02030609000101010101" pitchFamily="17" charset="-127"/>
                <a:ea typeface="바탕체" panose="02030609000101010101" pitchFamily="17" charset="-127"/>
              </a:rPr>
              <a:t>국내 혹은 해외자산에 대한 사람들의 선호도를 바꾸는 정책으로 경상수지에 영향을 미칠 수 있음 </a:t>
            </a:r>
            <a:r>
              <a:rPr lang="en-US" altLang="ko-KR" sz="1500" dirty="0">
                <a:latin typeface="바탕체" panose="02030609000101010101" pitchFamily="17" charset="-127"/>
                <a:ea typeface="바탕체" panose="02030609000101010101" pitchFamily="17" charset="-127"/>
              </a:rPr>
              <a:t>(any policy that changes people’s preference over domestic and foreign assets will affect current account)</a:t>
            </a:r>
          </a:p>
          <a:p>
            <a:pPr marL="0" indent="0" eaLnBrk="1" hangingPunct="1">
              <a:buFontTx/>
              <a:buNone/>
              <a:defRPr/>
            </a:pPr>
            <a:r>
              <a:rPr lang="ko-KR" altLang="en-US" sz="1500" dirty="0"/>
              <a:t> </a:t>
            </a:r>
            <a:endParaRPr lang="en-US" altLang="ko-KR" sz="1500" dirty="0"/>
          </a:p>
          <a:p>
            <a:pPr marL="0" indent="0" eaLnBrk="1" hangingPunct="1">
              <a:buFontTx/>
              <a:buNone/>
              <a:defRPr/>
            </a:pPr>
            <a:r>
              <a:rPr lang="ko-KR" altLang="en-US" sz="1400" dirty="0"/>
              <a:t> </a:t>
            </a:r>
            <a:endParaRPr lang="en-US" altLang="ko-KR" sz="1400" dirty="0"/>
          </a:p>
          <a:p>
            <a:pPr marL="0" indent="0" eaLnBrk="1" hangingPunct="1">
              <a:buFontTx/>
              <a:buNone/>
              <a:defRPr/>
            </a:pPr>
            <a:endParaRPr lang="ko-KR" alt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47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내용 개체 틀 2"/>
          <p:cNvSpPr>
            <a:spLocks noGrp="1"/>
          </p:cNvSpPr>
          <p:nvPr>
            <p:ph idx="1"/>
          </p:nvPr>
        </p:nvSpPr>
        <p:spPr>
          <a:xfrm>
            <a:off x="457200" y="1196975"/>
            <a:ext cx="8229600" cy="4929188"/>
          </a:xfrm>
        </p:spPr>
        <p:txBody>
          <a:bodyPr/>
          <a:lstStyle/>
          <a:p>
            <a:pPr eaLnBrk="1" hangingPunct="1">
              <a:defRPr/>
            </a:pPr>
            <a:r>
              <a:rPr lang="ko-KR" altLang="en-US" sz="1600" dirty="0"/>
              <a:t>이 세가지 접근방법은 서로 다 연관되어 있음 </a:t>
            </a:r>
            <a:r>
              <a:rPr lang="en-US" altLang="ko-KR" sz="1600" dirty="0"/>
              <a:t>(</a:t>
            </a:r>
            <a:r>
              <a:rPr lang="ko-KR" altLang="en-US" sz="1600" dirty="0"/>
              <a:t>환율과 이자율 채널을 통해 분석 가능</a:t>
            </a:r>
            <a:r>
              <a:rPr lang="en-US" altLang="ko-KR" sz="1600" dirty="0"/>
              <a:t>)</a:t>
            </a:r>
          </a:p>
          <a:p>
            <a:pPr eaLnBrk="1" hangingPunct="1">
              <a:defRPr/>
            </a:pPr>
            <a:endParaRPr lang="en-US" altLang="ko-KR" sz="1600" dirty="0"/>
          </a:p>
          <a:p>
            <a:pPr eaLnBrk="1" hangingPunct="1">
              <a:defRPr/>
            </a:pPr>
            <a:r>
              <a:rPr lang="ko-KR" altLang="en-US" sz="1600" dirty="0"/>
              <a:t>예를 들어</a:t>
            </a:r>
            <a:r>
              <a:rPr lang="en-US" altLang="ko-KR" sz="1600" dirty="0"/>
              <a:t>, </a:t>
            </a:r>
            <a:r>
              <a:rPr lang="ko-KR" altLang="en-US" sz="1600" dirty="0"/>
              <a:t>국내자산 선호도 증가로 인한 해외자본의 유입은 달러 공급증가와 원화 수요증가로 인해 국내통화의 절상을 가져온다</a:t>
            </a:r>
            <a:r>
              <a:rPr lang="en-US" altLang="ko-KR" sz="1600" dirty="0"/>
              <a:t>. </a:t>
            </a:r>
            <a:r>
              <a:rPr lang="ko-KR" altLang="en-US" sz="1600" dirty="0"/>
              <a:t>원화의 절상은 </a:t>
            </a:r>
            <a:r>
              <a:rPr lang="en-US" altLang="ko-KR" sz="1600" dirty="0"/>
              <a:t>Elasticity approach</a:t>
            </a:r>
            <a:r>
              <a:rPr lang="ko-KR" altLang="en-US" sz="1600" dirty="0"/>
              <a:t>를 통해 무역수지의 적자를 야기함 </a:t>
            </a:r>
            <a:r>
              <a:rPr lang="en-US" altLang="ko-KR" sz="1600" dirty="0"/>
              <a:t>(</a:t>
            </a:r>
            <a:r>
              <a:rPr lang="ko-KR" altLang="en-US" sz="1600" dirty="0"/>
              <a:t>앞에서 언급한 탄력성 </a:t>
            </a:r>
            <a:r>
              <a:rPr lang="ko-KR" altLang="en-US" sz="1600" dirty="0" err="1"/>
              <a:t>조건등이</a:t>
            </a:r>
            <a:r>
              <a:rPr lang="ko-KR" altLang="en-US" sz="1600" dirty="0"/>
              <a:t> 성립한다는 가정하에</a:t>
            </a:r>
            <a:r>
              <a:rPr lang="en-US" altLang="ko-KR" sz="1600" dirty="0"/>
              <a:t>)</a:t>
            </a:r>
          </a:p>
          <a:p>
            <a:pPr eaLnBrk="1" hangingPunct="1">
              <a:defRPr/>
            </a:pPr>
            <a:endParaRPr lang="en-US" altLang="ko-KR" sz="1600" dirty="0"/>
          </a:p>
          <a:p>
            <a:pPr eaLnBrk="1" hangingPunct="1">
              <a:defRPr/>
            </a:pPr>
            <a:r>
              <a:rPr lang="ko-KR" altLang="en-US" sz="1600" dirty="0"/>
              <a:t>또 다른 예로</a:t>
            </a:r>
            <a:r>
              <a:rPr lang="en-US" altLang="ko-KR" sz="1600" dirty="0"/>
              <a:t>, </a:t>
            </a:r>
            <a:r>
              <a:rPr lang="ko-KR" altLang="en-US" sz="1600" dirty="0"/>
              <a:t>국내 채권의 선호도 증가로 인한 자본의 유입은 국내 채권에 대한 수요를 증가시켜 채권 가격은 오르고 이자율은 낮아지게 됨</a:t>
            </a:r>
            <a:r>
              <a:rPr lang="en-US" altLang="ko-KR" sz="1600" dirty="0"/>
              <a:t>. </a:t>
            </a:r>
            <a:r>
              <a:rPr lang="ko-KR" altLang="en-US" sz="1600" dirty="0"/>
              <a:t>낮은 이자율로 인해 국내 투자는 증가함</a:t>
            </a:r>
            <a:r>
              <a:rPr lang="en-US" altLang="ko-KR" sz="1600" dirty="0"/>
              <a:t>. Absorption approach </a:t>
            </a:r>
            <a:r>
              <a:rPr lang="ko-KR" altLang="en-US" sz="1600" dirty="0"/>
              <a:t>에</a:t>
            </a:r>
            <a:r>
              <a:rPr lang="en-US" altLang="ko-KR" sz="1600" dirty="0"/>
              <a:t> </a:t>
            </a:r>
            <a:r>
              <a:rPr lang="ko-KR" altLang="en-US" sz="1600" dirty="0"/>
              <a:t>따르면 늘어난 투자는 무역수지 </a:t>
            </a:r>
            <a:r>
              <a:rPr lang="en-US" altLang="ko-KR" sz="1600" dirty="0"/>
              <a:t>(</a:t>
            </a:r>
            <a:r>
              <a:rPr lang="ko-KR" altLang="en-US" sz="1600" dirty="0"/>
              <a:t>경상수지</a:t>
            </a:r>
            <a:r>
              <a:rPr lang="en-US" altLang="ko-KR" sz="1600" dirty="0"/>
              <a:t>)</a:t>
            </a:r>
            <a:r>
              <a:rPr lang="ko-KR" altLang="en-US" sz="1600" dirty="0"/>
              <a:t>를 악화시킴</a:t>
            </a:r>
            <a:r>
              <a:rPr lang="en-US" altLang="ko-KR" sz="1600" dirty="0"/>
              <a:t>.</a:t>
            </a:r>
          </a:p>
          <a:p>
            <a:pPr marL="0" indent="0" eaLnBrk="1" hangingPunct="1">
              <a:buFontTx/>
              <a:buNone/>
              <a:defRPr/>
            </a:pPr>
            <a:endParaRPr lang="en-US" altLang="ko-KR" sz="1600" dirty="0"/>
          </a:p>
          <a:p>
            <a:pPr marL="0" indent="0" eaLnBrk="1" hangingPunct="1">
              <a:buFontTx/>
              <a:buNone/>
              <a:defRPr/>
            </a:pPr>
            <a:r>
              <a:rPr lang="en-US" altLang="ko-KR" sz="1600" dirty="0"/>
              <a:t> </a:t>
            </a:r>
          </a:p>
          <a:p>
            <a:pPr marL="0" indent="0" eaLnBrk="1" hangingPunct="1">
              <a:buFontTx/>
              <a:buNone/>
              <a:defRPr/>
            </a:pPr>
            <a:r>
              <a:rPr lang="en-US" altLang="ko-KR" sz="1600" dirty="0"/>
              <a:t> </a:t>
            </a:r>
          </a:p>
          <a:p>
            <a:pPr marL="0" indent="0" eaLnBrk="1" hangingPunct="1">
              <a:buFontTx/>
              <a:buNone/>
              <a:defRPr/>
            </a:pPr>
            <a:endParaRPr lang="en-US" altLang="ko-KR" sz="1600" dirty="0"/>
          </a:p>
          <a:p>
            <a:pPr marL="0" indent="0" eaLnBrk="1" hangingPunct="1">
              <a:buFontTx/>
              <a:buNone/>
              <a:defRPr/>
            </a:pPr>
            <a:r>
              <a:rPr lang="ko-KR" altLang="en-US" sz="1600" dirty="0"/>
              <a:t> </a:t>
            </a:r>
            <a:endParaRPr lang="en-US" altLang="ko-KR" sz="1600" dirty="0"/>
          </a:p>
          <a:p>
            <a:pPr marL="0" indent="0" eaLnBrk="1" hangingPunct="1">
              <a:buFontTx/>
              <a:buNone/>
              <a:defRPr/>
            </a:pPr>
            <a:endParaRPr lang="ko-KR" altLang="en-US" sz="1600" dirty="0"/>
          </a:p>
        </p:txBody>
      </p:sp>
    </p:spTree>
    <p:extLst>
      <p:ext uri="{BB962C8B-B14F-4D97-AF65-F5344CB8AC3E}">
        <p14:creationId xmlns:p14="http://schemas.microsoft.com/office/powerpoint/2010/main" val="442210033"/>
      </p:ext>
    </p:extLst>
  </p:cSld>
  <p:clrMapOvr>
    <a:masterClrMapping/>
  </p:clrMapOvr>
</p:sld>
</file>

<file path=ppt/theme/theme1.xml><?xml version="1.0" encoding="utf-8"?>
<a:theme xmlns:a="http://schemas.openxmlformats.org/drawingml/2006/main" name="기본 디자인">
  <a:themeElements>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기본 디자인">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2203</TotalTime>
  <Words>2420</Words>
  <Application>Microsoft Office PowerPoint</Application>
  <PresentationFormat>화면 슬라이드 쇼(4:3)</PresentationFormat>
  <Paragraphs>279</Paragraphs>
  <Slides>31</Slides>
  <Notes>2</Notes>
  <HiddenSlides>0</HiddenSlides>
  <MMClips>0</MMClips>
  <ScaleCrop>false</ScaleCrop>
  <HeadingPairs>
    <vt:vector size="6" baseType="variant">
      <vt:variant>
        <vt:lpstr>사용한 글꼴</vt:lpstr>
      </vt:variant>
      <vt:variant>
        <vt:i4>10</vt:i4>
      </vt:variant>
      <vt:variant>
        <vt:lpstr>테마</vt:lpstr>
      </vt:variant>
      <vt:variant>
        <vt:i4>2</vt:i4>
      </vt:variant>
      <vt:variant>
        <vt:lpstr>슬라이드 제목</vt:lpstr>
      </vt:variant>
      <vt:variant>
        <vt:i4>31</vt:i4>
      </vt:variant>
    </vt:vector>
  </HeadingPairs>
  <TitlesOfParts>
    <vt:vector size="43" baseType="lpstr">
      <vt:lpstr>HY동녘B</vt:lpstr>
      <vt:lpstr>굴림</vt:lpstr>
      <vt:lpstr>맑은 고딕</vt:lpstr>
      <vt:lpstr>바탕체</vt:lpstr>
      <vt:lpstr>Angsana New</vt:lpstr>
      <vt:lpstr>Arial</vt:lpstr>
      <vt:lpstr>Calibri</vt:lpstr>
      <vt:lpstr>Calibri Light</vt:lpstr>
      <vt:lpstr>Cambria Math</vt:lpstr>
      <vt:lpstr>Wingdings</vt:lpstr>
      <vt:lpstr>기본 디자인</vt:lpstr>
      <vt:lpstr>Office 테마</vt:lpstr>
      <vt:lpstr>국제수지표의 이해,  국제수지의 현황 및 결정요인,  저축, 투자와 국제수지</vt:lpstr>
      <vt:lpstr>PowerPoint 프레젠테이션</vt:lpstr>
      <vt:lpstr>PowerPoint 프레젠테이션</vt:lpstr>
      <vt:lpstr>제1절 국제수지의 구성: 정의 및 특징</vt:lpstr>
      <vt:lpstr>제1절 국제수지의 구성: 구성 항목</vt:lpstr>
      <vt:lpstr>PowerPoint 프레젠테이션</vt:lpstr>
      <vt:lpstr>PowerPoint 프레젠테이션</vt:lpstr>
      <vt:lpstr>PowerPoint 프레젠테이션</vt:lpstr>
      <vt:lpstr>우리나라의 국제수지표 (2017년) </vt:lpstr>
      <vt:lpstr>제2절 국제수지의 종류: 경상수지</vt:lpstr>
      <vt:lpstr>제2절 국제수지의 종류: 금융수지</vt:lpstr>
      <vt:lpstr>제2절 국제수지의 종류: 종합수지</vt:lpstr>
      <vt:lpstr>제2절 국제수지의 종류: 국제수지 균형의 의미</vt:lpstr>
      <vt:lpstr>제2절 국제수지의 구성: 주요계정의 관계</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제3절 국제수지와 타 사회계정과의 관계</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MyungDols_Style</dc:creator>
  <cp:lastModifiedBy>Sunghyun Kim</cp:lastModifiedBy>
  <cp:revision>91</cp:revision>
  <dcterms:created xsi:type="dcterms:W3CDTF">2006-12-28T02:39:36Z</dcterms:created>
  <dcterms:modified xsi:type="dcterms:W3CDTF">2026-04-17T05:05:29Z</dcterms:modified>
</cp:coreProperties>
</file>